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6d59ca7-289a-7379-438f-29dde6da5a1d}">
          <p14:sldIdLst>
            <p14:sldId id="256"/>
          </p14:sldIdLst>
        </p14:section>
        <p14:section name="About" id="{92466d42-2afa-5e50-31a7-9ffce592f939}">
          <p14:sldIdLst>
            <p14:sldId id="257"/>
          </p14:sldIdLst>
        </p14:section>
        <p14:section name="Services" id="{d733c94a-a67a-ab2c-6b53-6f4a367be1a3}">
          <p14:sldIdLst>
            <p14:sldId id="258"/>
          </p14:sldIdLst>
        </p14:section>
        <p14:section name="Skills &amp; Tools" id="{3a5fe5df-3808-8cb4-bb93-628b475751e3}">
          <p14:sldIdLst>
            <p14:sldId id="259"/>
            <p14:sldId id="260"/>
          </p14:sldIdLst>
        </p14:section>
        <p14:section name="Case Studies" id="{ecb87dee-6cfa-a397-917e-e490ac885533}">
          <p14:sldIdLst>
            <p14:sldId id="261"/>
            <p14:sldId id="262"/>
            <p14:sldId id="263"/>
            <p14:sldId id="264"/>
            <p14:sldId id="265"/>
          </p14:sldIdLst>
        </p14:section>
        <p14:section name="Workflow &amp; Experience" id="{361b9114-e998-a533-ae81-45da5c66203e}">
          <p14:sldIdLst>
            <p14:sldId id="266"/>
            <p14:sldId id="267"/>
          </p14:sldIdLst>
        </p14:section>
        <p14:section name="Contact" id="{6013efd1-cfe6-9f6b-09c1-6a3d5252f153}">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positioning as a Billing &amp; Finance Operations Specialist. The checklist is an illustrative example of a monthly routine, not a record of a specific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6583680" cy="2011680"/>
          </a:xfrm>
          <a:prstGeom prst="rect">
            <a:avLst/>
          </a:prstGeom>
          <a:noFill/>
          <a:ln/>
        </p:spPr>
        <p:txBody>
          <a:bodyPr wrap="square" rtlCol="0"/>
          <a:lstStyle>
            <a:lvl1pPr algn="l" indent="0" marL="0">
              <a:buNone/>
              <a:defRPr lang="en-US" sz="5400"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7315200" cy="274320"/>
          </a:xfrm>
          <a:prstGeom prst="rect">
            <a:avLst/>
          </a:prstGeom>
          <a:noFill/>
          <a:ln/>
        </p:spPr>
        <p:txBody>
          <a:bodyPr wrap="square" rtlCol="0"/>
          <a:lstStyle>
            <a:lvl1pPr indent="0" marL="0">
              <a:buNone/>
              <a:defRPr lang="en-US" sz="1100" b="1" spc="300" kern="0" dirty="0">
                <a:solidFill>
                  <a:schemeClr val="tx2"/>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3" name="Text 0"/>
          <p:cNvSpPr/>
          <p:nvPr>
            <p:ph idx="101" type="title" hasCustomPrompt="1"/>
          </p:nvPr>
        </p:nvSpPr>
        <p:spPr>
          <a:xfrm>
            <a:off x="548640" y="731520"/>
            <a:ext cx="10972800" cy="777240"/>
          </a:xfrm>
          <a:prstGeom prst="rect">
            <a:avLst/>
          </a:prstGeom>
          <a:noFill/>
          <a:ln/>
        </p:spPr>
        <p:txBody>
          <a:bodyPr wrap="square" rtlCol="0"/>
          <a:lstStyle>
            <a:lvl1pPr algn="l" indent="0" marL="0">
              <a:buNone/>
              <a:defRPr lang="en-US" sz="3400" dirty="0">
                <a:solidFill>
                  <a:schemeClr val="tx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chemeClr val="accent3"/>
                </a:solidFill>
              </a:rPr>
              <a:t>Benazir  ·  Billing &amp; Finance Operations</a:t>
            </a:r>
            <a:endParaRPr lang="en-US" sz="9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slideLayout" Target="../slideLayouts/slideLayout3.xml"/><Relationship Id="rId1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6400800" cy="320040"/>
          </a:xfrm>
          <a:prstGeom prst="rect">
            <a:avLst/>
          </a:prstGeom>
          <a:noFill/>
          <a:ln/>
        </p:spPr>
        <p:txBody>
          <a:bodyPr wrap="square" lIns="0" tIns="0" rIns="0" bIns="0" rtlCol="0" anchor="ctr"/>
          <a:lstStyle/>
          <a:p>
            <a:pPr indent="0" marL="0">
              <a:buNone/>
            </a:pPr>
            <a:r>
              <a:rPr lang="en-US" sz="1200" b="1" spc="300" kern="0" dirty="0">
                <a:solidFill>
                  <a:schemeClr val="accent2"/>
                </a:solidFill>
              </a:rPr>
              <a:t>BILLING &amp; FINANCE OPERATIONS SPECIALIST</a:t>
            </a:r>
            <a:endParaRPr lang="en-US" sz="1200" dirty="0"/>
          </a:p>
        </p:txBody>
      </p:sp>
      <p:sp>
        <p:nvSpPr>
          <p:cNvPr id="3" name="Text 0"/>
          <p:cNvSpPr/>
          <p:nvPr>
            <p:ph idx="100" type="title" hasCustomPrompt="1"/>
          </p:nvPr>
        </p:nvSpPr>
        <p:spPr>
          <a:xfrm>
            <a:off x="548640" y="2011680"/>
            <a:ext cx="6583680" cy="2011680"/>
          </a:xfrm>
          <a:prstGeom prst="rect">
            <a:avLst/>
          </a:prstGeom>
          <a:noFill/>
          <a:ln/>
        </p:spPr>
        <p:txBody>
          <a:bodyPr wrap="square" lIns="0" tIns="0" rIns="0" bIns="0" rtlCol="0" anchor="t"/>
          <a:lstStyle/>
          <a:p>
            <a:pPr algn="l" indent="0" marL="0">
              <a:buNone/>
            </a:pPr>
            <a:r>
              <a:rPr lang="en-US" sz="5400" dirty="0">
                <a:solidFill>
                  <a:schemeClr val="bg1"/>
                </a:solidFill>
                <a:latin typeface="Cambria" pitchFamily="34" charset="0"/>
                <a:ea typeface="Cambria" pitchFamily="34" charset="-122"/>
                <a:cs typeface="Cambria" pitchFamily="34" charset="-120"/>
              </a:rPr>
              <a:t>Billing that closes clean, </a:t>
            </a:r>
            <a:pPr algn="l" indent="0" marL="0">
              <a:buNone/>
            </a:pPr>
            <a:r>
              <a:rPr lang="en-US" sz="5400" i="1" dirty="0">
                <a:solidFill>
                  <a:schemeClr val="accent2"/>
                </a:solidFill>
                <a:latin typeface="Cambria" pitchFamily="34" charset="0"/>
                <a:ea typeface="Cambria" pitchFamily="34" charset="-122"/>
                <a:cs typeface="Cambria" pitchFamily="34" charset="-120"/>
              </a:rPr>
              <a:t>every cycle.</a:t>
            </a:r>
            <a:endParaRPr lang="en-US" sz="5400" dirty="0"/>
          </a:p>
        </p:txBody>
      </p:sp>
      <p:sp>
        <p:nvSpPr>
          <p:cNvPr id="4" name="Text 2"/>
          <p:cNvSpPr txBox="1"/>
          <p:nvPr/>
        </p:nvSpPr>
        <p:spPr>
          <a:xfrm>
            <a:off x="548640" y="4069080"/>
            <a:ext cx="6035040" cy="822960"/>
          </a:xfrm>
          <a:prstGeom prst="rect">
            <a:avLst/>
          </a:prstGeom>
          <a:noFill/>
          <a:ln/>
        </p:spPr>
        <p:txBody>
          <a:bodyPr wrap="square" lIns="0" tIns="0" rIns="0" bIns="0" rtlCol="0" anchor="ctr"/>
          <a:lstStyle/>
          <a:p>
            <a:pPr indent="0" marL="0">
              <a:buNone/>
            </a:pPr>
            <a:r>
              <a:rPr lang="en-US" sz="1600" dirty="0">
                <a:solidFill>
                  <a:srgbClr val="C9D3CF"/>
                </a:solidFill>
              </a:rPr>
              <a:t>I'm Benazir. I help businesses run day-to-day billing and administrative operations with accuracy, organization, and attention to detail.</a:t>
            </a:r>
            <a:endParaRPr lang="en-US" sz="1600" dirty="0"/>
          </a:p>
        </p:txBody>
      </p:sp>
      <p:sp>
        <p:nvSpPr>
          <p:cNvPr id="5" name="Text 3"/>
          <p:cNvSpPr txBox="1"/>
          <p:nvPr/>
        </p:nvSpPr>
        <p:spPr>
          <a:xfrm>
            <a:off x="548640" y="5120640"/>
            <a:ext cx="6583680" cy="320040"/>
          </a:xfrm>
          <a:prstGeom prst="rect">
            <a:avLst/>
          </a:prstGeom>
          <a:noFill/>
          <a:ln/>
        </p:spPr>
        <p:txBody>
          <a:bodyPr wrap="square" lIns="0" tIns="0" rIns="0" bIns="0" rtlCol="0" anchor="ctr"/>
          <a:lstStyle/>
          <a:p>
            <a:pPr indent="0" marL="0">
              <a:buNone/>
            </a:pPr>
            <a:r>
              <a:rPr lang="en-US" sz="1200" dirty="0">
                <a:solidFill>
                  <a:schemeClr val="accent2"/>
                </a:solidFill>
              </a:rPr>
              <a:t>Billing operations   ·   Reconciliation   ·   Account management   ·   Remote operations support</a:t>
            </a:r>
            <a:endParaRPr lang="en-US" sz="1200" dirty="0"/>
          </a:p>
        </p:txBody>
      </p:sp>
      <p:sp>
        <p:nvSpPr>
          <p:cNvPr id="6" name="Checklist card"/>
          <p:cNvSpPr/>
          <p:nvPr/>
        </p:nvSpPr>
        <p:spPr>
          <a:xfrm>
            <a:off x="7635240" y="1417320"/>
            <a:ext cx="4023360" cy="4023360"/>
          </a:xfrm>
          <a:prstGeom prst="roundRect">
            <a:avLst>
              <a:gd name="adj" fmla="val 2273"/>
            </a:avLst>
          </a:prstGeom>
          <a:solidFill>
            <a:srgbClr val="1D2A26"/>
          </a:solidFill>
          <a:ln w="9525">
            <a:solidFill>
              <a:srgbClr val="2E3D38"/>
            </a:solidFill>
            <a:prstDash val="solid"/>
          </a:ln>
        </p:spPr>
      </p:sp>
      <p:sp>
        <p:nvSpPr>
          <p:cNvPr id="7" name="Text 5"/>
          <p:cNvSpPr txBox="1"/>
          <p:nvPr/>
        </p:nvSpPr>
        <p:spPr>
          <a:xfrm>
            <a:off x="7955280" y="1691640"/>
            <a:ext cx="2560320" cy="320040"/>
          </a:xfrm>
          <a:prstGeom prst="rect">
            <a:avLst/>
          </a:prstGeom>
          <a:noFill/>
          <a:ln/>
        </p:spPr>
        <p:txBody>
          <a:bodyPr wrap="square" lIns="0" tIns="0" rIns="0" bIns="0" rtlCol="0" anchor="ctr"/>
          <a:lstStyle/>
          <a:p>
            <a:pPr indent="0" marL="0">
              <a:buNone/>
            </a:pPr>
            <a:r>
              <a:rPr lang="en-US" sz="1400" b="1" dirty="0">
                <a:solidFill>
                  <a:schemeClr val="bg1"/>
                </a:solidFill>
              </a:rPr>
              <a:t>Month-end billing close</a:t>
            </a:r>
            <a:endParaRPr lang="en-US" sz="1400" dirty="0"/>
          </a:p>
        </p:txBody>
      </p:sp>
      <p:sp>
        <p:nvSpPr>
          <p:cNvPr id="8" name="Text 6"/>
          <p:cNvSpPr txBox="1"/>
          <p:nvPr/>
        </p:nvSpPr>
        <p:spPr>
          <a:xfrm>
            <a:off x="10378440" y="1709928"/>
            <a:ext cx="960120" cy="274320"/>
          </a:xfrm>
          <a:prstGeom prst="rect">
            <a:avLst/>
          </a:prstGeom>
          <a:noFill/>
          <a:ln/>
        </p:spPr>
        <p:txBody>
          <a:bodyPr wrap="square" lIns="0" tIns="0" rIns="0" bIns="0" rtlCol="0" anchor="ctr"/>
          <a:lstStyle/>
          <a:p>
            <a:pPr algn="r" indent="0" marL="0">
              <a:buNone/>
            </a:pPr>
            <a:r>
              <a:rPr lang="en-US" sz="900" spc="200" kern="0" dirty="0">
                <a:solidFill>
                  <a:srgbClr val="9AA8A2"/>
                </a:solidFill>
              </a:rPr>
              <a:t>EXAMPLE</a:t>
            </a:r>
            <a:endParaRPr lang="en-US" sz="900" dirty="0"/>
          </a:p>
        </p:txBody>
      </p:sp>
      <p:sp>
        <p:nvSpPr>
          <p:cNvPr id="9" name="Shape 7"/>
          <p:cNvSpPr/>
          <p:nvPr/>
        </p:nvSpPr>
        <p:spPr>
          <a:xfrm>
            <a:off x="7955280" y="2176272"/>
            <a:ext cx="3383280" cy="0"/>
          </a:xfrm>
          <a:prstGeom prst="line">
            <a:avLst/>
          </a:prstGeom>
          <a:noFill/>
          <a:ln w="9525">
            <a:solidFill>
              <a:srgbClr val="2E3D38"/>
            </a:solidFill>
            <a:prstDash val="dash"/>
          </a:ln>
        </p:spPr>
      </p:sp>
      <p:sp>
        <p:nvSpPr>
          <p:cNvPr id="10" name="Shape 8"/>
          <p:cNvSpPr/>
          <p:nvPr/>
        </p:nvSpPr>
        <p:spPr>
          <a:xfrm>
            <a:off x="7955280" y="2322576"/>
            <a:ext cx="237744" cy="237744"/>
          </a:xfrm>
          <a:prstGeom prst="ellipse">
            <a:avLst/>
          </a:prstGeom>
          <a:solidFill>
            <a:schemeClr val="accent2"/>
          </a:solidFill>
          <a:ln w="15875">
            <a:solidFill>
              <a:schemeClr val="accent2"/>
            </a:solidFill>
            <a:prstDash val="solid"/>
          </a:ln>
        </p:spPr>
      </p:sp>
      <p:pic>
        <p:nvPicPr>
          <p:cNvPr id="11" name="Image 0" descr="preencoded.png">    </p:cNvPr>
          <p:cNvPicPr>
            <a:picLocks noChangeAspect="1"/>
          </p:cNvPicPr>
          <p:nvPr/>
        </p:nvPicPr>
        <p:blipFill>
          <a:blip r:embed="rId1"/>
          <a:stretch>
            <a:fillRect/>
          </a:stretch>
        </p:blipFill>
        <p:spPr>
          <a:xfrm>
            <a:off x="8002829" y="2370125"/>
            <a:ext cx="142646" cy="142646"/>
          </a:xfrm>
          <a:prstGeom prst="rect">
            <a:avLst/>
          </a:prstGeom>
        </p:spPr>
      </p:pic>
      <p:sp>
        <p:nvSpPr>
          <p:cNvPr id="12" name="Text 9"/>
          <p:cNvSpPr txBox="1"/>
          <p:nvPr/>
        </p:nvSpPr>
        <p:spPr>
          <a:xfrm>
            <a:off x="8366760" y="2286000"/>
            <a:ext cx="2286000" cy="310896"/>
          </a:xfrm>
          <a:prstGeom prst="rect">
            <a:avLst/>
          </a:prstGeom>
          <a:noFill/>
          <a:ln/>
        </p:spPr>
        <p:txBody>
          <a:bodyPr wrap="square" lIns="0" tIns="0" rIns="0" bIns="0" rtlCol="0" anchor="ctr"/>
          <a:lstStyle/>
          <a:p>
            <a:pPr indent="0" marL="0">
              <a:buNone/>
            </a:pPr>
            <a:r>
              <a:rPr lang="en-US" sz="1200" dirty="0">
                <a:solidFill>
                  <a:schemeClr val="bg1"/>
                </a:solidFill>
              </a:rPr>
              <a:t>Recurring invoices issued</a:t>
            </a:r>
            <a:endParaRPr lang="en-US" sz="1200" dirty="0"/>
          </a:p>
        </p:txBody>
      </p:sp>
      <p:sp>
        <p:nvSpPr>
          <p:cNvPr id="13" name="Text 10"/>
          <p:cNvSpPr txBox="1"/>
          <p:nvPr/>
        </p:nvSpPr>
        <p:spPr>
          <a:xfrm>
            <a:off x="10561320" y="2286000"/>
            <a:ext cx="777240" cy="310896"/>
          </a:xfrm>
          <a:prstGeom prst="rect">
            <a:avLst/>
          </a:prstGeom>
          <a:noFill/>
          <a:ln/>
        </p:spPr>
        <p:txBody>
          <a:bodyPr wrap="square" lIns="0" tIns="0" rIns="0" bIns="0" rtlCol="0" anchor="ctr"/>
          <a:lstStyle/>
          <a:p>
            <a:pPr algn="r" indent="0" marL="0">
              <a:buNone/>
            </a:pPr>
            <a:r>
              <a:rPr lang="en-US" sz="1000" dirty="0">
                <a:solidFill>
                  <a:schemeClr val="accent2"/>
                </a:solidFill>
              </a:rPr>
              <a:t>Done</a:t>
            </a:r>
            <a:endParaRPr lang="en-US" sz="1000" dirty="0"/>
          </a:p>
        </p:txBody>
      </p:sp>
      <p:sp>
        <p:nvSpPr>
          <p:cNvPr id="14" name="Shape 11"/>
          <p:cNvSpPr/>
          <p:nvPr/>
        </p:nvSpPr>
        <p:spPr>
          <a:xfrm>
            <a:off x="7955280" y="2743200"/>
            <a:ext cx="3383280" cy="0"/>
          </a:xfrm>
          <a:prstGeom prst="line">
            <a:avLst/>
          </a:prstGeom>
          <a:noFill/>
          <a:ln w="9525">
            <a:solidFill>
              <a:srgbClr val="2E3D38"/>
            </a:solidFill>
            <a:prstDash val="dash"/>
          </a:ln>
        </p:spPr>
      </p:sp>
      <p:sp>
        <p:nvSpPr>
          <p:cNvPr id="15" name="Shape 12"/>
          <p:cNvSpPr/>
          <p:nvPr/>
        </p:nvSpPr>
        <p:spPr>
          <a:xfrm>
            <a:off x="7955280" y="2889504"/>
            <a:ext cx="237744" cy="237744"/>
          </a:xfrm>
          <a:prstGeom prst="ellipse">
            <a:avLst/>
          </a:prstGeom>
          <a:solidFill>
            <a:schemeClr val="accent2"/>
          </a:solidFill>
          <a:ln w="15875">
            <a:solidFill>
              <a:schemeClr val="accent2"/>
            </a:solidFill>
            <a:prstDash val="solid"/>
          </a:ln>
        </p:spPr>
      </p:sp>
      <p:pic>
        <p:nvPicPr>
          <p:cNvPr id="16" name="Image 1" descr="preencoded.png">    </p:cNvPr>
          <p:cNvPicPr>
            <a:picLocks noChangeAspect="1"/>
          </p:cNvPicPr>
          <p:nvPr/>
        </p:nvPicPr>
        <p:blipFill>
          <a:blip r:embed="rId2"/>
          <a:stretch>
            <a:fillRect/>
          </a:stretch>
        </p:blipFill>
        <p:spPr>
          <a:xfrm>
            <a:off x="8002829" y="2937053"/>
            <a:ext cx="142646" cy="142646"/>
          </a:xfrm>
          <a:prstGeom prst="rect">
            <a:avLst/>
          </a:prstGeom>
        </p:spPr>
      </p:pic>
      <p:sp>
        <p:nvSpPr>
          <p:cNvPr id="17" name="Text 13"/>
          <p:cNvSpPr txBox="1"/>
          <p:nvPr/>
        </p:nvSpPr>
        <p:spPr>
          <a:xfrm>
            <a:off x="8366760" y="2852928"/>
            <a:ext cx="2286000" cy="310896"/>
          </a:xfrm>
          <a:prstGeom prst="rect">
            <a:avLst/>
          </a:prstGeom>
          <a:noFill/>
          <a:ln/>
        </p:spPr>
        <p:txBody>
          <a:bodyPr wrap="square" lIns="0" tIns="0" rIns="0" bIns="0" rtlCol="0" anchor="ctr"/>
          <a:lstStyle/>
          <a:p>
            <a:pPr indent="0" marL="0">
              <a:buNone/>
            </a:pPr>
            <a:r>
              <a:rPr lang="en-US" sz="1200" dirty="0">
                <a:solidFill>
                  <a:schemeClr val="bg1"/>
                </a:solidFill>
              </a:rPr>
              <a:t>Payments verified</a:t>
            </a:r>
            <a:endParaRPr lang="en-US" sz="1200" dirty="0"/>
          </a:p>
        </p:txBody>
      </p:sp>
      <p:sp>
        <p:nvSpPr>
          <p:cNvPr id="18" name="Text 14"/>
          <p:cNvSpPr txBox="1"/>
          <p:nvPr/>
        </p:nvSpPr>
        <p:spPr>
          <a:xfrm>
            <a:off x="10561320" y="2852928"/>
            <a:ext cx="777240" cy="310896"/>
          </a:xfrm>
          <a:prstGeom prst="rect">
            <a:avLst/>
          </a:prstGeom>
          <a:noFill/>
          <a:ln/>
        </p:spPr>
        <p:txBody>
          <a:bodyPr wrap="square" lIns="0" tIns="0" rIns="0" bIns="0" rtlCol="0" anchor="ctr"/>
          <a:lstStyle/>
          <a:p>
            <a:pPr algn="r" indent="0" marL="0">
              <a:buNone/>
            </a:pPr>
            <a:r>
              <a:rPr lang="en-US" sz="1000" dirty="0">
                <a:solidFill>
                  <a:schemeClr val="accent2"/>
                </a:solidFill>
              </a:rPr>
              <a:t>Done</a:t>
            </a:r>
            <a:endParaRPr lang="en-US" sz="1000" dirty="0"/>
          </a:p>
        </p:txBody>
      </p:sp>
      <p:sp>
        <p:nvSpPr>
          <p:cNvPr id="19" name="Shape 15"/>
          <p:cNvSpPr/>
          <p:nvPr/>
        </p:nvSpPr>
        <p:spPr>
          <a:xfrm>
            <a:off x="7955280" y="3310128"/>
            <a:ext cx="3383280" cy="0"/>
          </a:xfrm>
          <a:prstGeom prst="line">
            <a:avLst/>
          </a:prstGeom>
          <a:noFill/>
          <a:ln w="9525">
            <a:solidFill>
              <a:srgbClr val="2E3D38"/>
            </a:solidFill>
            <a:prstDash val="dash"/>
          </a:ln>
        </p:spPr>
      </p:sp>
      <p:sp>
        <p:nvSpPr>
          <p:cNvPr id="20" name="Shape 16"/>
          <p:cNvSpPr/>
          <p:nvPr/>
        </p:nvSpPr>
        <p:spPr>
          <a:xfrm>
            <a:off x="7955280" y="3456432"/>
            <a:ext cx="237744" cy="237744"/>
          </a:xfrm>
          <a:prstGeom prst="ellipse">
            <a:avLst/>
          </a:prstGeom>
          <a:solidFill>
            <a:schemeClr val="accent2"/>
          </a:solidFill>
          <a:ln w="15875">
            <a:solidFill>
              <a:schemeClr val="accent2"/>
            </a:solidFill>
            <a:prstDash val="solid"/>
          </a:ln>
        </p:spPr>
      </p:sp>
      <p:pic>
        <p:nvPicPr>
          <p:cNvPr id="21" name="Image 2" descr="preencoded.png">    </p:cNvPr>
          <p:cNvPicPr>
            <a:picLocks noChangeAspect="1"/>
          </p:cNvPicPr>
          <p:nvPr/>
        </p:nvPicPr>
        <p:blipFill>
          <a:blip r:embed="rId3"/>
          <a:stretch>
            <a:fillRect/>
          </a:stretch>
        </p:blipFill>
        <p:spPr>
          <a:xfrm>
            <a:off x="8002829" y="3503981"/>
            <a:ext cx="142646" cy="142646"/>
          </a:xfrm>
          <a:prstGeom prst="rect">
            <a:avLst/>
          </a:prstGeom>
        </p:spPr>
      </p:pic>
      <p:sp>
        <p:nvSpPr>
          <p:cNvPr id="22" name="Text 17"/>
          <p:cNvSpPr txBox="1"/>
          <p:nvPr/>
        </p:nvSpPr>
        <p:spPr>
          <a:xfrm>
            <a:off x="8366760" y="3419856"/>
            <a:ext cx="2286000" cy="310896"/>
          </a:xfrm>
          <a:prstGeom prst="rect">
            <a:avLst/>
          </a:prstGeom>
          <a:noFill/>
          <a:ln/>
        </p:spPr>
        <p:txBody>
          <a:bodyPr wrap="square" lIns="0" tIns="0" rIns="0" bIns="0" rtlCol="0" anchor="ctr"/>
          <a:lstStyle/>
          <a:p>
            <a:pPr indent="0" marL="0">
              <a:buNone/>
            </a:pPr>
            <a:r>
              <a:rPr lang="en-US" sz="1200" dirty="0">
                <a:solidFill>
                  <a:schemeClr val="bg1"/>
                </a:solidFill>
              </a:rPr>
              <a:t>Credits, refunds &amp; proration logged</a:t>
            </a:r>
            <a:endParaRPr lang="en-US" sz="1200" dirty="0"/>
          </a:p>
        </p:txBody>
      </p:sp>
      <p:sp>
        <p:nvSpPr>
          <p:cNvPr id="23" name="Text 18"/>
          <p:cNvSpPr txBox="1"/>
          <p:nvPr/>
        </p:nvSpPr>
        <p:spPr>
          <a:xfrm>
            <a:off x="10561320" y="3419856"/>
            <a:ext cx="777240" cy="310896"/>
          </a:xfrm>
          <a:prstGeom prst="rect">
            <a:avLst/>
          </a:prstGeom>
          <a:noFill/>
          <a:ln/>
        </p:spPr>
        <p:txBody>
          <a:bodyPr wrap="square" lIns="0" tIns="0" rIns="0" bIns="0" rtlCol="0" anchor="ctr"/>
          <a:lstStyle/>
          <a:p>
            <a:pPr algn="r" indent="0" marL="0">
              <a:buNone/>
            </a:pPr>
            <a:r>
              <a:rPr lang="en-US" sz="1000" dirty="0">
                <a:solidFill>
                  <a:schemeClr val="accent2"/>
                </a:solidFill>
              </a:rPr>
              <a:t>Done</a:t>
            </a:r>
            <a:endParaRPr lang="en-US" sz="1000" dirty="0"/>
          </a:p>
        </p:txBody>
      </p:sp>
      <p:sp>
        <p:nvSpPr>
          <p:cNvPr id="24" name="Shape 19"/>
          <p:cNvSpPr/>
          <p:nvPr/>
        </p:nvSpPr>
        <p:spPr>
          <a:xfrm>
            <a:off x="7955280" y="3877056"/>
            <a:ext cx="3383280" cy="0"/>
          </a:xfrm>
          <a:prstGeom prst="line">
            <a:avLst/>
          </a:prstGeom>
          <a:noFill/>
          <a:ln w="9525">
            <a:solidFill>
              <a:srgbClr val="2E3D38"/>
            </a:solidFill>
            <a:prstDash val="dash"/>
          </a:ln>
        </p:spPr>
      </p:sp>
      <p:sp>
        <p:nvSpPr>
          <p:cNvPr id="25" name="Shape 20"/>
          <p:cNvSpPr/>
          <p:nvPr/>
        </p:nvSpPr>
        <p:spPr>
          <a:xfrm>
            <a:off x="7955280" y="4023360"/>
            <a:ext cx="237744" cy="237744"/>
          </a:xfrm>
          <a:prstGeom prst="ellipse">
            <a:avLst/>
          </a:prstGeom>
          <a:solidFill>
            <a:schemeClr val="accent2"/>
          </a:solidFill>
          <a:ln w="15875">
            <a:solidFill>
              <a:schemeClr val="accent2"/>
            </a:solidFill>
            <a:prstDash val="solid"/>
          </a:ln>
        </p:spPr>
      </p:sp>
      <p:pic>
        <p:nvPicPr>
          <p:cNvPr id="26" name="Image 3" descr="preencoded.png">    </p:cNvPr>
          <p:cNvPicPr>
            <a:picLocks noChangeAspect="1"/>
          </p:cNvPicPr>
          <p:nvPr/>
        </p:nvPicPr>
        <p:blipFill>
          <a:blip r:embed="rId4"/>
          <a:stretch>
            <a:fillRect/>
          </a:stretch>
        </p:blipFill>
        <p:spPr>
          <a:xfrm>
            <a:off x="8002829" y="4070909"/>
            <a:ext cx="142646" cy="142646"/>
          </a:xfrm>
          <a:prstGeom prst="rect">
            <a:avLst/>
          </a:prstGeom>
        </p:spPr>
      </p:pic>
      <p:sp>
        <p:nvSpPr>
          <p:cNvPr id="27" name="Text 21"/>
          <p:cNvSpPr txBox="1"/>
          <p:nvPr/>
        </p:nvSpPr>
        <p:spPr>
          <a:xfrm>
            <a:off x="8366760" y="3986784"/>
            <a:ext cx="2286000" cy="310896"/>
          </a:xfrm>
          <a:prstGeom prst="rect">
            <a:avLst/>
          </a:prstGeom>
          <a:noFill/>
          <a:ln/>
        </p:spPr>
        <p:txBody>
          <a:bodyPr wrap="square" lIns="0" tIns="0" rIns="0" bIns="0" rtlCol="0" anchor="ctr"/>
          <a:lstStyle/>
          <a:p>
            <a:pPr indent="0" marL="0">
              <a:buNone/>
            </a:pPr>
            <a:r>
              <a:rPr lang="en-US" sz="1200" dirty="0">
                <a:solidFill>
                  <a:schemeClr val="bg1"/>
                </a:solidFill>
              </a:rPr>
              <a:t>Account changes reconciled</a:t>
            </a:r>
            <a:endParaRPr lang="en-US" sz="1200" dirty="0"/>
          </a:p>
        </p:txBody>
      </p:sp>
      <p:sp>
        <p:nvSpPr>
          <p:cNvPr id="28" name="Text 22"/>
          <p:cNvSpPr txBox="1"/>
          <p:nvPr/>
        </p:nvSpPr>
        <p:spPr>
          <a:xfrm>
            <a:off x="10561320" y="3986784"/>
            <a:ext cx="777240" cy="310896"/>
          </a:xfrm>
          <a:prstGeom prst="rect">
            <a:avLst/>
          </a:prstGeom>
          <a:noFill/>
          <a:ln/>
        </p:spPr>
        <p:txBody>
          <a:bodyPr wrap="square" lIns="0" tIns="0" rIns="0" bIns="0" rtlCol="0" anchor="ctr"/>
          <a:lstStyle/>
          <a:p>
            <a:pPr algn="r" indent="0" marL="0">
              <a:buNone/>
            </a:pPr>
            <a:r>
              <a:rPr lang="en-US" sz="1000" dirty="0">
                <a:solidFill>
                  <a:schemeClr val="accent2"/>
                </a:solidFill>
              </a:rPr>
              <a:t>Done</a:t>
            </a:r>
            <a:endParaRPr lang="en-US" sz="1000" dirty="0"/>
          </a:p>
        </p:txBody>
      </p:sp>
      <p:sp>
        <p:nvSpPr>
          <p:cNvPr id="29" name="Shape 23"/>
          <p:cNvSpPr/>
          <p:nvPr/>
        </p:nvSpPr>
        <p:spPr>
          <a:xfrm>
            <a:off x="7955280" y="4443984"/>
            <a:ext cx="3383280" cy="0"/>
          </a:xfrm>
          <a:prstGeom prst="line">
            <a:avLst/>
          </a:prstGeom>
          <a:noFill/>
          <a:ln w="9525">
            <a:solidFill>
              <a:srgbClr val="2E3D38"/>
            </a:solidFill>
            <a:prstDash val="dash"/>
          </a:ln>
        </p:spPr>
      </p:sp>
      <p:sp>
        <p:nvSpPr>
          <p:cNvPr id="30" name="Shape 24"/>
          <p:cNvSpPr/>
          <p:nvPr/>
        </p:nvSpPr>
        <p:spPr>
          <a:xfrm>
            <a:off x="7955280" y="4590288"/>
            <a:ext cx="237744" cy="237744"/>
          </a:xfrm>
          <a:prstGeom prst="ellipse">
            <a:avLst/>
          </a:prstGeom>
          <a:solidFill>
            <a:schemeClr val="tx1"/>
          </a:solidFill>
          <a:ln w="15875">
            <a:solidFill>
              <a:schemeClr val="accent2"/>
            </a:solidFill>
            <a:prstDash val="dash"/>
          </a:ln>
        </p:spPr>
      </p:sp>
      <p:sp>
        <p:nvSpPr>
          <p:cNvPr id="31" name="Text 25"/>
          <p:cNvSpPr txBox="1"/>
          <p:nvPr/>
        </p:nvSpPr>
        <p:spPr>
          <a:xfrm>
            <a:off x="8366760" y="4553712"/>
            <a:ext cx="2286000" cy="310896"/>
          </a:xfrm>
          <a:prstGeom prst="rect">
            <a:avLst/>
          </a:prstGeom>
          <a:noFill/>
          <a:ln/>
        </p:spPr>
        <p:txBody>
          <a:bodyPr wrap="square" lIns="0" tIns="0" rIns="0" bIns="0" rtlCol="0" anchor="ctr"/>
          <a:lstStyle/>
          <a:p>
            <a:pPr indent="0" marL="0">
              <a:buNone/>
            </a:pPr>
            <a:r>
              <a:rPr lang="en-US" sz="1200" dirty="0">
                <a:solidFill>
                  <a:schemeClr val="bg1"/>
                </a:solidFill>
              </a:rPr>
              <a:t>Billing report shared</a:t>
            </a:r>
            <a:endParaRPr lang="en-US" sz="1200" dirty="0"/>
          </a:p>
        </p:txBody>
      </p:sp>
      <p:sp>
        <p:nvSpPr>
          <p:cNvPr id="32" name="Text 26"/>
          <p:cNvSpPr txBox="1"/>
          <p:nvPr/>
        </p:nvSpPr>
        <p:spPr>
          <a:xfrm>
            <a:off x="10561320" y="4553712"/>
            <a:ext cx="777240" cy="310896"/>
          </a:xfrm>
          <a:prstGeom prst="rect">
            <a:avLst/>
          </a:prstGeom>
          <a:noFill/>
          <a:ln/>
        </p:spPr>
        <p:txBody>
          <a:bodyPr wrap="square" lIns="0" tIns="0" rIns="0" bIns="0" rtlCol="0" anchor="ctr"/>
          <a:lstStyle/>
          <a:p>
            <a:pPr algn="r" indent="0" marL="0">
              <a:buNone/>
            </a:pPr>
            <a:r>
              <a:rPr lang="en-US" sz="1000" dirty="0">
                <a:solidFill>
                  <a:srgbClr val="9AA8A2"/>
                </a:solidFill>
              </a:rPr>
              <a:t>In review</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7315200" cy="274320"/>
          </a:xfrm>
          <a:prstGeom prst="rect">
            <a:avLst/>
          </a:prstGeom>
          <a:noFill/>
          <a:ln/>
        </p:spPr>
        <p:txBody>
          <a:bodyPr wrap="square" lIns="0" tIns="0" rIns="0" bIns="0" rtlCol="0"/>
          <a:lstStyle/>
          <a:p>
            <a:pPr indent="0" marL="0">
              <a:buNone/>
            </a:pPr>
            <a:r>
              <a:rPr lang="en-US" sz="1100" b="1" spc="300" kern="0" dirty="0">
                <a:solidFill>
                  <a:schemeClr val="tx2"/>
                </a:solidFill>
                <a:latin typeface="Calibri" pitchFamily="34" charset="0"/>
                <a:ea typeface="Calibri" pitchFamily="34" charset="-122"/>
                <a:cs typeface="Calibri" pitchFamily="34" charset="-120"/>
              </a:rPr>
              <a:t>ABOUT ME</a:t>
            </a:r>
            <a:endParaRPr lang="en-US" sz="1100" dirty="0"/>
          </a:p>
        </p:txBody>
      </p:sp>
      <p:sp>
        <p:nvSpPr>
          <p:cNvPr id="3" name="Text 0"/>
          <p:cNvSpPr/>
          <p:nvPr>
            <p:ph idx="101" type="title" hasCustomPrompt="1"/>
          </p:nvPr>
        </p:nvSpPr>
        <p:spPr>
          <a:xfrm>
            <a:off x="548640" y="731520"/>
            <a:ext cx="10972800" cy="77724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Accurate records, organized accounts, steady follow-through.</a:t>
            </a:r>
            <a:endParaRPr lang="en-US" sz="3400" dirty="0"/>
          </a:p>
        </p:txBody>
      </p:sp>
      <p:sp>
        <p:nvSpPr>
          <p:cNvPr id="4" name="Text 2"/>
          <p:cNvSpPr txBox="1"/>
          <p:nvPr/>
        </p:nvSpPr>
        <p:spPr>
          <a:xfrm>
            <a:off x="548640" y="1920240"/>
            <a:ext cx="6035040" cy="4023360"/>
          </a:xfrm>
          <a:prstGeom prst="rect">
            <a:avLst/>
          </a:prstGeom>
          <a:noFill/>
          <a:ln/>
        </p:spPr>
        <p:txBody>
          <a:bodyPr wrap="square" lIns="0" tIns="0" rIns="0" bIns="0" rtlCol="0" anchor="t"/>
          <a:lstStyle/>
          <a:p>
            <a:pPr indent="0" marL="0">
              <a:lnSpc>
                <a:spcPct val="115000"/>
              </a:lnSpc>
              <a:spcAft>
                <a:spcPts val="1400"/>
              </a:spcAft>
              <a:buNone/>
            </a:pPr>
            <a:r>
              <a:rPr lang="en-US" sz="1500" dirty="0">
                <a:solidFill>
                  <a:schemeClr val="tx1"/>
                </a:solidFill>
              </a:rPr>
              <a:t>My work sits where billing, finance administration, and account management meet. I keep invoices, payments, and account records consistent with each other, so the numbers a team relies on are the numbers that are right.</a:t>
            </a:r>
            <a:endParaRPr lang="en-US" sz="1500" dirty="0"/>
          </a:p>
          <a:p>
            <a:pPr indent="0" marL="0">
              <a:lnSpc>
                <a:spcPct val="115000"/>
              </a:lnSpc>
              <a:spcAft>
                <a:spcPts val="1400"/>
              </a:spcAft>
              <a:buNone/>
            </a:pPr>
            <a:r>
              <a:rPr lang="en-US" sz="1500" dirty="0">
                <a:solidFill>
                  <a:schemeClr val="tx1"/>
                </a:solidFill>
              </a:rPr>
              <a:t>My experience covers billing coordination, payment processing, account reconciliation, invoice management, recurring billing, reporting, data management, and client account administration.</a:t>
            </a:r>
            <a:endParaRPr lang="en-US" sz="1500" dirty="0"/>
          </a:p>
          <a:p>
            <a:pPr indent="0" marL="0">
              <a:lnSpc>
                <a:spcPct val="115000"/>
              </a:lnSpc>
              <a:buNone/>
            </a:pPr>
            <a:r>
              <a:rPr lang="en-US" sz="1500" dirty="0">
                <a:solidFill>
                  <a:schemeClr val="tx1"/>
                </a:solidFill>
              </a:rPr>
              <a:t>I work remotely and communicate clearly across teams: flagging discrepancies early, documenting what changed and why, and following up until an issue is closed.</a:t>
            </a:r>
            <a:endParaRPr lang="en-US" sz="1500" dirty="0"/>
          </a:p>
        </p:txBody>
      </p:sp>
      <p:sp>
        <p:nvSpPr>
          <p:cNvPr id="5" name="Shape 3"/>
          <p:cNvSpPr/>
          <p:nvPr/>
        </p:nvSpPr>
        <p:spPr>
          <a:xfrm>
            <a:off x="7223760" y="1920240"/>
            <a:ext cx="4416552" cy="0"/>
          </a:xfrm>
          <a:prstGeom prst="line">
            <a:avLst/>
          </a:prstGeom>
          <a:noFill/>
          <a:ln w="15875">
            <a:solidFill>
              <a:schemeClr val="tx1"/>
            </a:solidFill>
            <a:prstDash val="solid"/>
          </a:ln>
        </p:spPr>
      </p:sp>
      <p:sp>
        <p:nvSpPr>
          <p:cNvPr id="6" name="Text 4"/>
          <p:cNvSpPr txBox="1"/>
          <p:nvPr/>
        </p:nvSpPr>
        <p:spPr>
          <a:xfrm>
            <a:off x="7223760" y="2103120"/>
            <a:ext cx="1097280" cy="274320"/>
          </a:xfrm>
          <a:prstGeom prst="rect">
            <a:avLst/>
          </a:prstGeom>
          <a:noFill/>
          <a:ln/>
        </p:spPr>
        <p:txBody>
          <a:bodyPr wrap="square" lIns="0" tIns="0" rIns="0" bIns="0" rtlCol="0" anchor="ctr"/>
          <a:lstStyle/>
          <a:p>
            <a:pPr indent="0" marL="0">
              <a:buNone/>
            </a:pPr>
            <a:r>
              <a:rPr lang="en-US" sz="1000" b="1" spc="200" kern="0" dirty="0">
                <a:solidFill>
                  <a:schemeClr val="accent3"/>
                </a:solidFill>
              </a:rPr>
              <a:t>FOCUS</a:t>
            </a:r>
            <a:endParaRPr lang="en-US" sz="1000" dirty="0"/>
          </a:p>
        </p:txBody>
      </p:sp>
      <p:sp>
        <p:nvSpPr>
          <p:cNvPr id="7" name="Text 5"/>
          <p:cNvSpPr txBox="1"/>
          <p:nvPr/>
        </p:nvSpPr>
        <p:spPr>
          <a:xfrm>
            <a:off x="8366760" y="2066544"/>
            <a:ext cx="3273552" cy="685800"/>
          </a:xfrm>
          <a:prstGeom prst="rect">
            <a:avLst/>
          </a:prstGeom>
          <a:noFill/>
          <a:ln/>
        </p:spPr>
        <p:txBody>
          <a:bodyPr wrap="square" lIns="0" tIns="0" rIns="0" bIns="0" rtlCol="0" anchor="t"/>
          <a:lstStyle/>
          <a:p>
            <a:pPr indent="0" marL="0">
              <a:buNone/>
            </a:pPr>
            <a:r>
              <a:rPr lang="en-US" sz="1400" dirty="0">
                <a:solidFill>
                  <a:schemeClr val="tx1"/>
                </a:solidFill>
              </a:rPr>
              <a:t>Billing operations &amp; finance administration</a:t>
            </a:r>
            <a:endParaRPr lang="en-US" sz="1400" dirty="0"/>
          </a:p>
        </p:txBody>
      </p:sp>
      <p:sp>
        <p:nvSpPr>
          <p:cNvPr id="8" name="Shape 6"/>
          <p:cNvSpPr/>
          <p:nvPr/>
        </p:nvSpPr>
        <p:spPr>
          <a:xfrm>
            <a:off x="7223760" y="2880360"/>
            <a:ext cx="4416552" cy="0"/>
          </a:xfrm>
          <a:prstGeom prst="line">
            <a:avLst/>
          </a:prstGeom>
          <a:noFill/>
          <a:ln w="9525">
            <a:solidFill>
              <a:schemeClr val="accent4"/>
            </a:solidFill>
            <a:prstDash val="solid"/>
          </a:ln>
        </p:spPr>
      </p:sp>
      <p:sp>
        <p:nvSpPr>
          <p:cNvPr id="9" name="Text 7"/>
          <p:cNvSpPr txBox="1"/>
          <p:nvPr/>
        </p:nvSpPr>
        <p:spPr>
          <a:xfrm>
            <a:off x="7223760" y="3063240"/>
            <a:ext cx="1097280" cy="274320"/>
          </a:xfrm>
          <a:prstGeom prst="rect">
            <a:avLst/>
          </a:prstGeom>
          <a:noFill/>
          <a:ln/>
        </p:spPr>
        <p:txBody>
          <a:bodyPr wrap="square" lIns="0" tIns="0" rIns="0" bIns="0" rtlCol="0" anchor="ctr"/>
          <a:lstStyle/>
          <a:p>
            <a:pPr indent="0" marL="0">
              <a:buNone/>
            </a:pPr>
            <a:r>
              <a:rPr lang="en-US" sz="1000" b="1" spc="200" kern="0" dirty="0">
                <a:solidFill>
                  <a:schemeClr val="accent3"/>
                </a:solidFill>
              </a:rPr>
              <a:t>ALSO</a:t>
            </a:r>
            <a:endParaRPr lang="en-US" sz="1000" dirty="0"/>
          </a:p>
        </p:txBody>
      </p:sp>
      <p:sp>
        <p:nvSpPr>
          <p:cNvPr id="10" name="Text 8"/>
          <p:cNvSpPr txBox="1"/>
          <p:nvPr/>
        </p:nvSpPr>
        <p:spPr>
          <a:xfrm>
            <a:off x="8366760" y="3026664"/>
            <a:ext cx="3273552" cy="685800"/>
          </a:xfrm>
          <a:prstGeom prst="rect">
            <a:avLst/>
          </a:prstGeom>
          <a:noFill/>
          <a:ln/>
        </p:spPr>
        <p:txBody>
          <a:bodyPr wrap="square" lIns="0" tIns="0" rIns="0" bIns="0" rtlCol="0" anchor="t"/>
          <a:lstStyle/>
          <a:p>
            <a:pPr indent="0" marL="0">
              <a:buNone/>
            </a:pPr>
            <a:r>
              <a:rPr lang="en-US" sz="1400" dirty="0">
                <a:solidFill>
                  <a:schemeClr val="tx1"/>
                </a:solidFill>
              </a:rPr>
              <a:t>Account management, reporting, reconciliation, payment coordination</a:t>
            </a:r>
            <a:endParaRPr lang="en-US" sz="1400" dirty="0"/>
          </a:p>
        </p:txBody>
      </p:sp>
      <p:sp>
        <p:nvSpPr>
          <p:cNvPr id="11" name="Shape 9"/>
          <p:cNvSpPr/>
          <p:nvPr/>
        </p:nvSpPr>
        <p:spPr>
          <a:xfrm>
            <a:off x="7223760" y="3840480"/>
            <a:ext cx="4416552" cy="0"/>
          </a:xfrm>
          <a:prstGeom prst="line">
            <a:avLst/>
          </a:prstGeom>
          <a:noFill/>
          <a:ln w="9525">
            <a:solidFill>
              <a:schemeClr val="accent4"/>
            </a:solidFill>
            <a:prstDash val="solid"/>
          </a:ln>
        </p:spPr>
      </p:sp>
      <p:sp>
        <p:nvSpPr>
          <p:cNvPr id="12" name="Text 10"/>
          <p:cNvSpPr txBox="1"/>
          <p:nvPr/>
        </p:nvSpPr>
        <p:spPr>
          <a:xfrm>
            <a:off x="7223760" y="4023360"/>
            <a:ext cx="1097280" cy="274320"/>
          </a:xfrm>
          <a:prstGeom prst="rect">
            <a:avLst/>
          </a:prstGeom>
          <a:noFill/>
          <a:ln/>
        </p:spPr>
        <p:txBody>
          <a:bodyPr wrap="square" lIns="0" tIns="0" rIns="0" bIns="0" rtlCol="0" anchor="ctr"/>
          <a:lstStyle/>
          <a:p>
            <a:pPr indent="0" marL="0">
              <a:buNone/>
            </a:pPr>
            <a:r>
              <a:rPr lang="en-US" sz="1000" b="1" spc="200" kern="0" dirty="0">
                <a:solidFill>
                  <a:schemeClr val="accent3"/>
                </a:solidFill>
              </a:rPr>
              <a:t>WORKS</a:t>
            </a:r>
            <a:endParaRPr lang="en-US" sz="1000" dirty="0"/>
          </a:p>
        </p:txBody>
      </p:sp>
      <p:sp>
        <p:nvSpPr>
          <p:cNvPr id="13" name="Text 11"/>
          <p:cNvSpPr txBox="1"/>
          <p:nvPr/>
        </p:nvSpPr>
        <p:spPr>
          <a:xfrm>
            <a:off x="8366760" y="3986784"/>
            <a:ext cx="3273552" cy="685800"/>
          </a:xfrm>
          <a:prstGeom prst="rect">
            <a:avLst/>
          </a:prstGeom>
          <a:noFill/>
          <a:ln/>
        </p:spPr>
        <p:txBody>
          <a:bodyPr wrap="square" lIns="0" tIns="0" rIns="0" bIns="0" rtlCol="0" anchor="t"/>
          <a:lstStyle/>
          <a:p>
            <a:pPr indent="0" marL="0">
              <a:buNone/>
            </a:pPr>
            <a:r>
              <a:rPr lang="en-US" sz="1400" dirty="0">
                <a:solidFill>
                  <a:schemeClr val="tx1"/>
                </a:solidFill>
              </a:rPr>
              <a:t>Remote, across time zones and async teams</a:t>
            </a:r>
            <a:endParaRPr lang="en-US" sz="1400" dirty="0"/>
          </a:p>
        </p:txBody>
      </p:sp>
      <p:sp>
        <p:nvSpPr>
          <p:cNvPr id="14" name="Shape 12"/>
          <p:cNvSpPr/>
          <p:nvPr/>
        </p:nvSpPr>
        <p:spPr>
          <a:xfrm>
            <a:off x="7223760" y="4800600"/>
            <a:ext cx="4416552" cy="0"/>
          </a:xfrm>
          <a:prstGeom prst="line">
            <a:avLst/>
          </a:prstGeom>
          <a:noFill/>
          <a:ln w="9525">
            <a:solidFill>
              <a:schemeClr val="accent4"/>
            </a:solidFill>
            <a:prstDash val="solid"/>
          </a:ln>
        </p:spPr>
      </p:sp>
      <p:sp>
        <p:nvSpPr>
          <p:cNvPr id="15" name="Text 13"/>
          <p:cNvSpPr txBox="1"/>
          <p:nvPr/>
        </p:nvSpPr>
        <p:spPr>
          <a:xfrm>
            <a:off x="7223760" y="4983480"/>
            <a:ext cx="1097280" cy="274320"/>
          </a:xfrm>
          <a:prstGeom prst="rect">
            <a:avLst/>
          </a:prstGeom>
          <a:noFill/>
          <a:ln/>
        </p:spPr>
        <p:txBody>
          <a:bodyPr wrap="square" lIns="0" tIns="0" rIns="0" bIns="0" rtlCol="0" anchor="ctr"/>
          <a:lstStyle/>
          <a:p>
            <a:pPr indent="0" marL="0">
              <a:buNone/>
            </a:pPr>
            <a:r>
              <a:rPr lang="en-US" sz="1000" b="1" spc="200" kern="0" dirty="0">
                <a:solidFill>
                  <a:schemeClr val="accent3"/>
                </a:solidFill>
              </a:rPr>
              <a:t>OPEN TO</a:t>
            </a:r>
            <a:endParaRPr lang="en-US" sz="1000" dirty="0"/>
          </a:p>
        </p:txBody>
      </p:sp>
      <p:sp>
        <p:nvSpPr>
          <p:cNvPr id="16" name="Text 14"/>
          <p:cNvSpPr txBox="1"/>
          <p:nvPr/>
        </p:nvSpPr>
        <p:spPr>
          <a:xfrm>
            <a:off x="8366760" y="4946904"/>
            <a:ext cx="3273552" cy="685800"/>
          </a:xfrm>
          <a:prstGeom prst="rect">
            <a:avLst/>
          </a:prstGeom>
          <a:noFill/>
          <a:ln/>
        </p:spPr>
        <p:txBody>
          <a:bodyPr wrap="square" lIns="0" tIns="0" rIns="0" bIns="0" rtlCol="0" anchor="t"/>
          <a:lstStyle/>
          <a:p>
            <a:pPr indent="0" marL="0">
              <a:buNone/>
            </a:pPr>
            <a:r>
              <a:rPr lang="en-US" sz="1400" dirty="0">
                <a:solidFill>
                  <a:schemeClr val="tx1"/>
                </a:solidFill>
              </a:rPr>
              <a:t>Full-time roles and client engagements</a:t>
            </a:r>
            <a:endParaRPr lang="en-US" sz="1400" dirty="0"/>
          </a:p>
        </p:txBody>
      </p:sp>
      <p:sp>
        <p:nvSpPr>
          <p:cNvPr id="17" name="Shape 15"/>
          <p:cNvSpPr/>
          <p:nvPr/>
        </p:nvSpPr>
        <p:spPr>
          <a:xfrm>
            <a:off x="7223760" y="5760720"/>
            <a:ext cx="4416552" cy="0"/>
          </a:xfrm>
          <a:prstGeom prst="line">
            <a:avLst/>
          </a:prstGeom>
          <a:noFill/>
          <a:ln w="9525">
            <a:solidFill>
              <a:schemeClr val="accent4"/>
            </a:solidFill>
            <a:prstDash val="solid"/>
          </a:ln>
        </p:spPr>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7315200" cy="274320"/>
          </a:xfrm>
          <a:prstGeom prst="rect">
            <a:avLst/>
          </a:prstGeom>
          <a:noFill/>
          <a:ln/>
        </p:spPr>
        <p:txBody>
          <a:bodyPr wrap="square" lIns="0" tIns="0" rIns="0" bIns="0" rtlCol="0"/>
          <a:lstStyle/>
          <a:p>
            <a:pPr indent="0" marL="0">
              <a:buNone/>
            </a:pPr>
            <a:r>
              <a:rPr lang="en-US" sz="1100" b="1" spc="300" kern="0" dirty="0">
                <a:solidFill>
                  <a:schemeClr val="tx2"/>
                </a:solidFill>
                <a:latin typeface="Calibri" pitchFamily="34" charset="0"/>
                <a:ea typeface="Calibri" pitchFamily="34" charset="-122"/>
                <a:cs typeface="Calibri" pitchFamily="34" charset="-120"/>
              </a:rPr>
              <a:t>CORE SERVICES</a:t>
            </a:r>
            <a:endParaRPr lang="en-US" sz="1100" dirty="0"/>
          </a:p>
        </p:txBody>
      </p:sp>
      <p:sp>
        <p:nvSpPr>
          <p:cNvPr id="3" name="Text 0"/>
          <p:cNvSpPr/>
          <p:nvPr>
            <p:ph idx="101" type="title" hasCustomPrompt="1"/>
          </p:nvPr>
        </p:nvSpPr>
        <p:spPr>
          <a:xfrm>
            <a:off x="548640" y="731520"/>
            <a:ext cx="10972800" cy="77724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What I can take off your plate.</a:t>
            </a:r>
            <a:endParaRPr lang="en-US" sz="3400" dirty="0"/>
          </a:p>
        </p:txBody>
      </p:sp>
      <p:sp>
        <p:nvSpPr>
          <p:cNvPr id="4" name="Billing &amp; Invoicing card"/>
          <p:cNvSpPr/>
          <p:nvPr/>
        </p:nvSpPr>
        <p:spPr>
          <a:xfrm>
            <a:off x="548640" y="1828800"/>
            <a:ext cx="2072579" cy="3977640"/>
          </a:xfrm>
          <a:prstGeom prst="roundRect">
            <a:avLst>
              <a:gd name="adj" fmla="val 3530"/>
            </a:avLst>
          </a:prstGeom>
          <a:solidFill>
            <a:schemeClr val="bg1"/>
          </a:solidFill>
          <a:ln w="9525">
            <a:solidFill>
              <a:schemeClr val="accent4"/>
            </a:solidFill>
            <a:prstDash val="solid"/>
          </a:ln>
        </p:spPr>
      </p:sp>
      <p:sp>
        <p:nvSpPr>
          <p:cNvPr id="5" name="Shape 3"/>
          <p:cNvSpPr/>
          <p:nvPr/>
        </p:nvSpPr>
        <p:spPr>
          <a:xfrm>
            <a:off x="777240" y="2103120"/>
            <a:ext cx="502920" cy="502920"/>
          </a:xfrm>
          <a:prstGeom prst="ellipse">
            <a:avLst/>
          </a:prstGeom>
          <a:solidFill>
            <a:schemeClr val="accent5"/>
          </a:solidFill>
          <a:ln/>
        </p:spPr>
      </p:sp>
      <p:pic>
        <p:nvPicPr>
          <p:cNvPr id="6" name="Image 0" descr="preencoded.png">    </p:cNvPr>
          <p:cNvPicPr>
            <a:picLocks noChangeAspect="1"/>
          </p:cNvPicPr>
          <p:nvPr/>
        </p:nvPicPr>
        <p:blipFill>
          <a:blip r:embed="rId1"/>
          <a:stretch>
            <a:fillRect/>
          </a:stretch>
        </p:blipFill>
        <p:spPr>
          <a:xfrm>
            <a:off x="905256" y="2231136"/>
            <a:ext cx="246888" cy="246888"/>
          </a:xfrm>
          <a:prstGeom prst="rect">
            <a:avLst/>
          </a:prstGeom>
        </p:spPr>
      </p:pic>
      <p:sp>
        <p:nvSpPr>
          <p:cNvPr id="7" name="Text 4"/>
          <p:cNvSpPr txBox="1"/>
          <p:nvPr/>
        </p:nvSpPr>
        <p:spPr>
          <a:xfrm>
            <a:off x="777240" y="2788920"/>
            <a:ext cx="1661099" cy="54864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Billing &amp; Invoicing</a:t>
            </a:r>
            <a:endParaRPr lang="en-US" sz="1600" dirty="0"/>
          </a:p>
        </p:txBody>
      </p:sp>
      <p:sp>
        <p:nvSpPr>
          <p:cNvPr id="8" name="Text 5"/>
          <p:cNvSpPr txBox="1"/>
          <p:nvPr/>
        </p:nvSpPr>
        <p:spPr>
          <a:xfrm>
            <a:off x="777240" y="3429000"/>
            <a:ext cx="1706819" cy="25603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chemeClr val="accent3"/>
                </a:solidFill>
              </a:rPr>
              <a:t>Invoice management</a:t>
            </a:r>
            <a:endParaRPr lang="en-US" sz="1150" dirty="0"/>
          </a:p>
          <a:p>
            <a:pPr marL="152400" indent="-152400">
              <a:spcAft>
                <a:spcPts val="500"/>
              </a:spcAft>
              <a:buSzPct val="100000"/>
              <a:buChar char="•"/>
            </a:pPr>
            <a:r>
              <a:rPr lang="en-US" sz="1150" dirty="0">
                <a:solidFill>
                  <a:schemeClr val="accent3"/>
                </a:solidFill>
              </a:rPr>
              <a:t>Recurring billing</a:t>
            </a:r>
            <a:endParaRPr lang="en-US" sz="1150" dirty="0"/>
          </a:p>
          <a:p>
            <a:pPr marL="152400" indent="-152400">
              <a:spcAft>
                <a:spcPts val="500"/>
              </a:spcAft>
              <a:buSzPct val="100000"/>
              <a:buChar char="•"/>
            </a:pPr>
            <a:r>
              <a:rPr lang="en-US" sz="1150" dirty="0">
                <a:solidFill>
                  <a:schemeClr val="accent3"/>
                </a:solidFill>
              </a:rPr>
              <a:t>Payment tracking</a:t>
            </a:r>
            <a:endParaRPr lang="en-US" sz="1150" dirty="0"/>
          </a:p>
          <a:p>
            <a:pPr marL="152400" indent="-152400">
              <a:spcAft>
                <a:spcPts val="500"/>
              </a:spcAft>
              <a:buSzPct val="100000"/>
              <a:buChar char="•"/>
            </a:pPr>
            <a:r>
              <a:rPr lang="en-US" sz="1150" dirty="0">
                <a:solidFill>
                  <a:schemeClr val="accent3"/>
                </a:solidFill>
              </a:rPr>
              <a:t>Credits</a:t>
            </a:r>
            <a:endParaRPr lang="en-US" sz="1150" dirty="0"/>
          </a:p>
          <a:p>
            <a:pPr marL="152400" indent="-152400">
              <a:spcAft>
                <a:spcPts val="500"/>
              </a:spcAft>
              <a:buSzPct val="100000"/>
              <a:buChar char="•"/>
            </a:pPr>
            <a:r>
              <a:rPr lang="en-US" sz="1150" dirty="0">
                <a:solidFill>
                  <a:schemeClr val="accent3"/>
                </a:solidFill>
              </a:rPr>
              <a:t>Refunds</a:t>
            </a:r>
            <a:endParaRPr lang="en-US" sz="1150" dirty="0"/>
          </a:p>
          <a:p>
            <a:pPr marL="152400" indent="-152400">
              <a:spcAft>
                <a:spcPts val="500"/>
              </a:spcAft>
              <a:buSzPct val="100000"/>
              <a:buChar char="•"/>
            </a:pPr>
            <a:r>
              <a:rPr lang="en-US" sz="1150" dirty="0">
                <a:solidFill>
                  <a:schemeClr val="accent3"/>
                </a:solidFill>
              </a:rPr>
              <a:t>Billing adjustments</a:t>
            </a:r>
            <a:endParaRPr lang="en-US" sz="1150" dirty="0"/>
          </a:p>
          <a:p>
            <a:pPr marL="152400" indent="-152400">
              <a:spcAft>
                <a:spcPts val="500"/>
              </a:spcAft>
              <a:buSzPct val="100000"/>
              <a:buChar char="•"/>
            </a:pPr>
            <a:r>
              <a:rPr lang="en-US" sz="1150" dirty="0">
                <a:solidFill>
                  <a:schemeClr val="accent3"/>
                </a:solidFill>
              </a:rPr>
              <a:t>Proration</a:t>
            </a:r>
            <a:endParaRPr lang="en-US" sz="1150" dirty="0"/>
          </a:p>
          <a:p>
            <a:pPr marL="152400" indent="-152400">
              <a:spcAft>
                <a:spcPts val="500"/>
              </a:spcAft>
              <a:buSzPct val="100000"/>
              <a:buChar char="•"/>
            </a:pPr>
            <a:r>
              <a:rPr lang="en-US" sz="1150" dirty="0">
                <a:solidFill>
                  <a:schemeClr val="accent3"/>
                </a:solidFill>
              </a:rPr>
              <a:t>Billing-date monitoring</a:t>
            </a:r>
            <a:endParaRPr lang="en-US" sz="1150" dirty="0"/>
          </a:p>
        </p:txBody>
      </p:sp>
      <p:sp>
        <p:nvSpPr>
          <p:cNvPr id="9" name="Finance Operations card"/>
          <p:cNvSpPr/>
          <p:nvPr/>
        </p:nvSpPr>
        <p:spPr>
          <a:xfrm>
            <a:off x="2804099" y="1828800"/>
            <a:ext cx="2072579" cy="3977640"/>
          </a:xfrm>
          <a:prstGeom prst="roundRect">
            <a:avLst>
              <a:gd name="adj" fmla="val 3530"/>
            </a:avLst>
          </a:prstGeom>
          <a:solidFill>
            <a:schemeClr val="bg1"/>
          </a:solidFill>
          <a:ln w="9525">
            <a:solidFill>
              <a:schemeClr val="accent4"/>
            </a:solidFill>
            <a:prstDash val="solid"/>
          </a:ln>
        </p:spPr>
      </p:sp>
      <p:sp>
        <p:nvSpPr>
          <p:cNvPr id="10" name="Shape 7"/>
          <p:cNvSpPr/>
          <p:nvPr/>
        </p:nvSpPr>
        <p:spPr>
          <a:xfrm>
            <a:off x="3032699" y="2103120"/>
            <a:ext cx="502920" cy="502920"/>
          </a:xfrm>
          <a:prstGeom prst="ellipse">
            <a:avLst/>
          </a:prstGeom>
          <a:solidFill>
            <a:schemeClr val="accent5"/>
          </a:solidFill>
          <a:ln/>
        </p:spPr>
      </p:sp>
      <p:pic>
        <p:nvPicPr>
          <p:cNvPr id="11" name="Image 1" descr="preencoded.png">    </p:cNvPr>
          <p:cNvPicPr>
            <a:picLocks noChangeAspect="1"/>
          </p:cNvPicPr>
          <p:nvPr/>
        </p:nvPicPr>
        <p:blipFill>
          <a:blip r:embed="rId2"/>
          <a:stretch>
            <a:fillRect/>
          </a:stretch>
        </p:blipFill>
        <p:spPr>
          <a:xfrm>
            <a:off x="3160715" y="2231136"/>
            <a:ext cx="246888" cy="246888"/>
          </a:xfrm>
          <a:prstGeom prst="rect">
            <a:avLst/>
          </a:prstGeom>
        </p:spPr>
      </p:pic>
      <p:sp>
        <p:nvSpPr>
          <p:cNvPr id="12" name="Text 8"/>
          <p:cNvSpPr txBox="1"/>
          <p:nvPr/>
        </p:nvSpPr>
        <p:spPr>
          <a:xfrm>
            <a:off x="3032699" y="2788920"/>
            <a:ext cx="1661099" cy="54864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Finance Operations</a:t>
            </a:r>
            <a:endParaRPr lang="en-US" sz="1600" dirty="0"/>
          </a:p>
        </p:txBody>
      </p:sp>
      <p:sp>
        <p:nvSpPr>
          <p:cNvPr id="13" name="Text 9"/>
          <p:cNvSpPr txBox="1"/>
          <p:nvPr/>
        </p:nvSpPr>
        <p:spPr>
          <a:xfrm>
            <a:off x="3032699" y="3429000"/>
            <a:ext cx="1706819" cy="25603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chemeClr val="accent3"/>
                </a:solidFill>
              </a:rPr>
              <a:t>Payment verification</a:t>
            </a:r>
            <a:endParaRPr lang="en-US" sz="1150" dirty="0"/>
          </a:p>
          <a:p>
            <a:pPr marL="152400" indent="-152400">
              <a:spcAft>
                <a:spcPts val="500"/>
              </a:spcAft>
              <a:buSzPct val="100000"/>
              <a:buChar char="•"/>
            </a:pPr>
            <a:r>
              <a:rPr lang="en-US" sz="1150" dirty="0">
                <a:solidFill>
                  <a:schemeClr val="accent3"/>
                </a:solidFill>
              </a:rPr>
              <a:t>Account reconciliation</a:t>
            </a:r>
            <a:endParaRPr lang="en-US" sz="1150" dirty="0"/>
          </a:p>
          <a:p>
            <a:pPr marL="152400" indent="-152400">
              <a:spcAft>
                <a:spcPts val="500"/>
              </a:spcAft>
              <a:buSzPct val="100000"/>
              <a:buChar char="•"/>
            </a:pPr>
            <a:r>
              <a:rPr lang="en-US" sz="1150" dirty="0">
                <a:solidFill>
                  <a:schemeClr val="accent3"/>
                </a:solidFill>
              </a:rPr>
              <a:t>MRR tracking</a:t>
            </a:r>
            <a:endParaRPr lang="en-US" sz="1150" dirty="0"/>
          </a:p>
          <a:p>
            <a:pPr marL="152400" indent="-152400">
              <a:spcAft>
                <a:spcPts val="500"/>
              </a:spcAft>
              <a:buSzPct val="100000"/>
              <a:buChar char="•"/>
            </a:pPr>
            <a:r>
              <a:rPr lang="en-US" sz="1150" dirty="0">
                <a:solidFill>
                  <a:schemeClr val="accent3"/>
                </a:solidFill>
              </a:rPr>
              <a:t>Rate adjustments</a:t>
            </a:r>
            <a:endParaRPr lang="en-US" sz="1150" dirty="0"/>
          </a:p>
          <a:p>
            <a:pPr marL="152400" indent="-152400">
              <a:spcAft>
                <a:spcPts val="500"/>
              </a:spcAft>
              <a:buSzPct val="100000"/>
              <a:buChar char="•"/>
            </a:pPr>
            <a:r>
              <a:rPr lang="en-US" sz="1150" dirty="0">
                <a:solidFill>
                  <a:schemeClr val="accent3"/>
                </a:solidFill>
              </a:rPr>
              <a:t>Bonus calculations</a:t>
            </a:r>
            <a:endParaRPr lang="en-US" sz="1150" dirty="0"/>
          </a:p>
          <a:p>
            <a:pPr marL="152400" indent="-152400">
              <a:spcAft>
                <a:spcPts val="500"/>
              </a:spcAft>
              <a:buSzPct val="100000"/>
              <a:buChar char="•"/>
            </a:pPr>
            <a:r>
              <a:rPr lang="en-US" sz="1150" dirty="0">
                <a:solidFill>
                  <a:schemeClr val="accent3"/>
                </a:solidFill>
              </a:rPr>
              <a:t>Payment coordination</a:t>
            </a:r>
            <a:endParaRPr lang="en-US" sz="1150" dirty="0"/>
          </a:p>
          <a:p>
            <a:pPr marL="152400" indent="-152400">
              <a:spcAft>
                <a:spcPts val="500"/>
              </a:spcAft>
              <a:buSzPct val="100000"/>
              <a:buChar char="•"/>
            </a:pPr>
            <a:r>
              <a:rPr lang="en-US" sz="1150" dirty="0">
                <a:solidFill>
                  <a:schemeClr val="accent3"/>
                </a:solidFill>
              </a:rPr>
              <a:t>Financial reporting</a:t>
            </a:r>
            <a:endParaRPr lang="en-US" sz="1150" dirty="0"/>
          </a:p>
        </p:txBody>
      </p:sp>
      <p:sp>
        <p:nvSpPr>
          <p:cNvPr id="14" name="Account Management card"/>
          <p:cNvSpPr/>
          <p:nvPr/>
        </p:nvSpPr>
        <p:spPr>
          <a:xfrm>
            <a:off x="5059558" y="1828800"/>
            <a:ext cx="2072579" cy="3977640"/>
          </a:xfrm>
          <a:prstGeom prst="roundRect">
            <a:avLst>
              <a:gd name="adj" fmla="val 3530"/>
            </a:avLst>
          </a:prstGeom>
          <a:solidFill>
            <a:schemeClr val="bg1"/>
          </a:solidFill>
          <a:ln w="9525">
            <a:solidFill>
              <a:schemeClr val="accent4"/>
            </a:solidFill>
            <a:prstDash val="solid"/>
          </a:ln>
        </p:spPr>
      </p:sp>
      <p:sp>
        <p:nvSpPr>
          <p:cNvPr id="15" name="Shape 11"/>
          <p:cNvSpPr/>
          <p:nvPr/>
        </p:nvSpPr>
        <p:spPr>
          <a:xfrm>
            <a:off x="5288158" y="2103120"/>
            <a:ext cx="502920" cy="502920"/>
          </a:xfrm>
          <a:prstGeom prst="ellipse">
            <a:avLst/>
          </a:prstGeom>
          <a:solidFill>
            <a:schemeClr val="accent5"/>
          </a:solidFill>
          <a:ln/>
        </p:spPr>
      </p:sp>
      <p:pic>
        <p:nvPicPr>
          <p:cNvPr id="16" name="Image 2" descr="preencoded.png">    </p:cNvPr>
          <p:cNvPicPr>
            <a:picLocks noChangeAspect="1"/>
          </p:cNvPicPr>
          <p:nvPr/>
        </p:nvPicPr>
        <p:blipFill>
          <a:blip r:embed="rId3"/>
          <a:stretch>
            <a:fillRect/>
          </a:stretch>
        </p:blipFill>
        <p:spPr>
          <a:xfrm>
            <a:off x="5416174" y="2231136"/>
            <a:ext cx="246888" cy="246888"/>
          </a:xfrm>
          <a:prstGeom prst="rect">
            <a:avLst/>
          </a:prstGeom>
        </p:spPr>
      </p:pic>
      <p:sp>
        <p:nvSpPr>
          <p:cNvPr id="17" name="Text 12"/>
          <p:cNvSpPr txBox="1"/>
          <p:nvPr/>
        </p:nvSpPr>
        <p:spPr>
          <a:xfrm>
            <a:off x="5288158" y="2788920"/>
            <a:ext cx="1661099" cy="54864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Account Management</a:t>
            </a:r>
            <a:endParaRPr lang="en-US" sz="1600" dirty="0"/>
          </a:p>
        </p:txBody>
      </p:sp>
      <p:sp>
        <p:nvSpPr>
          <p:cNvPr id="18" name="Text 13"/>
          <p:cNvSpPr txBox="1"/>
          <p:nvPr/>
        </p:nvSpPr>
        <p:spPr>
          <a:xfrm>
            <a:off x="5288158" y="3429000"/>
            <a:ext cx="1706819" cy="25603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chemeClr val="accent3"/>
                </a:solidFill>
              </a:rPr>
              <a:t>Active account tracking</a:t>
            </a:r>
            <a:endParaRPr lang="en-US" sz="1150" dirty="0"/>
          </a:p>
          <a:p>
            <a:pPr marL="152400" indent="-152400">
              <a:spcAft>
                <a:spcPts val="500"/>
              </a:spcAft>
              <a:buSzPct val="100000"/>
              <a:buChar char="•"/>
            </a:pPr>
            <a:r>
              <a:rPr lang="en-US" sz="1150" dirty="0">
                <a:solidFill>
                  <a:schemeClr val="accent3"/>
                </a:solidFill>
              </a:rPr>
              <a:t>Closed account tracking</a:t>
            </a:r>
            <a:endParaRPr lang="en-US" sz="1150" dirty="0"/>
          </a:p>
          <a:p>
            <a:pPr marL="152400" indent="-152400">
              <a:spcAft>
                <a:spcPts val="500"/>
              </a:spcAft>
              <a:buSzPct val="100000"/>
              <a:buChar char="•"/>
            </a:pPr>
            <a:r>
              <a:rPr lang="en-US" sz="1150" dirty="0">
                <a:solidFill>
                  <a:schemeClr val="accent3"/>
                </a:solidFill>
              </a:rPr>
              <a:t>Contract changes</a:t>
            </a:r>
            <a:endParaRPr lang="en-US" sz="1150" dirty="0"/>
          </a:p>
          <a:p>
            <a:pPr marL="152400" indent="-152400">
              <a:spcAft>
                <a:spcPts val="500"/>
              </a:spcAft>
              <a:buSzPct val="100000"/>
              <a:buChar char="•"/>
            </a:pPr>
            <a:r>
              <a:rPr lang="en-US" sz="1150" dirty="0">
                <a:solidFill>
                  <a:schemeClr val="accent3"/>
                </a:solidFill>
              </a:rPr>
              <a:t>Subscription changes</a:t>
            </a:r>
            <a:endParaRPr lang="en-US" sz="1150" dirty="0"/>
          </a:p>
          <a:p>
            <a:pPr marL="152400" indent="-152400">
              <a:spcAft>
                <a:spcPts val="500"/>
              </a:spcAft>
              <a:buSzPct val="100000"/>
              <a:buChar char="•"/>
            </a:pPr>
            <a:r>
              <a:rPr lang="en-US" sz="1150" dirty="0">
                <a:solidFill>
                  <a:schemeClr val="accent3"/>
                </a:solidFill>
              </a:rPr>
              <a:t>Termination tracking</a:t>
            </a:r>
            <a:endParaRPr lang="en-US" sz="1150" dirty="0"/>
          </a:p>
          <a:p>
            <a:pPr marL="152400" indent="-152400">
              <a:spcAft>
                <a:spcPts val="500"/>
              </a:spcAft>
              <a:buSzPct val="100000"/>
              <a:buChar char="•"/>
            </a:pPr>
            <a:r>
              <a:rPr lang="en-US" sz="1150" dirty="0">
                <a:solidFill>
                  <a:schemeClr val="accent3"/>
                </a:solidFill>
              </a:rPr>
              <a:t>Client billing coordination</a:t>
            </a:r>
            <a:endParaRPr lang="en-US" sz="1150" dirty="0"/>
          </a:p>
        </p:txBody>
      </p:sp>
      <p:sp>
        <p:nvSpPr>
          <p:cNvPr id="19" name="Reporting &amp; Data card"/>
          <p:cNvSpPr/>
          <p:nvPr/>
        </p:nvSpPr>
        <p:spPr>
          <a:xfrm>
            <a:off x="7315017" y="1828800"/>
            <a:ext cx="2072579" cy="3977640"/>
          </a:xfrm>
          <a:prstGeom prst="roundRect">
            <a:avLst>
              <a:gd name="adj" fmla="val 3530"/>
            </a:avLst>
          </a:prstGeom>
          <a:solidFill>
            <a:schemeClr val="bg1"/>
          </a:solidFill>
          <a:ln w="9525">
            <a:solidFill>
              <a:schemeClr val="accent4"/>
            </a:solidFill>
            <a:prstDash val="solid"/>
          </a:ln>
        </p:spPr>
      </p:sp>
      <p:sp>
        <p:nvSpPr>
          <p:cNvPr id="20" name="Shape 15"/>
          <p:cNvSpPr/>
          <p:nvPr/>
        </p:nvSpPr>
        <p:spPr>
          <a:xfrm>
            <a:off x="7543617" y="2103120"/>
            <a:ext cx="502920" cy="502920"/>
          </a:xfrm>
          <a:prstGeom prst="ellipse">
            <a:avLst/>
          </a:prstGeom>
          <a:solidFill>
            <a:schemeClr val="accent5"/>
          </a:solidFill>
          <a:ln/>
        </p:spPr>
      </p:sp>
      <p:pic>
        <p:nvPicPr>
          <p:cNvPr id="21" name="Image 3" descr="preencoded.png">    </p:cNvPr>
          <p:cNvPicPr>
            <a:picLocks noChangeAspect="1"/>
          </p:cNvPicPr>
          <p:nvPr/>
        </p:nvPicPr>
        <p:blipFill>
          <a:blip r:embed="rId4"/>
          <a:stretch>
            <a:fillRect/>
          </a:stretch>
        </p:blipFill>
        <p:spPr>
          <a:xfrm>
            <a:off x="7671633" y="2231136"/>
            <a:ext cx="246888" cy="246888"/>
          </a:xfrm>
          <a:prstGeom prst="rect">
            <a:avLst/>
          </a:prstGeom>
        </p:spPr>
      </p:pic>
      <p:sp>
        <p:nvSpPr>
          <p:cNvPr id="22" name="Text 16"/>
          <p:cNvSpPr txBox="1"/>
          <p:nvPr/>
        </p:nvSpPr>
        <p:spPr>
          <a:xfrm>
            <a:off x="7543617" y="2788920"/>
            <a:ext cx="1661099" cy="54864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Reporting &amp; Data</a:t>
            </a:r>
            <a:endParaRPr lang="en-US" sz="1600" dirty="0"/>
          </a:p>
        </p:txBody>
      </p:sp>
      <p:sp>
        <p:nvSpPr>
          <p:cNvPr id="23" name="Text 17"/>
          <p:cNvSpPr txBox="1"/>
          <p:nvPr/>
        </p:nvSpPr>
        <p:spPr>
          <a:xfrm>
            <a:off x="7543617" y="3429000"/>
            <a:ext cx="1706819" cy="25603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chemeClr val="accent3"/>
                </a:solidFill>
              </a:rPr>
              <a:t>Excel &amp; Google Sheets</a:t>
            </a:r>
            <a:endParaRPr lang="en-US" sz="1150" dirty="0"/>
          </a:p>
          <a:p>
            <a:pPr marL="152400" indent="-152400">
              <a:spcAft>
                <a:spcPts val="500"/>
              </a:spcAft>
              <a:buSzPct val="100000"/>
              <a:buChar char="•"/>
            </a:pPr>
            <a:r>
              <a:rPr lang="en-US" sz="1150" dirty="0">
                <a:solidFill>
                  <a:schemeClr val="accent3"/>
                </a:solidFill>
              </a:rPr>
              <a:t>Monthly billing audits</a:t>
            </a:r>
            <a:endParaRPr lang="en-US" sz="1150" dirty="0"/>
          </a:p>
          <a:p>
            <a:pPr marL="152400" indent="-152400">
              <a:spcAft>
                <a:spcPts val="500"/>
              </a:spcAft>
              <a:buSzPct val="100000"/>
              <a:buChar char="•"/>
            </a:pPr>
            <a:r>
              <a:rPr lang="en-US" sz="1150" dirty="0">
                <a:solidFill>
                  <a:schemeClr val="accent3"/>
                </a:solidFill>
              </a:rPr>
              <a:t>Data validation</a:t>
            </a:r>
            <a:endParaRPr lang="en-US" sz="1150" dirty="0"/>
          </a:p>
          <a:p>
            <a:pPr marL="152400" indent="-152400">
              <a:spcAft>
                <a:spcPts val="500"/>
              </a:spcAft>
              <a:buSzPct val="100000"/>
              <a:buChar char="•"/>
            </a:pPr>
            <a:r>
              <a:rPr lang="en-US" sz="1150" dirty="0">
                <a:solidFill>
                  <a:schemeClr val="accent3"/>
                </a:solidFill>
              </a:rPr>
              <a:t>Spreadsheet maintenance</a:t>
            </a:r>
            <a:endParaRPr lang="en-US" sz="1150" dirty="0"/>
          </a:p>
          <a:p>
            <a:pPr marL="152400" indent="-152400">
              <a:spcAft>
                <a:spcPts val="500"/>
              </a:spcAft>
              <a:buSzPct val="100000"/>
              <a:buChar char="•"/>
            </a:pPr>
            <a:r>
              <a:rPr lang="en-US" sz="1150" dirty="0">
                <a:solidFill>
                  <a:schemeClr val="accent3"/>
                </a:solidFill>
              </a:rPr>
              <a:t>Billing reports</a:t>
            </a:r>
            <a:endParaRPr lang="en-US" sz="1150" dirty="0"/>
          </a:p>
          <a:p>
            <a:pPr marL="152400" indent="-152400">
              <a:spcAft>
                <a:spcPts val="500"/>
              </a:spcAft>
              <a:buSzPct val="100000"/>
              <a:buChar char="•"/>
            </a:pPr>
            <a:r>
              <a:rPr lang="en-US" sz="1150" dirty="0">
                <a:solidFill>
                  <a:schemeClr val="accent3"/>
                </a:solidFill>
              </a:rPr>
              <a:t>Account reconciliation</a:t>
            </a:r>
            <a:endParaRPr lang="en-US" sz="1150" dirty="0"/>
          </a:p>
        </p:txBody>
      </p:sp>
      <p:sp>
        <p:nvSpPr>
          <p:cNvPr id="24" name="Operations card"/>
          <p:cNvSpPr/>
          <p:nvPr/>
        </p:nvSpPr>
        <p:spPr>
          <a:xfrm>
            <a:off x="9570476" y="1828800"/>
            <a:ext cx="2072579" cy="3977640"/>
          </a:xfrm>
          <a:prstGeom prst="roundRect">
            <a:avLst>
              <a:gd name="adj" fmla="val 3530"/>
            </a:avLst>
          </a:prstGeom>
          <a:solidFill>
            <a:schemeClr val="bg1"/>
          </a:solidFill>
          <a:ln w="9525">
            <a:solidFill>
              <a:schemeClr val="accent4"/>
            </a:solidFill>
            <a:prstDash val="solid"/>
          </a:ln>
        </p:spPr>
      </p:sp>
      <p:sp>
        <p:nvSpPr>
          <p:cNvPr id="25" name="Shape 19"/>
          <p:cNvSpPr/>
          <p:nvPr/>
        </p:nvSpPr>
        <p:spPr>
          <a:xfrm>
            <a:off x="9799076" y="2103120"/>
            <a:ext cx="502920" cy="502920"/>
          </a:xfrm>
          <a:prstGeom prst="ellipse">
            <a:avLst/>
          </a:prstGeom>
          <a:solidFill>
            <a:schemeClr val="accent5"/>
          </a:solidFill>
          <a:ln/>
        </p:spPr>
      </p:sp>
      <p:pic>
        <p:nvPicPr>
          <p:cNvPr id="26" name="Image 4" descr="preencoded.png">    </p:cNvPr>
          <p:cNvPicPr>
            <a:picLocks noChangeAspect="1"/>
          </p:cNvPicPr>
          <p:nvPr/>
        </p:nvPicPr>
        <p:blipFill>
          <a:blip r:embed="rId5"/>
          <a:stretch>
            <a:fillRect/>
          </a:stretch>
        </p:blipFill>
        <p:spPr>
          <a:xfrm>
            <a:off x="9927092" y="2231136"/>
            <a:ext cx="246888" cy="246888"/>
          </a:xfrm>
          <a:prstGeom prst="rect">
            <a:avLst/>
          </a:prstGeom>
        </p:spPr>
      </p:pic>
      <p:sp>
        <p:nvSpPr>
          <p:cNvPr id="27" name="Text 20"/>
          <p:cNvSpPr txBox="1"/>
          <p:nvPr/>
        </p:nvSpPr>
        <p:spPr>
          <a:xfrm>
            <a:off x="9799076" y="2788920"/>
            <a:ext cx="1661099" cy="54864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Operations</a:t>
            </a:r>
            <a:endParaRPr lang="en-US" sz="1600" dirty="0"/>
          </a:p>
        </p:txBody>
      </p:sp>
      <p:sp>
        <p:nvSpPr>
          <p:cNvPr id="28" name="Text 21"/>
          <p:cNvSpPr txBox="1"/>
          <p:nvPr/>
        </p:nvSpPr>
        <p:spPr>
          <a:xfrm>
            <a:off x="9799076" y="3429000"/>
            <a:ext cx="1706819" cy="25603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chemeClr val="accent3"/>
                </a:solidFill>
              </a:rPr>
              <a:t>Process coordination</a:t>
            </a:r>
            <a:endParaRPr lang="en-US" sz="1150" dirty="0"/>
          </a:p>
          <a:p>
            <a:pPr marL="152400" indent="-152400">
              <a:spcAft>
                <a:spcPts val="500"/>
              </a:spcAft>
              <a:buSzPct val="100000"/>
              <a:buChar char="•"/>
            </a:pPr>
            <a:r>
              <a:rPr lang="en-US" sz="1150" dirty="0">
                <a:solidFill>
                  <a:schemeClr val="accent3"/>
                </a:solidFill>
              </a:rPr>
              <a:t>Cross-functional communication</a:t>
            </a:r>
            <a:endParaRPr lang="en-US" sz="1150" dirty="0"/>
          </a:p>
          <a:p>
            <a:pPr marL="152400" indent="-152400">
              <a:spcAft>
                <a:spcPts val="500"/>
              </a:spcAft>
              <a:buSzPct val="100000"/>
              <a:buChar char="•"/>
            </a:pPr>
            <a:r>
              <a:rPr lang="en-US" sz="1150" dirty="0">
                <a:solidFill>
                  <a:schemeClr val="accent3"/>
                </a:solidFill>
              </a:rPr>
              <a:t>Follow-ups</a:t>
            </a:r>
            <a:endParaRPr lang="en-US" sz="1150" dirty="0"/>
          </a:p>
          <a:p>
            <a:pPr marL="152400" indent="-152400">
              <a:spcAft>
                <a:spcPts val="500"/>
              </a:spcAft>
              <a:buSzPct val="100000"/>
              <a:buChar char="•"/>
            </a:pPr>
            <a:r>
              <a:rPr lang="en-US" sz="1150" dirty="0">
                <a:solidFill>
                  <a:schemeClr val="accent3"/>
                </a:solidFill>
              </a:rPr>
              <a:t>Issue tracking</a:t>
            </a:r>
            <a:endParaRPr lang="en-US" sz="1150" dirty="0"/>
          </a:p>
          <a:p>
            <a:pPr marL="152400" indent="-152400">
              <a:spcAft>
                <a:spcPts val="500"/>
              </a:spcAft>
              <a:buSzPct val="100000"/>
              <a:buChar char="•"/>
            </a:pPr>
            <a:r>
              <a:rPr lang="en-US" sz="1150" dirty="0">
                <a:solidFill>
                  <a:schemeClr val="accent3"/>
                </a:solidFill>
              </a:rPr>
              <a:t>Administrative support</a:t>
            </a:r>
            <a:endParaRPr lang="en-US" sz="1150" dirty="0"/>
          </a:p>
          <a:p>
            <a:pPr marL="152400" indent="-152400">
              <a:spcAft>
                <a:spcPts val="500"/>
              </a:spcAft>
              <a:buSzPct val="100000"/>
              <a:buChar char="•"/>
            </a:pPr>
            <a:r>
              <a:rPr lang="en-US" sz="1150" dirty="0">
                <a:solidFill>
                  <a:schemeClr val="accent3"/>
                </a:solidFill>
              </a:rPr>
              <a:t>Workflow organization</a:t>
            </a:r>
            <a:endParaRPr lang="en-US" sz="11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7315200" cy="274320"/>
          </a:xfrm>
          <a:prstGeom prst="rect">
            <a:avLst/>
          </a:prstGeom>
          <a:noFill/>
          <a:ln/>
        </p:spPr>
        <p:txBody>
          <a:bodyPr wrap="square" lIns="0" tIns="0" rIns="0" bIns="0" rtlCol="0"/>
          <a:lstStyle/>
          <a:p>
            <a:pPr indent="0" marL="0">
              <a:buNone/>
            </a:pPr>
            <a:r>
              <a:rPr lang="en-US" sz="1100" b="1" spc="300" kern="0" dirty="0">
                <a:solidFill>
                  <a:schemeClr val="tx2"/>
                </a:solidFill>
                <a:latin typeface="Calibri" pitchFamily="34" charset="0"/>
                <a:ea typeface="Calibri" pitchFamily="34" charset="-122"/>
                <a:cs typeface="Calibri" pitchFamily="34" charset="-120"/>
              </a:rPr>
              <a:t>SKILLS</a:t>
            </a:r>
            <a:endParaRPr lang="en-US" sz="1100" dirty="0"/>
          </a:p>
        </p:txBody>
      </p:sp>
      <p:sp>
        <p:nvSpPr>
          <p:cNvPr id="3" name="Text 0"/>
          <p:cNvSpPr/>
          <p:nvPr>
            <p:ph idx="101" type="title" hasCustomPrompt="1"/>
          </p:nvPr>
        </p:nvSpPr>
        <p:spPr>
          <a:xfrm>
            <a:off x="548640" y="731520"/>
            <a:ext cx="10972800" cy="77724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Skills I use every billing cycle.</a:t>
            </a:r>
            <a:endParaRPr lang="en-US" sz="3400" dirty="0"/>
          </a:p>
        </p:txBody>
      </p:sp>
      <p:sp>
        <p:nvSpPr>
          <p:cNvPr id="4" name="Text 2"/>
          <p:cNvSpPr txBox="1"/>
          <p:nvPr/>
        </p:nvSpPr>
        <p:spPr>
          <a:xfrm>
            <a:off x="548640" y="2011680"/>
            <a:ext cx="2464994" cy="365760"/>
          </a:xfrm>
          <a:prstGeom prst="rect">
            <a:avLst/>
          </a:prstGeom>
          <a:noFill/>
          <a:ln/>
        </p:spPr>
        <p:txBody>
          <a:bodyPr wrap="square" lIns="0" tIns="0" rIns="0" bIns="0" rtlCol="0" anchor="ctr"/>
          <a:lstStyle/>
          <a:p>
            <a:pPr indent="0" marL="0">
              <a:buNone/>
            </a:pPr>
            <a:r>
              <a:rPr lang="en-US" sz="1600" b="1" dirty="0">
                <a:solidFill>
                  <a:schemeClr val="tx1"/>
                </a:solidFill>
              </a:rPr>
              <a:t>Billing</a:t>
            </a:r>
            <a:endParaRPr lang="en-US" sz="1600" dirty="0"/>
          </a:p>
        </p:txBody>
      </p:sp>
      <p:sp>
        <p:nvSpPr>
          <p:cNvPr id="5" name="Shape 3"/>
          <p:cNvSpPr/>
          <p:nvPr/>
        </p:nvSpPr>
        <p:spPr>
          <a:xfrm>
            <a:off x="548640" y="2468880"/>
            <a:ext cx="2464994" cy="0"/>
          </a:xfrm>
          <a:prstGeom prst="line">
            <a:avLst/>
          </a:prstGeom>
          <a:noFill/>
          <a:ln w="15875">
            <a:solidFill>
              <a:schemeClr val="tx1"/>
            </a:solidFill>
            <a:prstDash val="solid"/>
          </a:ln>
        </p:spPr>
      </p:sp>
      <p:sp>
        <p:nvSpPr>
          <p:cNvPr id="6" name="Shape 4"/>
          <p:cNvSpPr/>
          <p:nvPr/>
        </p:nvSpPr>
        <p:spPr>
          <a:xfrm>
            <a:off x="548640" y="2688336"/>
            <a:ext cx="219456" cy="219456"/>
          </a:xfrm>
          <a:prstGeom prst="ellipse">
            <a:avLst/>
          </a:prstGeom>
          <a:solidFill>
            <a:schemeClr val="accent2"/>
          </a:solidFill>
          <a:ln w="15875">
            <a:solidFill>
              <a:schemeClr val="accent2"/>
            </a:solidFill>
            <a:prstDash val="solid"/>
          </a:ln>
        </p:spPr>
      </p:sp>
      <p:pic>
        <p:nvPicPr>
          <p:cNvPr id="7" name="Image 0" descr="preencoded.png">    </p:cNvPr>
          <p:cNvPicPr>
            <a:picLocks noChangeAspect="1"/>
          </p:cNvPicPr>
          <p:nvPr/>
        </p:nvPicPr>
        <p:blipFill>
          <a:blip r:embed="rId1"/>
          <a:stretch>
            <a:fillRect/>
          </a:stretch>
        </p:blipFill>
        <p:spPr>
          <a:xfrm>
            <a:off x="592531" y="2732227"/>
            <a:ext cx="131674" cy="131674"/>
          </a:xfrm>
          <a:prstGeom prst="rect">
            <a:avLst/>
          </a:prstGeom>
        </p:spPr>
      </p:pic>
      <p:sp>
        <p:nvSpPr>
          <p:cNvPr id="8" name="Text 5"/>
          <p:cNvSpPr txBox="1"/>
          <p:nvPr/>
        </p:nvSpPr>
        <p:spPr>
          <a:xfrm>
            <a:off x="896112" y="2560320"/>
            <a:ext cx="2117522" cy="475488"/>
          </a:xfrm>
          <a:prstGeom prst="rect">
            <a:avLst/>
          </a:prstGeom>
          <a:noFill/>
          <a:ln/>
        </p:spPr>
        <p:txBody>
          <a:bodyPr wrap="square" lIns="0" tIns="0" rIns="0" bIns="0" rtlCol="0" anchor="ctr"/>
          <a:lstStyle/>
          <a:p>
            <a:pPr indent="0" marL="0">
              <a:buNone/>
            </a:pPr>
            <a:r>
              <a:rPr lang="en-US" sz="1300" dirty="0">
                <a:solidFill>
                  <a:schemeClr val="tx1"/>
                </a:solidFill>
              </a:rPr>
              <a:t>Recurring &amp; subscription billing</a:t>
            </a:r>
            <a:endParaRPr lang="en-US" sz="1300" dirty="0"/>
          </a:p>
        </p:txBody>
      </p:sp>
      <p:sp>
        <p:nvSpPr>
          <p:cNvPr id="9" name="Shape 6"/>
          <p:cNvSpPr/>
          <p:nvPr/>
        </p:nvSpPr>
        <p:spPr>
          <a:xfrm>
            <a:off x="548640" y="3127248"/>
            <a:ext cx="2464994" cy="0"/>
          </a:xfrm>
          <a:prstGeom prst="line">
            <a:avLst/>
          </a:prstGeom>
          <a:noFill/>
          <a:ln w="9525">
            <a:solidFill>
              <a:schemeClr val="accent4"/>
            </a:solidFill>
            <a:prstDash val="solid"/>
          </a:ln>
        </p:spPr>
      </p:sp>
      <p:sp>
        <p:nvSpPr>
          <p:cNvPr id="10" name="Shape 7"/>
          <p:cNvSpPr/>
          <p:nvPr/>
        </p:nvSpPr>
        <p:spPr>
          <a:xfrm>
            <a:off x="548640" y="3346704"/>
            <a:ext cx="219456" cy="219456"/>
          </a:xfrm>
          <a:prstGeom prst="ellipse">
            <a:avLst/>
          </a:prstGeom>
          <a:solidFill>
            <a:schemeClr val="accent2"/>
          </a:solidFill>
          <a:ln w="15875">
            <a:solidFill>
              <a:schemeClr val="accent2"/>
            </a:solidFill>
            <a:prstDash val="solid"/>
          </a:ln>
        </p:spPr>
      </p:sp>
      <p:pic>
        <p:nvPicPr>
          <p:cNvPr id="11" name="Image 1" descr="preencoded.png">    </p:cNvPr>
          <p:cNvPicPr>
            <a:picLocks noChangeAspect="1"/>
          </p:cNvPicPr>
          <p:nvPr/>
        </p:nvPicPr>
        <p:blipFill>
          <a:blip r:embed="rId2"/>
          <a:stretch>
            <a:fillRect/>
          </a:stretch>
        </p:blipFill>
        <p:spPr>
          <a:xfrm>
            <a:off x="592531" y="3390595"/>
            <a:ext cx="131674" cy="131674"/>
          </a:xfrm>
          <a:prstGeom prst="rect">
            <a:avLst/>
          </a:prstGeom>
        </p:spPr>
      </p:pic>
      <p:sp>
        <p:nvSpPr>
          <p:cNvPr id="12" name="Text 8"/>
          <p:cNvSpPr txBox="1"/>
          <p:nvPr/>
        </p:nvSpPr>
        <p:spPr>
          <a:xfrm>
            <a:off x="896112" y="3218688"/>
            <a:ext cx="2117522" cy="475488"/>
          </a:xfrm>
          <a:prstGeom prst="rect">
            <a:avLst/>
          </a:prstGeom>
          <a:noFill/>
          <a:ln/>
        </p:spPr>
        <p:txBody>
          <a:bodyPr wrap="square" lIns="0" tIns="0" rIns="0" bIns="0" rtlCol="0" anchor="ctr"/>
          <a:lstStyle/>
          <a:p>
            <a:pPr indent="0" marL="0">
              <a:buNone/>
            </a:pPr>
            <a:r>
              <a:rPr lang="en-US" sz="1300" dirty="0">
                <a:solidFill>
                  <a:schemeClr val="tx1"/>
                </a:solidFill>
              </a:rPr>
              <a:t>Invoice preparation and review</a:t>
            </a:r>
            <a:endParaRPr lang="en-US" sz="1300" dirty="0"/>
          </a:p>
        </p:txBody>
      </p:sp>
      <p:sp>
        <p:nvSpPr>
          <p:cNvPr id="13" name="Shape 9"/>
          <p:cNvSpPr/>
          <p:nvPr/>
        </p:nvSpPr>
        <p:spPr>
          <a:xfrm>
            <a:off x="548640" y="3785616"/>
            <a:ext cx="2464994" cy="0"/>
          </a:xfrm>
          <a:prstGeom prst="line">
            <a:avLst/>
          </a:prstGeom>
          <a:noFill/>
          <a:ln w="9525">
            <a:solidFill>
              <a:schemeClr val="accent4"/>
            </a:solidFill>
            <a:prstDash val="solid"/>
          </a:ln>
        </p:spPr>
      </p:sp>
      <p:sp>
        <p:nvSpPr>
          <p:cNvPr id="14" name="Shape 10"/>
          <p:cNvSpPr/>
          <p:nvPr/>
        </p:nvSpPr>
        <p:spPr>
          <a:xfrm>
            <a:off x="548640" y="4005072"/>
            <a:ext cx="219456" cy="219456"/>
          </a:xfrm>
          <a:prstGeom prst="ellipse">
            <a:avLst/>
          </a:prstGeom>
          <a:solidFill>
            <a:schemeClr val="accent2"/>
          </a:solidFill>
          <a:ln w="15875">
            <a:solidFill>
              <a:schemeClr val="accent2"/>
            </a:solidFill>
            <a:prstDash val="solid"/>
          </a:ln>
        </p:spPr>
      </p:sp>
      <p:pic>
        <p:nvPicPr>
          <p:cNvPr id="15" name="Image 2" descr="preencoded.png">    </p:cNvPr>
          <p:cNvPicPr>
            <a:picLocks noChangeAspect="1"/>
          </p:cNvPicPr>
          <p:nvPr/>
        </p:nvPicPr>
        <p:blipFill>
          <a:blip r:embed="rId3"/>
          <a:stretch>
            <a:fillRect/>
          </a:stretch>
        </p:blipFill>
        <p:spPr>
          <a:xfrm>
            <a:off x="592531" y="4048963"/>
            <a:ext cx="131674" cy="131674"/>
          </a:xfrm>
          <a:prstGeom prst="rect">
            <a:avLst/>
          </a:prstGeom>
        </p:spPr>
      </p:pic>
      <p:sp>
        <p:nvSpPr>
          <p:cNvPr id="16" name="Text 11"/>
          <p:cNvSpPr txBox="1"/>
          <p:nvPr/>
        </p:nvSpPr>
        <p:spPr>
          <a:xfrm>
            <a:off x="896112" y="3877056"/>
            <a:ext cx="2117522" cy="475488"/>
          </a:xfrm>
          <a:prstGeom prst="rect">
            <a:avLst/>
          </a:prstGeom>
          <a:noFill/>
          <a:ln/>
        </p:spPr>
        <p:txBody>
          <a:bodyPr wrap="square" lIns="0" tIns="0" rIns="0" bIns="0" rtlCol="0" anchor="ctr"/>
          <a:lstStyle/>
          <a:p>
            <a:pPr indent="0" marL="0">
              <a:buNone/>
            </a:pPr>
            <a:r>
              <a:rPr lang="en-US" sz="1300" dirty="0">
                <a:solidFill>
                  <a:schemeClr val="tx1"/>
                </a:solidFill>
              </a:rPr>
              <a:t>Proration and adjustments</a:t>
            </a:r>
            <a:endParaRPr lang="en-US" sz="1300" dirty="0"/>
          </a:p>
        </p:txBody>
      </p:sp>
      <p:sp>
        <p:nvSpPr>
          <p:cNvPr id="17" name="Shape 12"/>
          <p:cNvSpPr/>
          <p:nvPr/>
        </p:nvSpPr>
        <p:spPr>
          <a:xfrm>
            <a:off x="548640" y="4443984"/>
            <a:ext cx="2464994" cy="0"/>
          </a:xfrm>
          <a:prstGeom prst="line">
            <a:avLst/>
          </a:prstGeom>
          <a:noFill/>
          <a:ln w="9525">
            <a:solidFill>
              <a:schemeClr val="accent4"/>
            </a:solidFill>
            <a:prstDash val="solid"/>
          </a:ln>
        </p:spPr>
      </p:sp>
      <p:sp>
        <p:nvSpPr>
          <p:cNvPr id="18" name="Shape 13"/>
          <p:cNvSpPr/>
          <p:nvPr/>
        </p:nvSpPr>
        <p:spPr>
          <a:xfrm>
            <a:off x="548640" y="4663440"/>
            <a:ext cx="219456" cy="219456"/>
          </a:xfrm>
          <a:prstGeom prst="ellipse">
            <a:avLst/>
          </a:prstGeom>
          <a:solidFill>
            <a:schemeClr val="accent2"/>
          </a:solidFill>
          <a:ln w="15875">
            <a:solidFill>
              <a:schemeClr val="accent2"/>
            </a:solidFill>
            <a:prstDash val="solid"/>
          </a:ln>
        </p:spPr>
      </p:sp>
      <p:pic>
        <p:nvPicPr>
          <p:cNvPr id="19" name="Image 3" descr="preencoded.png">    </p:cNvPr>
          <p:cNvPicPr>
            <a:picLocks noChangeAspect="1"/>
          </p:cNvPicPr>
          <p:nvPr/>
        </p:nvPicPr>
        <p:blipFill>
          <a:blip r:embed="rId4"/>
          <a:stretch>
            <a:fillRect/>
          </a:stretch>
        </p:blipFill>
        <p:spPr>
          <a:xfrm>
            <a:off x="592531" y="4707331"/>
            <a:ext cx="131674" cy="131674"/>
          </a:xfrm>
          <a:prstGeom prst="rect">
            <a:avLst/>
          </a:prstGeom>
        </p:spPr>
      </p:pic>
      <p:sp>
        <p:nvSpPr>
          <p:cNvPr id="20" name="Text 14"/>
          <p:cNvSpPr txBox="1"/>
          <p:nvPr/>
        </p:nvSpPr>
        <p:spPr>
          <a:xfrm>
            <a:off x="896112" y="4535424"/>
            <a:ext cx="2117522" cy="475488"/>
          </a:xfrm>
          <a:prstGeom prst="rect">
            <a:avLst/>
          </a:prstGeom>
          <a:noFill/>
          <a:ln/>
        </p:spPr>
        <p:txBody>
          <a:bodyPr wrap="square" lIns="0" tIns="0" rIns="0" bIns="0" rtlCol="0" anchor="ctr"/>
          <a:lstStyle/>
          <a:p>
            <a:pPr indent="0" marL="0">
              <a:buNone/>
            </a:pPr>
            <a:r>
              <a:rPr lang="en-US" sz="1300" dirty="0">
                <a:solidFill>
                  <a:schemeClr val="tx1"/>
                </a:solidFill>
              </a:rPr>
              <a:t>Credits and refunds</a:t>
            </a:r>
            <a:endParaRPr lang="en-US" sz="1300" dirty="0"/>
          </a:p>
        </p:txBody>
      </p:sp>
      <p:sp>
        <p:nvSpPr>
          <p:cNvPr id="21" name="Shape 15"/>
          <p:cNvSpPr/>
          <p:nvPr/>
        </p:nvSpPr>
        <p:spPr>
          <a:xfrm>
            <a:off x="548640" y="5102352"/>
            <a:ext cx="2464994" cy="0"/>
          </a:xfrm>
          <a:prstGeom prst="line">
            <a:avLst/>
          </a:prstGeom>
          <a:noFill/>
          <a:ln w="9525">
            <a:solidFill>
              <a:schemeClr val="accent4"/>
            </a:solidFill>
            <a:prstDash val="solid"/>
          </a:ln>
        </p:spPr>
      </p:sp>
      <p:sp>
        <p:nvSpPr>
          <p:cNvPr id="22" name="Text 16"/>
          <p:cNvSpPr txBox="1"/>
          <p:nvPr/>
        </p:nvSpPr>
        <p:spPr>
          <a:xfrm>
            <a:off x="3425114" y="2011680"/>
            <a:ext cx="2464994" cy="365760"/>
          </a:xfrm>
          <a:prstGeom prst="rect">
            <a:avLst/>
          </a:prstGeom>
          <a:noFill/>
          <a:ln/>
        </p:spPr>
        <p:txBody>
          <a:bodyPr wrap="square" lIns="0" tIns="0" rIns="0" bIns="0" rtlCol="0" anchor="ctr"/>
          <a:lstStyle/>
          <a:p>
            <a:pPr indent="0" marL="0">
              <a:buNone/>
            </a:pPr>
            <a:r>
              <a:rPr lang="en-US" sz="1600" b="1" dirty="0">
                <a:solidFill>
                  <a:schemeClr val="tx1"/>
                </a:solidFill>
              </a:rPr>
              <a:t>Finance administration</a:t>
            </a:r>
            <a:endParaRPr lang="en-US" sz="1600" dirty="0"/>
          </a:p>
        </p:txBody>
      </p:sp>
      <p:sp>
        <p:nvSpPr>
          <p:cNvPr id="23" name="Shape 17"/>
          <p:cNvSpPr/>
          <p:nvPr/>
        </p:nvSpPr>
        <p:spPr>
          <a:xfrm>
            <a:off x="3425114" y="2468880"/>
            <a:ext cx="2464994" cy="0"/>
          </a:xfrm>
          <a:prstGeom prst="line">
            <a:avLst/>
          </a:prstGeom>
          <a:noFill/>
          <a:ln w="15875">
            <a:solidFill>
              <a:schemeClr val="tx1"/>
            </a:solidFill>
            <a:prstDash val="solid"/>
          </a:ln>
        </p:spPr>
      </p:sp>
      <p:sp>
        <p:nvSpPr>
          <p:cNvPr id="24" name="Shape 18"/>
          <p:cNvSpPr/>
          <p:nvPr/>
        </p:nvSpPr>
        <p:spPr>
          <a:xfrm>
            <a:off x="3425114" y="2688336"/>
            <a:ext cx="219456" cy="219456"/>
          </a:xfrm>
          <a:prstGeom prst="ellipse">
            <a:avLst/>
          </a:prstGeom>
          <a:solidFill>
            <a:schemeClr val="accent2"/>
          </a:solidFill>
          <a:ln w="15875">
            <a:solidFill>
              <a:schemeClr val="accent2"/>
            </a:solidFill>
            <a:prstDash val="solid"/>
          </a:ln>
        </p:spPr>
      </p:sp>
      <p:pic>
        <p:nvPicPr>
          <p:cNvPr id="25" name="Image 4" descr="preencoded.png">    </p:cNvPr>
          <p:cNvPicPr>
            <a:picLocks noChangeAspect="1"/>
          </p:cNvPicPr>
          <p:nvPr/>
        </p:nvPicPr>
        <p:blipFill>
          <a:blip r:embed="rId5"/>
          <a:stretch>
            <a:fillRect/>
          </a:stretch>
        </p:blipFill>
        <p:spPr>
          <a:xfrm>
            <a:off x="3469005" y="2732227"/>
            <a:ext cx="131674" cy="131674"/>
          </a:xfrm>
          <a:prstGeom prst="rect">
            <a:avLst/>
          </a:prstGeom>
        </p:spPr>
      </p:pic>
      <p:sp>
        <p:nvSpPr>
          <p:cNvPr id="26" name="Text 19"/>
          <p:cNvSpPr txBox="1"/>
          <p:nvPr/>
        </p:nvSpPr>
        <p:spPr>
          <a:xfrm>
            <a:off x="3772586" y="2560320"/>
            <a:ext cx="2117522" cy="475488"/>
          </a:xfrm>
          <a:prstGeom prst="rect">
            <a:avLst/>
          </a:prstGeom>
          <a:noFill/>
          <a:ln/>
        </p:spPr>
        <p:txBody>
          <a:bodyPr wrap="square" lIns="0" tIns="0" rIns="0" bIns="0" rtlCol="0" anchor="ctr"/>
          <a:lstStyle/>
          <a:p>
            <a:pPr indent="0" marL="0">
              <a:buNone/>
            </a:pPr>
            <a:r>
              <a:rPr lang="en-US" sz="1300" dirty="0">
                <a:solidFill>
                  <a:schemeClr val="tx1"/>
                </a:solidFill>
              </a:rPr>
              <a:t>Payment processing &amp; verification</a:t>
            </a:r>
            <a:endParaRPr lang="en-US" sz="1300" dirty="0"/>
          </a:p>
        </p:txBody>
      </p:sp>
      <p:sp>
        <p:nvSpPr>
          <p:cNvPr id="27" name="Shape 20"/>
          <p:cNvSpPr/>
          <p:nvPr/>
        </p:nvSpPr>
        <p:spPr>
          <a:xfrm>
            <a:off x="3425114" y="3127248"/>
            <a:ext cx="2464994" cy="0"/>
          </a:xfrm>
          <a:prstGeom prst="line">
            <a:avLst/>
          </a:prstGeom>
          <a:noFill/>
          <a:ln w="9525">
            <a:solidFill>
              <a:schemeClr val="accent4"/>
            </a:solidFill>
            <a:prstDash val="solid"/>
          </a:ln>
        </p:spPr>
      </p:sp>
      <p:sp>
        <p:nvSpPr>
          <p:cNvPr id="28" name="Shape 21"/>
          <p:cNvSpPr/>
          <p:nvPr/>
        </p:nvSpPr>
        <p:spPr>
          <a:xfrm>
            <a:off x="3425114" y="3346704"/>
            <a:ext cx="219456" cy="219456"/>
          </a:xfrm>
          <a:prstGeom prst="ellipse">
            <a:avLst/>
          </a:prstGeom>
          <a:solidFill>
            <a:schemeClr val="accent2"/>
          </a:solidFill>
          <a:ln w="15875">
            <a:solidFill>
              <a:schemeClr val="accent2"/>
            </a:solidFill>
            <a:prstDash val="solid"/>
          </a:ln>
        </p:spPr>
      </p:sp>
      <p:pic>
        <p:nvPicPr>
          <p:cNvPr id="29" name="Image 5" descr="preencoded.png">    </p:cNvPr>
          <p:cNvPicPr>
            <a:picLocks noChangeAspect="1"/>
          </p:cNvPicPr>
          <p:nvPr/>
        </p:nvPicPr>
        <p:blipFill>
          <a:blip r:embed="rId6"/>
          <a:stretch>
            <a:fillRect/>
          </a:stretch>
        </p:blipFill>
        <p:spPr>
          <a:xfrm>
            <a:off x="3469005" y="3390595"/>
            <a:ext cx="131674" cy="131674"/>
          </a:xfrm>
          <a:prstGeom prst="rect">
            <a:avLst/>
          </a:prstGeom>
        </p:spPr>
      </p:pic>
      <p:sp>
        <p:nvSpPr>
          <p:cNvPr id="30" name="Text 22"/>
          <p:cNvSpPr txBox="1"/>
          <p:nvPr/>
        </p:nvSpPr>
        <p:spPr>
          <a:xfrm>
            <a:off x="3772586" y="3218688"/>
            <a:ext cx="2117522" cy="475488"/>
          </a:xfrm>
          <a:prstGeom prst="rect">
            <a:avLst/>
          </a:prstGeom>
          <a:noFill/>
          <a:ln/>
        </p:spPr>
        <p:txBody>
          <a:bodyPr wrap="square" lIns="0" tIns="0" rIns="0" bIns="0" rtlCol="0" anchor="ctr"/>
          <a:lstStyle/>
          <a:p>
            <a:pPr indent="0" marL="0">
              <a:buNone/>
            </a:pPr>
            <a:r>
              <a:rPr lang="en-US" sz="1300" dirty="0">
                <a:solidFill>
                  <a:schemeClr val="tx1"/>
                </a:solidFill>
              </a:rPr>
              <a:t>Account reconciliation</a:t>
            </a:r>
            <a:endParaRPr lang="en-US" sz="1300" dirty="0"/>
          </a:p>
        </p:txBody>
      </p:sp>
      <p:sp>
        <p:nvSpPr>
          <p:cNvPr id="31" name="Shape 23"/>
          <p:cNvSpPr/>
          <p:nvPr/>
        </p:nvSpPr>
        <p:spPr>
          <a:xfrm>
            <a:off x="3425114" y="3785616"/>
            <a:ext cx="2464994" cy="0"/>
          </a:xfrm>
          <a:prstGeom prst="line">
            <a:avLst/>
          </a:prstGeom>
          <a:noFill/>
          <a:ln w="9525">
            <a:solidFill>
              <a:schemeClr val="accent4"/>
            </a:solidFill>
            <a:prstDash val="solid"/>
          </a:ln>
        </p:spPr>
      </p:sp>
      <p:sp>
        <p:nvSpPr>
          <p:cNvPr id="32" name="Shape 24"/>
          <p:cNvSpPr/>
          <p:nvPr/>
        </p:nvSpPr>
        <p:spPr>
          <a:xfrm>
            <a:off x="3425114" y="4005072"/>
            <a:ext cx="219456" cy="219456"/>
          </a:xfrm>
          <a:prstGeom prst="ellipse">
            <a:avLst/>
          </a:prstGeom>
          <a:solidFill>
            <a:schemeClr val="accent2"/>
          </a:solidFill>
          <a:ln w="15875">
            <a:solidFill>
              <a:schemeClr val="accent2"/>
            </a:solidFill>
            <a:prstDash val="solid"/>
          </a:ln>
        </p:spPr>
      </p:sp>
      <p:pic>
        <p:nvPicPr>
          <p:cNvPr id="33" name="Image 6" descr="preencoded.png">    </p:cNvPr>
          <p:cNvPicPr>
            <a:picLocks noChangeAspect="1"/>
          </p:cNvPicPr>
          <p:nvPr/>
        </p:nvPicPr>
        <p:blipFill>
          <a:blip r:embed="rId7"/>
          <a:stretch>
            <a:fillRect/>
          </a:stretch>
        </p:blipFill>
        <p:spPr>
          <a:xfrm>
            <a:off x="3469005" y="4048963"/>
            <a:ext cx="131674" cy="131674"/>
          </a:xfrm>
          <a:prstGeom prst="rect">
            <a:avLst/>
          </a:prstGeom>
        </p:spPr>
      </p:pic>
      <p:sp>
        <p:nvSpPr>
          <p:cNvPr id="34" name="Text 25"/>
          <p:cNvSpPr txBox="1"/>
          <p:nvPr/>
        </p:nvSpPr>
        <p:spPr>
          <a:xfrm>
            <a:off x="3772586" y="3877056"/>
            <a:ext cx="2117522" cy="475488"/>
          </a:xfrm>
          <a:prstGeom prst="rect">
            <a:avLst/>
          </a:prstGeom>
          <a:noFill/>
          <a:ln/>
        </p:spPr>
        <p:txBody>
          <a:bodyPr wrap="square" lIns="0" tIns="0" rIns="0" bIns="0" rtlCol="0" anchor="ctr"/>
          <a:lstStyle/>
          <a:p>
            <a:pPr indent="0" marL="0">
              <a:buNone/>
            </a:pPr>
            <a:r>
              <a:rPr lang="en-US" sz="1300" dirty="0">
                <a:solidFill>
                  <a:schemeClr val="tx1"/>
                </a:solidFill>
              </a:rPr>
              <a:t>MRR and rate tracking</a:t>
            </a:r>
            <a:endParaRPr lang="en-US" sz="1300" dirty="0"/>
          </a:p>
        </p:txBody>
      </p:sp>
      <p:sp>
        <p:nvSpPr>
          <p:cNvPr id="35" name="Shape 26"/>
          <p:cNvSpPr/>
          <p:nvPr/>
        </p:nvSpPr>
        <p:spPr>
          <a:xfrm>
            <a:off x="3425114" y="4443984"/>
            <a:ext cx="2464994" cy="0"/>
          </a:xfrm>
          <a:prstGeom prst="line">
            <a:avLst/>
          </a:prstGeom>
          <a:noFill/>
          <a:ln w="9525">
            <a:solidFill>
              <a:schemeClr val="accent4"/>
            </a:solidFill>
            <a:prstDash val="solid"/>
          </a:ln>
        </p:spPr>
      </p:sp>
      <p:sp>
        <p:nvSpPr>
          <p:cNvPr id="36" name="Shape 27"/>
          <p:cNvSpPr/>
          <p:nvPr/>
        </p:nvSpPr>
        <p:spPr>
          <a:xfrm>
            <a:off x="3425114" y="4663440"/>
            <a:ext cx="219456" cy="219456"/>
          </a:xfrm>
          <a:prstGeom prst="ellipse">
            <a:avLst/>
          </a:prstGeom>
          <a:solidFill>
            <a:schemeClr val="accent2"/>
          </a:solidFill>
          <a:ln w="15875">
            <a:solidFill>
              <a:schemeClr val="accent2"/>
            </a:solidFill>
            <a:prstDash val="solid"/>
          </a:ln>
        </p:spPr>
      </p:sp>
      <p:pic>
        <p:nvPicPr>
          <p:cNvPr id="37" name="Image 7" descr="preencoded.png">    </p:cNvPr>
          <p:cNvPicPr>
            <a:picLocks noChangeAspect="1"/>
          </p:cNvPicPr>
          <p:nvPr/>
        </p:nvPicPr>
        <p:blipFill>
          <a:blip r:embed="rId8"/>
          <a:stretch>
            <a:fillRect/>
          </a:stretch>
        </p:blipFill>
        <p:spPr>
          <a:xfrm>
            <a:off x="3469005" y="4707331"/>
            <a:ext cx="131674" cy="131674"/>
          </a:xfrm>
          <a:prstGeom prst="rect">
            <a:avLst/>
          </a:prstGeom>
        </p:spPr>
      </p:pic>
      <p:sp>
        <p:nvSpPr>
          <p:cNvPr id="38" name="Text 28"/>
          <p:cNvSpPr txBox="1"/>
          <p:nvPr/>
        </p:nvSpPr>
        <p:spPr>
          <a:xfrm>
            <a:off x="3772586" y="4535424"/>
            <a:ext cx="2117522" cy="475488"/>
          </a:xfrm>
          <a:prstGeom prst="rect">
            <a:avLst/>
          </a:prstGeom>
          <a:noFill/>
          <a:ln/>
        </p:spPr>
        <p:txBody>
          <a:bodyPr wrap="square" lIns="0" tIns="0" rIns="0" bIns="0" rtlCol="0" anchor="ctr"/>
          <a:lstStyle/>
          <a:p>
            <a:pPr indent="0" marL="0">
              <a:buNone/>
            </a:pPr>
            <a:r>
              <a:rPr lang="en-US" sz="1300" dirty="0">
                <a:solidFill>
                  <a:schemeClr val="tx1"/>
                </a:solidFill>
              </a:rPr>
              <a:t>Bonus calculations</a:t>
            </a:r>
            <a:endParaRPr lang="en-US" sz="1300" dirty="0"/>
          </a:p>
        </p:txBody>
      </p:sp>
      <p:sp>
        <p:nvSpPr>
          <p:cNvPr id="39" name="Shape 29"/>
          <p:cNvSpPr/>
          <p:nvPr/>
        </p:nvSpPr>
        <p:spPr>
          <a:xfrm>
            <a:off x="3425114" y="5102352"/>
            <a:ext cx="2464994" cy="0"/>
          </a:xfrm>
          <a:prstGeom prst="line">
            <a:avLst/>
          </a:prstGeom>
          <a:noFill/>
          <a:ln w="9525">
            <a:solidFill>
              <a:schemeClr val="accent4"/>
            </a:solidFill>
            <a:prstDash val="solid"/>
          </a:ln>
        </p:spPr>
      </p:sp>
      <p:sp>
        <p:nvSpPr>
          <p:cNvPr id="40" name="Text 30"/>
          <p:cNvSpPr txBox="1"/>
          <p:nvPr/>
        </p:nvSpPr>
        <p:spPr>
          <a:xfrm>
            <a:off x="6301588" y="2011680"/>
            <a:ext cx="2464994" cy="365760"/>
          </a:xfrm>
          <a:prstGeom prst="rect">
            <a:avLst/>
          </a:prstGeom>
          <a:noFill/>
          <a:ln/>
        </p:spPr>
        <p:txBody>
          <a:bodyPr wrap="square" lIns="0" tIns="0" rIns="0" bIns="0" rtlCol="0" anchor="ctr"/>
          <a:lstStyle/>
          <a:p>
            <a:pPr indent="0" marL="0">
              <a:buNone/>
            </a:pPr>
            <a:r>
              <a:rPr lang="en-US" sz="1600" b="1" dirty="0">
                <a:solidFill>
                  <a:schemeClr val="tx1"/>
                </a:solidFill>
              </a:rPr>
              <a:t>Data &amp; reporting</a:t>
            </a:r>
            <a:endParaRPr lang="en-US" sz="1600" dirty="0"/>
          </a:p>
        </p:txBody>
      </p:sp>
      <p:sp>
        <p:nvSpPr>
          <p:cNvPr id="41" name="Shape 31"/>
          <p:cNvSpPr/>
          <p:nvPr/>
        </p:nvSpPr>
        <p:spPr>
          <a:xfrm>
            <a:off x="6301588" y="2468880"/>
            <a:ext cx="2464994" cy="0"/>
          </a:xfrm>
          <a:prstGeom prst="line">
            <a:avLst/>
          </a:prstGeom>
          <a:noFill/>
          <a:ln w="15875">
            <a:solidFill>
              <a:schemeClr val="tx1"/>
            </a:solidFill>
            <a:prstDash val="solid"/>
          </a:ln>
        </p:spPr>
      </p:sp>
      <p:sp>
        <p:nvSpPr>
          <p:cNvPr id="42" name="Shape 32"/>
          <p:cNvSpPr/>
          <p:nvPr/>
        </p:nvSpPr>
        <p:spPr>
          <a:xfrm>
            <a:off x="6301588" y="2688336"/>
            <a:ext cx="219456" cy="219456"/>
          </a:xfrm>
          <a:prstGeom prst="ellipse">
            <a:avLst/>
          </a:prstGeom>
          <a:solidFill>
            <a:schemeClr val="accent2"/>
          </a:solidFill>
          <a:ln w="15875">
            <a:solidFill>
              <a:schemeClr val="accent2"/>
            </a:solidFill>
            <a:prstDash val="solid"/>
          </a:ln>
        </p:spPr>
      </p:sp>
      <p:pic>
        <p:nvPicPr>
          <p:cNvPr id="43" name="Image 8" descr="preencoded.png">    </p:cNvPr>
          <p:cNvPicPr>
            <a:picLocks noChangeAspect="1"/>
          </p:cNvPicPr>
          <p:nvPr/>
        </p:nvPicPr>
        <p:blipFill>
          <a:blip r:embed="rId9"/>
          <a:stretch>
            <a:fillRect/>
          </a:stretch>
        </p:blipFill>
        <p:spPr>
          <a:xfrm>
            <a:off x="6345479" y="2732227"/>
            <a:ext cx="131674" cy="131674"/>
          </a:xfrm>
          <a:prstGeom prst="rect">
            <a:avLst/>
          </a:prstGeom>
        </p:spPr>
      </p:pic>
      <p:sp>
        <p:nvSpPr>
          <p:cNvPr id="44" name="Text 33"/>
          <p:cNvSpPr txBox="1"/>
          <p:nvPr/>
        </p:nvSpPr>
        <p:spPr>
          <a:xfrm>
            <a:off x="6649060" y="2560320"/>
            <a:ext cx="2117522" cy="475488"/>
          </a:xfrm>
          <a:prstGeom prst="rect">
            <a:avLst/>
          </a:prstGeom>
          <a:noFill/>
          <a:ln/>
        </p:spPr>
        <p:txBody>
          <a:bodyPr wrap="square" lIns="0" tIns="0" rIns="0" bIns="0" rtlCol="0" anchor="ctr"/>
          <a:lstStyle/>
          <a:p>
            <a:pPr indent="0" marL="0">
              <a:buNone/>
            </a:pPr>
            <a:r>
              <a:rPr lang="en-US" sz="1300" dirty="0">
                <a:solidFill>
                  <a:schemeClr val="tx1"/>
                </a:solidFill>
              </a:rPr>
              <a:t>Spreadsheet building and upkeep</a:t>
            </a:r>
            <a:endParaRPr lang="en-US" sz="1300" dirty="0"/>
          </a:p>
        </p:txBody>
      </p:sp>
      <p:sp>
        <p:nvSpPr>
          <p:cNvPr id="45" name="Shape 34"/>
          <p:cNvSpPr/>
          <p:nvPr/>
        </p:nvSpPr>
        <p:spPr>
          <a:xfrm>
            <a:off x="6301588" y="3127248"/>
            <a:ext cx="2464994" cy="0"/>
          </a:xfrm>
          <a:prstGeom prst="line">
            <a:avLst/>
          </a:prstGeom>
          <a:noFill/>
          <a:ln w="9525">
            <a:solidFill>
              <a:schemeClr val="accent4"/>
            </a:solidFill>
            <a:prstDash val="solid"/>
          </a:ln>
        </p:spPr>
      </p:sp>
      <p:sp>
        <p:nvSpPr>
          <p:cNvPr id="46" name="Shape 35"/>
          <p:cNvSpPr/>
          <p:nvPr/>
        </p:nvSpPr>
        <p:spPr>
          <a:xfrm>
            <a:off x="6301588" y="3346704"/>
            <a:ext cx="219456" cy="219456"/>
          </a:xfrm>
          <a:prstGeom prst="ellipse">
            <a:avLst/>
          </a:prstGeom>
          <a:solidFill>
            <a:schemeClr val="accent2"/>
          </a:solidFill>
          <a:ln w="15875">
            <a:solidFill>
              <a:schemeClr val="accent2"/>
            </a:solidFill>
            <a:prstDash val="solid"/>
          </a:ln>
        </p:spPr>
      </p:sp>
      <p:pic>
        <p:nvPicPr>
          <p:cNvPr id="47" name="Image 9" descr="preencoded.png">    </p:cNvPr>
          <p:cNvPicPr>
            <a:picLocks noChangeAspect="1"/>
          </p:cNvPicPr>
          <p:nvPr/>
        </p:nvPicPr>
        <p:blipFill>
          <a:blip r:embed="rId10"/>
          <a:stretch>
            <a:fillRect/>
          </a:stretch>
        </p:blipFill>
        <p:spPr>
          <a:xfrm>
            <a:off x="6345479" y="3390595"/>
            <a:ext cx="131674" cy="131674"/>
          </a:xfrm>
          <a:prstGeom prst="rect">
            <a:avLst/>
          </a:prstGeom>
        </p:spPr>
      </p:pic>
      <p:sp>
        <p:nvSpPr>
          <p:cNvPr id="48" name="Text 36"/>
          <p:cNvSpPr txBox="1"/>
          <p:nvPr/>
        </p:nvSpPr>
        <p:spPr>
          <a:xfrm>
            <a:off x="6649060" y="3218688"/>
            <a:ext cx="2117522" cy="475488"/>
          </a:xfrm>
          <a:prstGeom prst="rect">
            <a:avLst/>
          </a:prstGeom>
          <a:noFill/>
          <a:ln/>
        </p:spPr>
        <p:txBody>
          <a:bodyPr wrap="square" lIns="0" tIns="0" rIns="0" bIns="0" rtlCol="0" anchor="ctr"/>
          <a:lstStyle/>
          <a:p>
            <a:pPr indent="0" marL="0">
              <a:buNone/>
            </a:pPr>
            <a:r>
              <a:rPr lang="en-US" sz="1300" dirty="0">
                <a:solidFill>
                  <a:schemeClr val="tx1"/>
                </a:solidFill>
              </a:rPr>
              <a:t>Data validation and cleanup</a:t>
            </a:r>
            <a:endParaRPr lang="en-US" sz="1300" dirty="0"/>
          </a:p>
        </p:txBody>
      </p:sp>
      <p:sp>
        <p:nvSpPr>
          <p:cNvPr id="49" name="Shape 37"/>
          <p:cNvSpPr/>
          <p:nvPr/>
        </p:nvSpPr>
        <p:spPr>
          <a:xfrm>
            <a:off x="6301588" y="3785616"/>
            <a:ext cx="2464994" cy="0"/>
          </a:xfrm>
          <a:prstGeom prst="line">
            <a:avLst/>
          </a:prstGeom>
          <a:noFill/>
          <a:ln w="9525">
            <a:solidFill>
              <a:schemeClr val="accent4"/>
            </a:solidFill>
            <a:prstDash val="solid"/>
          </a:ln>
        </p:spPr>
      </p:sp>
      <p:sp>
        <p:nvSpPr>
          <p:cNvPr id="50" name="Shape 38"/>
          <p:cNvSpPr/>
          <p:nvPr/>
        </p:nvSpPr>
        <p:spPr>
          <a:xfrm>
            <a:off x="6301588" y="4005072"/>
            <a:ext cx="219456" cy="219456"/>
          </a:xfrm>
          <a:prstGeom prst="ellipse">
            <a:avLst/>
          </a:prstGeom>
          <a:solidFill>
            <a:schemeClr val="accent2"/>
          </a:solidFill>
          <a:ln w="15875">
            <a:solidFill>
              <a:schemeClr val="accent2"/>
            </a:solidFill>
            <a:prstDash val="solid"/>
          </a:ln>
        </p:spPr>
      </p:sp>
      <p:pic>
        <p:nvPicPr>
          <p:cNvPr id="51" name="Image 10" descr="preencoded.png">    </p:cNvPr>
          <p:cNvPicPr>
            <a:picLocks noChangeAspect="1"/>
          </p:cNvPicPr>
          <p:nvPr/>
        </p:nvPicPr>
        <p:blipFill>
          <a:blip r:embed="rId11"/>
          <a:stretch>
            <a:fillRect/>
          </a:stretch>
        </p:blipFill>
        <p:spPr>
          <a:xfrm>
            <a:off x="6345479" y="4048963"/>
            <a:ext cx="131674" cy="131674"/>
          </a:xfrm>
          <a:prstGeom prst="rect">
            <a:avLst/>
          </a:prstGeom>
        </p:spPr>
      </p:pic>
      <p:sp>
        <p:nvSpPr>
          <p:cNvPr id="52" name="Text 39"/>
          <p:cNvSpPr txBox="1"/>
          <p:nvPr/>
        </p:nvSpPr>
        <p:spPr>
          <a:xfrm>
            <a:off x="6649060" y="3877056"/>
            <a:ext cx="2117522" cy="475488"/>
          </a:xfrm>
          <a:prstGeom prst="rect">
            <a:avLst/>
          </a:prstGeom>
          <a:noFill/>
          <a:ln/>
        </p:spPr>
        <p:txBody>
          <a:bodyPr wrap="square" lIns="0" tIns="0" rIns="0" bIns="0" rtlCol="0" anchor="ctr"/>
          <a:lstStyle/>
          <a:p>
            <a:pPr indent="0" marL="0">
              <a:buNone/>
            </a:pPr>
            <a:r>
              <a:rPr lang="en-US" sz="1300" dirty="0">
                <a:solidFill>
                  <a:schemeClr val="tx1"/>
                </a:solidFill>
              </a:rPr>
              <a:t>Monthly audits</a:t>
            </a:r>
            <a:endParaRPr lang="en-US" sz="1300" dirty="0"/>
          </a:p>
        </p:txBody>
      </p:sp>
      <p:sp>
        <p:nvSpPr>
          <p:cNvPr id="53" name="Shape 40"/>
          <p:cNvSpPr/>
          <p:nvPr/>
        </p:nvSpPr>
        <p:spPr>
          <a:xfrm>
            <a:off x="6301588" y="4443984"/>
            <a:ext cx="2464994" cy="0"/>
          </a:xfrm>
          <a:prstGeom prst="line">
            <a:avLst/>
          </a:prstGeom>
          <a:noFill/>
          <a:ln w="9525">
            <a:solidFill>
              <a:schemeClr val="accent4"/>
            </a:solidFill>
            <a:prstDash val="solid"/>
          </a:ln>
        </p:spPr>
      </p:sp>
      <p:sp>
        <p:nvSpPr>
          <p:cNvPr id="54" name="Shape 41"/>
          <p:cNvSpPr/>
          <p:nvPr/>
        </p:nvSpPr>
        <p:spPr>
          <a:xfrm>
            <a:off x="6301588" y="4663440"/>
            <a:ext cx="219456" cy="219456"/>
          </a:xfrm>
          <a:prstGeom prst="ellipse">
            <a:avLst/>
          </a:prstGeom>
          <a:solidFill>
            <a:schemeClr val="accent2"/>
          </a:solidFill>
          <a:ln w="15875">
            <a:solidFill>
              <a:schemeClr val="accent2"/>
            </a:solidFill>
            <a:prstDash val="solid"/>
          </a:ln>
        </p:spPr>
      </p:sp>
      <p:pic>
        <p:nvPicPr>
          <p:cNvPr id="55" name="Image 11" descr="preencoded.png">    </p:cNvPr>
          <p:cNvPicPr>
            <a:picLocks noChangeAspect="1"/>
          </p:cNvPicPr>
          <p:nvPr/>
        </p:nvPicPr>
        <p:blipFill>
          <a:blip r:embed="rId12"/>
          <a:stretch>
            <a:fillRect/>
          </a:stretch>
        </p:blipFill>
        <p:spPr>
          <a:xfrm>
            <a:off x="6345479" y="4707331"/>
            <a:ext cx="131674" cy="131674"/>
          </a:xfrm>
          <a:prstGeom prst="rect">
            <a:avLst/>
          </a:prstGeom>
        </p:spPr>
      </p:pic>
      <p:sp>
        <p:nvSpPr>
          <p:cNvPr id="56" name="Text 42"/>
          <p:cNvSpPr txBox="1"/>
          <p:nvPr/>
        </p:nvSpPr>
        <p:spPr>
          <a:xfrm>
            <a:off x="6649060" y="4535424"/>
            <a:ext cx="2117522" cy="475488"/>
          </a:xfrm>
          <a:prstGeom prst="rect">
            <a:avLst/>
          </a:prstGeom>
          <a:noFill/>
          <a:ln/>
        </p:spPr>
        <p:txBody>
          <a:bodyPr wrap="square" lIns="0" tIns="0" rIns="0" bIns="0" rtlCol="0" anchor="ctr"/>
          <a:lstStyle/>
          <a:p>
            <a:pPr indent="0" marL="0">
              <a:buNone/>
            </a:pPr>
            <a:r>
              <a:rPr lang="en-US" sz="1300" dirty="0">
                <a:solidFill>
                  <a:schemeClr val="tx1"/>
                </a:solidFill>
              </a:rPr>
              <a:t>Billing and account reports</a:t>
            </a:r>
            <a:endParaRPr lang="en-US" sz="1300" dirty="0"/>
          </a:p>
        </p:txBody>
      </p:sp>
      <p:sp>
        <p:nvSpPr>
          <p:cNvPr id="57" name="Shape 43"/>
          <p:cNvSpPr/>
          <p:nvPr/>
        </p:nvSpPr>
        <p:spPr>
          <a:xfrm>
            <a:off x="6301588" y="5102352"/>
            <a:ext cx="2464994" cy="0"/>
          </a:xfrm>
          <a:prstGeom prst="line">
            <a:avLst/>
          </a:prstGeom>
          <a:noFill/>
          <a:ln w="9525">
            <a:solidFill>
              <a:schemeClr val="accent4"/>
            </a:solidFill>
            <a:prstDash val="solid"/>
          </a:ln>
        </p:spPr>
      </p:sp>
      <p:sp>
        <p:nvSpPr>
          <p:cNvPr id="58" name="Text 44"/>
          <p:cNvSpPr txBox="1"/>
          <p:nvPr/>
        </p:nvSpPr>
        <p:spPr>
          <a:xfrm>
            <a:off x="9178061" y="2011680"/>
            <a:ext cx="2464994" cy="365760"/>
          </a:xfrm>
          <a:prstGeom prst="rect">
            <a:avLst/>
          </a:prstGeom>
          <a:noFill/>
          <a:ln/>
        </p:spPr>
        <p:txBody>
          <a:bodyPr wrap="square" lIns="0" tIns="0" rIns="0" bIns="0" rtlCol="0" anchor="ctr"/>
          <a:lstStyle/>
          <a:p>
            <a:pPr indent="0" marL="0">
              <a:buNone/>
            </a:pPr>
            <a:r>
              <a:rPr lang="en-US" sz="1600" b="1" dirty="0">
                <a:solidFill>
                  <a:schemeClr val="tx1"/>
                </a:solidFill>
              </a:rPr>
              <a:t>Working style</a:t>
            </a:r>
            <a:endParaRPr lang="en-US" sz="1600" dirty="0"/>
          </a:p>
        </p:txBody>
      </p:sp>
      <p:sp>
        <p:nvSpPr>
          <p:cNvPr id="59" name="Shape 45"/>
          <p:cNvSpPr/>
          <p:nvPr/>
        </p:nvSpPr>
        <p:spPr>
          <a:xfrm>
            <a:off x="9178061" y="2468880"/>
            <a:ext cx="2464994" cy="0"/>
          </a:xfrm>
          <a:prstGeom prst="line">
            <a:avLst/>
          </a:prstGeom>
          <a:noFill/>
          <a:ln w="15875">
            <a:solidFill>
              <a:schemeClr val="tx1"/>
            </a:solidFill>
            <a:prstDash val="solid"/>
          </a:ln>
        </p:spPr>
      </p:sp>
      <p:sp>
        <p:nvSpPr>
          <p:cNvPr id="60" name="Shape 46"/>
          <p:cNvSpPr/>
          <p:nvPr/>
        </p:nvSpPr>
        <p:spPr>
          <a:xfrm>
            <a:off x="9178061" y="2688336"/>
            <a:ext cx="219456" cy="219456"/>
          </a:xfrm>
          <a:prstGeom prst="ellipse">
            <a:avLst/>
          </a:prstGeom>
          <a:solidFill>
            <a:schemeClr val="accent2"/>
          </a:solidFill>
          <a:ln w="15875">
            <a:solidFill>
              <a:schemeClr val="accent2"/>
            </a:solidFill>
            <a:prstDash val="solid"/>
          </a:ln>
        </p:spPr>
      </p:sp>
      <p:pic>
        <p:nvPicPr>
          <p:cNvPr id="61" name="Image 12" descr="preencoded.png">    </p:cNvPr>
          <p:cNvPicPr>
            <a:picLocks noChangeAspect="1"/>
          </p:cNvPicPr>
          <p:nvPr/>
        </p:nvPicPr>
        <p:blipFill>
          <a:blip r:embed="rId13"/>
          <a:stretch>
            <a:fillRect/>
          </a:stretch>
        </p:blipFill>
        <p:spPr>
          <a:xfrm>
            <a:off x="9221953" y="2732227"/>
            <a:ext cx="131674" cy="131674"/>
          </a:xfrm>
          <a:prstGeom prst="rect">
            <a:avLst/>
          </a:prstGeom>
        </p:spPr>
      </p:pic>
      <p:sp>
        <p:nvSpPr>
          <p:cNvPr id="62" name="Text 47"/>
          <p:cNvSpPr txBox="1"/>
          <p:nvPr/>
        </p:nvSpPr>
        <p:spPr>
          <a:xfrm>
            <a:off x="9525533" y="2560320"/>
            <a:ext cx="2117522" cy="475488"/>
          </a:xfrm>
          <a:prstGeom prst="rect">
            <a:avLst/>
          </a:prstGeom>
          <a:noFill/>
          <a:ln/>
        </p:spPr>
        <p:txBody>
          <a:bodyPr wrap="square" lIns="0" tIns="0" rIns="0" bIns="0" rtlCol="0" anchor="ctr"/>
          <a:lstStyle/>
          <a:p>
            <a:pPr indent="0" marL="0">
              <a:buNone/>
            </a:pPr>
            <a:r>
              <a:rPr lang="en-US" sz="1300" dirty="0">
                <a:solidFill>
                  <a:schemeClr val="tx1"/>
                </a:solidFill>
              </a:rPr>
              <a:t>Attention to detail</a:t>
            </a:r>
            <a:endParaRPr lang="en-US" sz="1300" dirty="0"/>
          </a:p>
        </p:txBody>
      </p:sp>
      <p:sp>
        <p:nvSpPr>
          <p:cNvPr id="63" name="Shape 48"/>
          <p:cNvSpPr/>
          <p:nvPr/>
        </p:nvSpPr>
        <p:spPr>
          <a:xfrm>
            <a:off x="9178061" y="3127248"/>
            <a:ext cx="2464994" cy="0"/>
          </a:xfrm>
          <a:prstGeom prst="line">
            <a:avLst/>
          </a:prstGeom>
          <a:noFill/>
          <a:ln w="9525">
            <a:solidFill>
              <a:schemeClr val="accent4"/>
            </a:solidFill>
            <a:prstDash val="solid"/>
          </a:ln>
        </p:spPr>
      </p:sp>
      <p:sp>
        <p:nvSpPr>
          <p:cNvPr id="64" name="Shape 49"/>
          <p:cNvSpPr/>
          <p:nvPr/>
        </p:nvSpPr>
        <p:spPr>
          <a:xfrm>
            <a:off x="9178061" y="3346704"/>
            <a:ext cx="219456" cy="219456"/>
          </a:xfrm>
          <a:prstGeom prst="ellipse">
            <a:avLst/>
          </a:prstGeom>
          <a:solidFill>
            <a:schemeClr val="accent2"/>
          </a:solidFill>
          <a:ln w="15875">
            <a:solidFill>
              <a:schemeClr val="accent2"/>
            </a:solidFill>
            <a:prstDash val="solid"/>
          </a:ln>
        </p:spPr>
      </p:sp>
      <p:pic>
        <p:nvPicPr>
          <p:cNvPr id="65" name="Image 13" descr="preencoded.png">    </p:cNvPr>
          <p:cNvPicPr>
            <a:picLocks noChangeAspect="1"/>
          </p:cNvPicPr>
          <p:nvPr/>
        </p:nvPicPr>
        <p:blipFill>
          <a:blip r:embed="rId14"/>
          <a:stretch>
            <a:fillRect/>
          </a:stretch>
        </p:blipFill>
        <p:spPr>
          <a:xfrm>
            <a:off x="9221953" y="3390595"/>
            <a:ext cx="131674" cy="131674"/>
          </a:xfrm>
          <a:prstGeom prst="rect">
            <a:avLst/>
          </a:prstGeom>
        </p:spPr>
      </p:pic>
      <p:sp>
        <p:nvSpPr>
          <p:cNvPr id="66" name="Text 50"/>
          <p:cNvSpPr txBox="1"/>
          <p:nvPr/>
        </p:nvSpPr>
        <p:spPr>
          <a:xfrm>
            <a:off x="9525533" y="3218688"/>
            <a:ext cx="2117522" cy="475488"/>
          </a:xfrm>
          <a:prstGeom prst="rect">
            <a:avLst/>
          </a:prstGeom>
          <a:noFill/>
          <a:ln/>
        </p:spPr>
        <p:txBody>
          <a:bodyPr wrap="square" lIns="0" tIns="0" rIns="0" bIns="0" rtlCol="0" anchor="ctr"/>
          <a:lstStyle/>
          <a:p>
            <a:pPr indent="0" marL="0">
              <a:buNone/>
            </a:pPr>
            <a:r>
              <a:rPr lang="en-US" sz="1300" dirty="0">
                <a:solidFill>
                  <a:schemeClr val="tx1"/>
                </a:solidFill>
              </a:rPr>
              <a:t>Clear written communication</a:t>
            </a:r>
            <a:endParaRPr lang="en-US" sz="1300" dirty="0"/>
          </a:p>
        </p:txBody>
      </p:sp>
      <p:sp>
        <p:nvSpPr>
          <p:cNvPr id="67" name="Shape 51"/>
          <p:cNvSpPr/>
          <p:nvPr/>
        </p:nvSpPr>
        <p:spPr>
          <a:xfrm>
            <a:off x="9178061" y="3785616"/>
            <a:ext cx="2464994" cy="0"/>
          </a:xfrm>
          <a:prstGeom prst="line">
            <a:avLst/>
          </a:prstGeom>
          <a:noFill/>
          <a:ln w="9525">
            <a:solidFill>
              <a:schemeClr val="accent4"/>
            </a:solidFill>
            <a:prstDash val="solid"/>
          </a:ln>
        </p:spPr>
      </p:sp>
      <p:sp>
        <p:nvSpPr>
          <p:cNvPr id="68" name="Shape 52"/>
          <p:cNvSpPr/>
          <p:nvPr/>
        </p:nvSpPr>
        <p:spPr>
          <a:xfrm>
            <a:off x="9178061" y="4005072"/>
            <a:ext cx="219456" cy="219456"/>
          </a:xfrm>
          <a:prstGeom prst="ellipse">
            <a:avLst/>
          </a:prstGeom>
          <a:solidFill>
            <a:schemeClr val="accent2"/>
          </a:solidFill>
          <a:ln w="15875">
            <a:solidFill>
              <a:schemeClr val="accent2"/>
            </a:solidFill>
            <a:prstDash val="solid"/>
          </a:ln>
        </p:spPr>
      </p:sp>
      <p:pic>
        <p:nvPicPr>
          <p:cNvPr id="69" name="Image 14" descr="preencoded.png">    </p:cNvPr>
          <p:cNvPicPr>
            <a:picLocks noChangeAspect="1"/>
          </p:cNvPicPr>
          <p:nvPr/>
        </p:nvPicPr>
        <p:blipFill>
          <a:blip r:embed="rId15"/>
          <a:stretch>
            <a:fillRect/>
          </a:stretch>
        </p:blipFill>
        <p:spPr>
          <a:xfrm>
            <a:off x="9221953" y="4048963"/>
            <a:ext cx="131674" cy="131674"/>
          </a:xfrm>
          <a:prstGeom prst="rect">
            <a:avLst/>
          </a:prstGeom>
        </p:spPr>
      </p:pic>
      <p:sp>
        <p:nvSpPr>
          <p:cNvPr id="70" name="Text 53"/>
          <p:cNvSpPr txBox="1"/>
          <p:nvPr/>
        </p:nvSpPr>
        <p:spPr>
          <a:xfrm>
            <a:off x="9525533" y="3877056"/>
            <a:ext cx="2117522" cy="475488"/>
          </a:xfrm>
          <a:prstGeom prst="rect">
            <a:avLst/>
          </a:prstGeom>
          <a:noFill/>
          <a:ln/>
        </p:spPr>
        <p:txBody>
          <a:bodyPr wrap="square" lIns="0" tIns="0" rIns="0" bIns="0" rtlCol="0" anchor="ctr"/>
          <a:lstStyle/>
          <a:p>
            <a:pPr indent="0" marL="0">
              <a:buNone/>
            </a:pPr>
            <a:r>
              <a:rPr lang="en-US" sz="1300" dirty="0">
                <a:solidFill>
                  <a:schemeClr val="tx1"/>
                </a:solidFill>
              </a:rPr>
              <a:t>Consistent follow-up</a:t>
            </a:r>
            <a:endParaRPr lang="en-US" sz="1300" dirty="0"/>
          </a:p>
        </p:txBody>
      </p:sp>
      <p:sp>
        <p:nvSpPr>
          <p:cNvPr id="71" name="Shape 54"/>
          <p:cNvSpPr/>
          <p:nvPr/>
        </p:nvSpPr>
        <p:spPr>
          <a:xfrm>
            <a:off x="9178061" y="4443984"/>
            <a:ext cx="2464994" cy="0"/>
          </a:xfrm>
          <a:prstGeom prst="line">
            <a:avLst/>
          </a:prstGeom>
          <a:noFill/>
          <a:ln w="9525">
            <a:solidFill>
              <a:schemeClr val="accent4"/>
            </a:solidFill>
            <a:prstDash val="solid"/>
          </a:ln>
        </p:spPr>
      </p:sp>
      <p:sp>
        <p:nvSpPr>
          <p:cNvPr id="72" name="Shape 55"/>
          <p:cNvSpPr/>
          <p:nvPr/>
        </p:nvSpPr>
        <p:spPr>
          <a:xfrm>
            <a:off x="9178061" y="4663440"/>
            <a:ext cx="219456" cy="219456"/>
          </a:xfrm>
          <a:prstGeom prst="ellipse">
            <a:avLst/>
          </a:prstGeom>
          <a:solidFill>
            <a:schemeClr val="accent2"/>
          </a:solidFill>
          <a:ln w="15875">
            <a:solidFill>
              <a:schemeClr val="accent2"/>
            </a:solidFill>
            <a:prstDash val="solid"/>
          </a:ln>
        </p:spPr>
      </p:sp>
      <p:pic>
        <p:nvPicPr>
          <p:cNvPr id="73" name="Image 15" descr="preencoded.png">    </p:cNvPr>
          <p:cNvPicPr>
            <a:picLocks noChangeAspect="1"/>
          </p:cNvPicPr>
          <p:nvPr/>
        </p:nvPicPr>
        <p:blipFill>
          <a:blip r:embed="rId16"/>
          <a:stretch>
            <a:fillRect/>
          </a:stretch>
        </p:blipFill>
        <p:spPr>
          <a:xfrm>
            <a:off x="9221953" y="4707331"/>
            <a:ext cx="131674" cy="131674"/>
          </a:xfrm>
          <a:prstGeom prst="rect">
            <a:avLst/>
          </a:prstGeom>
        </p:spPr>
      </p:pic>
      <p:sp>
        <p:nvSpPr>
          <p:cNvPr id="74" name="Text 56"/>
          <p:cNvSpPr txBox="1"/>
          <p:nvPr/>
        </p:nvSpPr>
        <p:spPr>
          <a:xfrm>
            <a:off x="9525533" y="4535424"/>
            <a:ext cx="2117522" cy="475488"/>
          </a:xfrm>
          <a:prstGeom prst="rect">
            <a:avLst/>
          </a:prstGeom>
          <a:noFill/>
          <a:ln/>
        </p:spPr>
        <p:txBody>
          <a:bodyPr wrap="square" lIns="0" tIns="0" rIns="0" bIns="0" rtlCol="0" anchor="ctr"/>
          <a:lstStyle/>
          <a:p>
            <a:pPr indent="0" marL="0">
              <a:buNone/>
            </a:pPr>
            <a:r>
              <a:rPr lang="en-US" sz="1300" dirty="0">
                <a:solidFill>
                  <a:schemeClr val="tx1"/>
                </a:solidFill>
              </a:rPr>
              <a:t>Remote, self-managed work</a:t>
            </a:r>
            <a:endParaRPr lang="en-US" sz="1300" dirty="0"/>
          </a:p>
        </p:txBody>
      </p:sp>
      <p:sp>
        <p:nvSpPr>
          <p:cNvPr id="75" name="Shape 57"/>
          <p:cNvSpPr/>
          <p:nvPr/>
        </p:nvSpPr>
        <p:spPr>
          <a:xfrm>
            <a:off x="9178061" y="5102352"/>
            <a:ext cx="2464994" cy="0"/>
          </a:xfrm>
          <a:prstGeom prst="line">
            <a:avLst/>
          </a:prstGeom>
          <a:noFill/>
          <a:ln w="9525">
            <a:solidFill>
              <a:schemeClr val="accent4"/>
            </a:solidFill>
            <a:prstDash val="solid"/>
          </a:ln>
        </p:spPr>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7315200" cy="274320"/>
          </a:xfrm>
          <a:prstGeom prst="rect">
            <a:avLst/>
          </a:prstGeom>
          <a:noFill/>
          <a:ln/>
        </p:spPr>
        <p:txBody>
          <a:bodyPr wrap="square" lIns="0" tIns="0" rIns="0" bIns="0" rtlCol="0"/>
          <a:lstStyle/>
          <a:p>
            <a:pPr indent="0" marL="0">
              <a:buNone/>
            </a:pPr>
            <a:r>
              <a:rPr lang="en-US" sz="1100" b="1" spc="300" kern="0" dirty="0">
                <a:solidFill>
                  <a:schemeClr val="tx2"/>
                </a:solidFill>
                <a:latin typeface="Calibri" pitchFamily="34" charset="0"/>
                <a:ea typeface="Calibri" pitchFamily="34" charset="-122"/>
                <a:cs typeface="Calibri" pitchFamily="34" charset="-120"/>
              </a:rPr>
              <a:t>TOOLS &amp; PLATFORMS</a:t>
            </a:r>
            <a:endParaRPr lang="en-US" sz="1100" dirty="0"/>
          </a:p>
        </p:txBody>
      </p:sp>
      <p:sp>
        <p:nvSpPr>
          <p:cNvPr id="3" name="Text 0"/>
          <p:cNvSpPr/>
          <p:nvPr>
            <p:ph idx="101" type="title" hasCustomPrompt="1"/>
          </p:nvPr>
        </p:nvSpPr>
        <p:spPr>
          <a:xfrm>
            <a:off x="548640" y="731520"/>
            <a:ext cx="10972800" cy="77724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Hands-on with the tools finance teams use.</a:t>
            </a:r>
            <a:endParaRPr lang="en-US" sz="3400" dirty="0"/>
          </a:p>
        </p:txBody>
      </p:sp>
      <p:sp>
        <p:nvSpPr>
          <p:cNvPr id="4" name="QuickBooks Online tile"/>
          <p:cNvSpPr/>
          <p:nvPr/>
        </p:nvSpPr>
        <p:spPr>
          <a:xfrm>
            <a:off x="548640" y="1874520"/>
            <a:ext cx="2602154" cy="1874520"/>
          </a:xfrm>
          <a:prstGeom prst="roundRect">
            <a:avLst>
              <a:gd name="adj" fmla="val 3902"/>
            </a:avLst>
          </a:prstGeom>
          <a:solidFill>
            <a:schemeClr val="bg1"/>
          </a:solidFill>
          <a:ln w="9525">
            <a:solidFill>
              <a:schemeClr val="accent4"/>
            </a:solidFill>
            <a:prstDash val="solid"/>
          </a:ln>
        </p:spPr>
      </p:sp>
      <p:sp>
        <p:nvSpPr>
          <p:cNvPr id="5" name="Text 3"/>
          <p:cNvSpPr txBox="1"/>
          <p:nvPr/>
        </p:nvSpPr>
        <p:spPr>
          <a:xfrm>
            <a:off x="822960" y="2148840"/>
            <a:ext cx="2053514" cy="274320"/>
          </a:xfrm>
          <a:prstGeom prst="rect">
            <a:avLst/>
          </a:prstGeom>
          <a:noFill/>
          <a:ln/>
        </p:spPr>
        <p:txBody>
          <a:bodyPr wrap="square" lIns="0" tIns="0" rIns="0" bIns="0" rtlCol="0" anchor="ctr"/>
          <a:lstStyle/>
          <a:p>
            <a:pPr indent="0" marL="0">
              <a:buNone/>
            </a:pPr>
            <a:r>
              <a:rPr lang="en-US" sz="950" b="1" spc="200" kern="0" dirty="0">
                <a:solidFill>
                  <a:schemeClr val="tx2"/>
                </a:solidFill>
              </a:rPr>
              <a:t>ACCOUNTING</a:t>
            </a:r>
            <a:endParaRPr lang="en-US" sz="950" dirty="0"/>
          </a:p>
        </p:txBody>
      </p:sp>
      <p:sp>
        <p:nvSpPr>
          <p:cNvPr id="6" name="Text 4"/>
          <p:cNvSpPr txBox="1"/>
          <p:nvPr/>
        </p:nvSpPr>
        <p:spPr>
          <a:xfrm>
            <a:off x="822960" y="2514600"/>
            <a:ext cx="2053514" cy="457200"/>
          </a:xfrm>
          <a:prstGeom prst="rect">
            <a:avLst/>
          </a:prstGeom>
          <a:noFill/>
          <a:ln/>
        </p:spPr>
        <p:txBody>
          <a:bodyPr wrap="square" lIns="0" tIns="0" rIns="0" bIns="0" rtlCol="0" anchor="ctr"/>
          <a:lstStyle/>
          <a:p>
            <a:pPr indent="0" marL="0">
              <a:buNone/>
            </a:pPr>
            <a:r>
              <a:rPr lang="en-US" sz="2000" dirty="0">
                <a:solidFill>
                  <a:schemeClr val="tx1"/>
                </a:solidFill>
                <a:latin typeface="Cambria" pitchFamily="34" charset="0"/>
                <a:ea typeface="Cambria" pitchFamily="34" charset="-122"/>
                <a:cs typeface="Cambria" pitchFamily="34" charset="-120"/>
              </a:rPr>
              <a:t>QuickBooks Online</a:t>
            </a:r>
            <a:endParaRPr lang="en-US" sz="2000" dirty="0"/>
          </a:p>
        </p:txBody>
      </p:sp>
      <p:sp>
        <p:nvSpPr>
          <p:cNvPr id="7" name="Text 5"/>
          <p:cNvSpPr txBox="1"/>
          <p:nvPr/>
        </p:nvSpPr>
        <p:spPr>
          <a:xfrm>
            <a:off x="822960" y="3063240"/>
            <a:ext cx="2053514" cy="457200"/>
          </a:xfrm>
          <a:prstGeom prst="rect">
            <a:avLst/>
          </a:prstGeom>
          <a:noFill/>
          <a:ln/>
        </p:spPr>
        <p:txBody>
          <a:bodyPr wrap="square" lIns="0" tIns="0" rIns="0" bIns="0" rtlCol="0" anchor="t"/>
          <a:lstStyle/>
          <a:p>
            <a:pPr indent="0" marL="0">
              <a:buNone/>
            </a:pPr>
            <a:r>
              <a:rPr lang="en-US" sz="1200" dirty="0">
                <a:solidFill>
                  <a:schemeClr val="accent3"/>
                </a:solidFill>
              </a:rPr>
              <a:t>Invoices, payments, and records</a:t>
            </a:r>
            <a:endParaRPr lang="en-US" sz="1200" dirty="0"/>
          </a:p>
        </p:txBody>
      </p:sp>
      <p:sp>
        <p:nvSpPr>
          <p:cNvPr id="8" name="Stripe tile"/>
          <p:cNvSpPr/>
          <p:nvPr/>
        </p:nvSpPr>
        <p:spPr>
          <a:xfrm>
            <a:off x="3379394" y="1874520"/>
            <a:ext cx="2602154" cy="1874520"/>
          </a:xfrm>
          <a:prstGeom prst="roundRect">
            <a:avLst>
              <a:gd name="adj" fmla="val 3902"/>
            </a:avLst>
          </a:prstGeom>
          <a:solidFill>
            <a:schemeClr val="bg1"/>
          </a:solidFill>
          <a:ln w="9525">
            <a:solidFill>
              <a:schemeClr val="accent4"/>
            </a:solidFill>
            <a:prstDash val="solid"/>
          </a:ln>
        </p:spPr>
      </p:sp>
      <p:sp>
        <p:nvSpPr>
          <p:cNvPr id="9" name="Text 7"/>
          <p:cNvSpPr txBox="1"/>
          <p:nvPr/>
        </p:nvSpPr>
        <p:spPr>
          <a:xfrm>
            <a:off x="3653714" y="2148840"/>
            <a:ext cx="2053514" cy="274320"/>
          </a:xfrm>
          <a:prstGeom prst="rect">
            <a:avLst/>
          </a:prstGeom>
          <a:noFill/>
          <a:ln/>
        </p:spPr>
        <p:txBody>
          <a:bodyPr wrap="square" lIns="0" tIns="0" rIns="0" bIns="0" rtlCol="0" anchor="ctr"/>
          <a:lstStyle/>
          <a:p>
            <a:pPr indent="0" marL="0">
              <a:buNone/>
            </a:pPr>
            <a:r>
              <a:rPr lang="en-US" sz="950" b="1" spc="200" kern="0" dirty="0">
                <a:solidFill>
                  <a:schemeClr val="tx2"/>
                </a:solidFill>
              </a:rPr>
              <a:t>PAYMENTS</a:t>
            </a:r>
            <a:endParaRPr lang="en-US" sz="950" dirty="0"/>
          </a:p>
        </p:txBody>
      </p:sp>
      <p:sp>
        <p:nvSpPr>
          <p:cNvPr id="10" name="Text 8"/>
          <p:cNvSpPr txBox="1"/>
          <p:nvPr/>
        </p:nvSpPr>
        <p:spPr>
          <a:xfrm>
            <a:off x="3653714" y="2514600"/>
            <a:ext cx="2053514" cy="457200"/>
          </a:xfrm>
          <a:prstGeom prst="rect">
            <a:avLst/>
          </a:prstGeom>
          <a:noFill/>
          <a:ln/>
        </p:spPr>
        <p:txBody>
          <a:bodyPr wrap="square" lIns="0" tIns="0" rIns="0" bIns="0" rtlCol="0" anchor="ctr"/>
          <a:lstStyle/>
          <a:p>
            <a:pPr indent="0" marL="0">
              <a:buNone/>
            </a:pPr>
            <a:r>
              <a:rPr lang="en-US" sz="2000" dirty="0">
                <a:solidFill>
                  <a:schemeClr val="tx1"/>
                </a:solidFill>
                <a:latin typeface="Cambria" pitchFamily="34" charset="0"/>
                <a:ea typeface="Cambria" pitchFamily="34" charset="-122"/>
                <a:cs typeface="Cambria" pitchFamily="34" charset="-120"/>
              </a:rPr>
              <a:t>Stripe</a:t>
            </a:r>
            <a:endParaRPr lang="en-US" sz="2000" dirty="0"/>
          </a:p>
        </p:txBody>
      </p:sp>
      <p:sp>
        <p:nvSpPr>
          <p:cNvPr id="11" name="Text 9"/>
          <p:cNvSpPr txBox="1"/>
          <p:nvPr/>
        </p:nvSpPr>
        <p:spPr>
          <a:xfrm>
            <a:off x="3653714" y="3063240"/>
            <a:ext cx="2053514" cy="457200"/>
          </a:xfrm>
          <a:prstGeom prst="rect">
            <a:avLst/>
          </a:prstGeom>
          <a:noFill/>
          <a:ln/>
        </p:spPr>
        <p:txBody>
          <a:bodyPr wrap="square" lIns="0" tIns="0" rIns="0" bIns="0" rtlCol="0" anchor="t"/>
          <a:lstStyle/>
          <a:p>
            <a:pPr indent="0" marL="0">
              <a:buNone/>
            </a:pPr>
            <a:r>
              <a:rPr lang="en-US" sz="1200" dirty="0">
                <a:solidFill>
                  <a:schemeClr val="accent3"/>
                </a:solidFill>
              </a:rPr>
              <a:t>Subscriptions, charges, refunds</a:t>
            </a:r>
            <a:endParaRPr lang="en-US" sz="1200" dirty="0"/>
          </a:p>
        </p:txBody>
      </p:sp>
      <p:sp>
        <p:nvSpPr>
          <p:cNvPr id="12" name="Salesforce tile"/>
          <p:cNvSpPr/>
          <p:nvPr/>
        </p:nvSpPr>
        <p:spPr>
          <a:xfrm>
            <a:off x="6210148" y="1874520"/>
            <a:ext cx="2602154" cy="1874520"/>
          </a:xfrm>
          <a:prstGeom prst="roundRect">
            <a:avLst>
              <a:gd name="adj" fmla="val 3902"/>
            </a:avLst>
          </a:prstGeom>
          <a:solidFill>
            <a:schemeClr val="bg1"/>
          </a:solidFill>
          <a:ln w="9525">
            <a:solidFill>
              <a:schemeClr val="accent4"/>
            </a:solidFill>
            <a:prstDash val="solid"/>
          </a:ln>
        </p:spPr>
      </p:sp>
      <p:sp>
        <p:nvSpPr>
          <p:cNvPr id="13" name="Text 11"/>
          <p:cNvSpPr txBox="1"/>
          <p:nvPr/>
        </p:nvSpPr>
        <p:spPr>
          <a:xfrm>
            <a:off x="6484468" y="2148840"/>
            <a:ext cx="2053514" cy="274320"/>
          </a:xfrm>
          <a:prstGeom prst="rect">
            <a:avLst/>
          </a:prstGeom>
          <a:noFill/>
          <a:ln/>
        </p:spPr>
        <p:txBody>
          <a:bodyPr wrap="square" lIns="0" tIns="0" rIns="0" bIns="0" rtlCol="0" anchor="ctr"/>
          <a:lstStyle/>
          <a:p>
            <a:pPr indent="0" marL="0">
              <a:buNone/>
            </a:pPr>
            <a:r>
              <a:rPr lang="en-US" sz="950" b="1" spc="200" kern="0" dirty="0">
                <a:solidFill>
                  <a:schemeClr val="tx2"/>
                </a:solidFill>
              </a:rPr>
              <a:t>CRM</a:t>
            </a:r>
            <a:endParaRPr lang="en-US" sz="950" dirty="0"/>
          </a:p>
        </p:txBody>
      </p:sp>
      <p:sp>
        <p:nvSpPr>
          <p:cNvPr id="14" name="Text 12"/>
          <p:cNvSpPr txBox="1"/>
          <p:nvPr/>
        </p:nvSpPr>
        <p:spPr>
          <a:xfrm>
            <a:off x="6484468" y="2514600"/>
            <a:ext cx="2053514" cy="457200"/>
          </a:xfrm>
          <a:prstGeom prst="rect">
            <a:avLst/>
          </a:prstGeom>
          <a:noFill/>
          <a:ln/>
        </p:spPr>
        <p:txBody>
          <a:bodyPr wrap="square" lIns="0" tIns="0" rIns="0" bIns="0" rtlCol="0" anchor="ctr"/>
          <a:lstStyle/>
          <a:p>
            <a:pPr indent="0" marL="0">
              <a:buNone/>
            </a:pPr>
            <a:r>
              <a:rPr lang="en-US" sz="2000" dirty="0">
                <a:solidFill>
                  <a:schemeClr val="tx1"/>
                </a:solidFill>
                <a:latin typeface="Cambria" pitchFamily="34" charset="0"/>
                <a:ea typeface="Cambria" pitchFamily="34" charset="-122"/>
                <a:cs typeface="Cambria" pitchFamily="34" charset="-120"/>
              </a:rPr>
              <a:t>Salesforce</a:t>
            </a:r>
            <a:endParaRPr lang="en-US" sz="2000" dirty="0"/>
          </a:p>
        </p:txBody>
      </p:sp>
      <p:sp>
        <p:nvSpPr>
          <p:cNvPr id="15" name="Text 13"/>
          <p:cNvSpPr txBox="1"/>
          <p:nvPr/>
        </p:nvSpPr>
        <p:spPr>
          <a:xfrm>
            <a:off x="6484468" y="3063240"/>
            <a:ext cx="2053514" cy="457200"/>
          </a:xfrm>
          <a:prstGeom prst="rect">
            <a:avLst/>
          </a:prstGeom>
          <a:noFill/>
          <a:ln/>
        </p:spPr>
        <p:txBody>
          <a:bodyPr wrap="square" lIns="0" tIns="0" rIns="0" bIns="0" rtlCol="0" anchor="t"/>
          <a:lstStyle/>
          <a:p>
            <a:pPr indent="0" marL="0">
              <a:buNone/>
            </a:pPr>
            <a:r>
              <a:rPr lang="en-US" sz="1200" dirty="0">
                <a:solidFill>
                  <a:schemeClr val="accent3"/>
                </a:solidFill>
              </a:rPr>
              <a:t>Client accounts and changes</a:t>
            </a:r>
            <a:endParaRPr lang="en-US" sz="1200" dirty="0"/>
          </a:p>
        </p:txBody>
      </p:sp>
      <p:sp>
        <p:nvSpPr>
          <p:cNvPr id="16" name="Deel tile"/>
          <p:cNvSpPr/>
          <p:nvPr/>
        </p:nvSpPr>
        <p:spPr>
          <a:xfrm>
            <a:off x="9040901" y="1874520"/>
            <a:ext cx="2602154" cy="1874520"/>
          </a:xfrm>
          <a:prstGeom prst="roundRect">
            <a:avLst>
              <a:gd name="adj" fmla="val 3902"/>
            </a:avLst>
          </a:prstGeom>
          <a:solidFill>
            <a:schemeClr val="bg1"/>
          </a:solidFill>
          <a:ln w="9525">
            <a:solidFill>
              <a:schemeClr val="accent4"/>
            </a:solidFill>
            <a:prstDash val="solid"/>
          </a:ln>
        </p:spPr>
      </p:sp>
      <p:sp>
        <p:nvSpPr>
          <p:cNvPr id="17" name="Text 15"/>
          <p:cNvSpPr txBox="1"/>
          <p:nvPr/>
        </p:nvSpPr>
        <p:spPr>
          <a:xfrm>
            <a:off x="9315221" y="2148840"/>
            <a:ext cx="2053514" cy="274320"/>
          </a:xfrm>
          <a:prstGeom prst="rect">
            <a:avLst/>
          </a:prstGeom>
          <a:noFill/>
          <a:ln/>
        </p:spPr>
        <p:txBody>
          <a:bodyPr wrap="square" lIns="0" tIns="0" rIns="0" bIns="0" rtlCol="0" anchor="ctr"/>
          <a:lstStyle/>
          <a:p>
            <a:pPr indent="0" marL="0">
              <a:buNone/>
            </a:pPr>
            <a:r>
              <a:rPr lang="en-US" sz="950" b="1" spc="200" kern="0" dirty="0">
                <a:solidFill>
                  <a:schemeClr val="tx2"/>
                </a:solidFill>
              </a:rPr>
              <a:t>CONTRACTOR PAYMENTS</a:t>
            </a:r>
            <a:endParaRPr lang="en-US" sz="950" dirty="0"/>
          </a:p>
        </p:txBody>
      </p:sp>
      <p:sp>
        <p:nvSpPr>
          <p:cNvPr id="18" name="Text 16"/>
          <p:cNvSpPr txBox="1"/>
          <p:nvPr/>
        </p:nvSpPr>
        <p:spPr>
          <a:xfrm>
            <a:off x="9315221" y="2514600"/>
            <a:ext cx="2053514" cy="457200"/>
          </a:xfrm>
          <a:prstGeom prst="rect">
            <a:avLst/>
          </a:prstGeom>
          <a:noFill/>
          <a:ln/>
        </p:spPr>
        <p:txBody>
          <a:bodyPr wrap="square" lIns="0" tIns="0" rIns="0" bIns="0" rtlCol="0" anchor="ctr"/>
          <a:lstStyle/>
          <a:p>
            <a:pPr indent="0" marL="0">
              <a:buNone/>
            </a:pPr>
            <a:r>
              <a:rPr lang="en-US" sz="2000" dirty="0">
                <a:solidFill>
                  <a:schemeClr val="tx1"/>
                </a:solidFill>
                <a:latin typeface="Cambria" pitchFamily="34" charset="0"/>
                <a:ea typeface="Cambria" pitchFamily="34" charset="-122"/>
                <a:cs typeface="Cambria" pitchFamily="34" charset="-120"/>
              </a:rPr>
              <a:t>Deel</a:t>
            </a:r>
            <a:endParaRPr lang="en-US" sz="2000" dirty="0"/>
          </a:p>
        </p:txBody>
      </p:sp>
      <p:sp>
        <p:nvSpPr>
          <p:cNvPr id="19" name="Text 17"/>
          <p:cNvSpPr txBox="1"/>
          <p:nvPr/>
        </p:nvSpPr>
        <p:spPr>
          <a:xfrm>
            <a:off x="9315221" y="3063240"/>
            <a:ext cx="2053514" cy="457200"/>
          </a:xfrm>
          <a:prstGeom prst="rect">
            <a:avLst/>
          </a:prstGeom>
          <a:noFill/>
          <a:ln/>
        </p:spPr>
        <p:txBody>
          <a:bodyPr wrap="square" lIns="0" tIns="0" rIns="0" bIns="0" rtlCol="0" anchor="t"/>
          <a:lstStyle/>
          <a:p>
            <a:pPr indent="0" marL="0">
              <a:buNone/>
            </a:pPr>
            <a:r>
              <a:rPr lang="en-US" sz="1200" dirty="0">
                <a:solidFill>
                  <a:schemeClr val="accent3"/>
                </a:solidFill>
              </a:rPr>
              <a:t>Contractor payment coordination</a:t>
            </a:r>
            <a:endParaRPr lang="en-US" sz="1200" dirty="0"/>
          </a:p>
        </p:txBody>
      </p:sp>
      <p:sp>
        <p:nvSpPr>
          <p:cNvPr id="20" name="Microsoft Excel tile"/>
          <p:cNvSpPr/>
          <p:nvPr/>
        </p:nvSpPr>
        <p:spPr>
          <a:xfrm>
            <a:off x="548640" y="3977640"/>
            <a:ext cx="2602154" cy="1874520"/>
          </a:xfrm>
          <a:prstGeom prst="roundRect">
            <a:avLst>
              <a:gd name="adj" fmla="val 3902"/>
            </a:avLst>
          </a:prstGeom>
          <a:solidFill>
            <a:schemeClr val="bg1"/>
          </a:solidFill>
          <a:ln w="9525">
            <a:solidFill>
              <a:schemeClr val="accent4"/>
            </a:solidFill>
            <a:prstDash val="solid"/>
          </a:ln>
        </p:spPr>
      </p:sp>
      <p:sp>
        <p:nvSpPr>
          <p:cNvPr id="21" name="Text 19"/>
          <p:cNvSpPr txBox="1"/>
          <p:nvPr/>
        </p:nvSpPr>
        <p:spPr>
          <a:xfrm>
            <a:off x="822960" y="4251960"/>
            <a:ext cx="2053514" cy="274320"/>
          </a:xfrm>
          <a:prstGeom prst="rect">
            <a:avLst/>
          </a:prstGeom>
          <a:noFill/>
          <a:ln/>
        </p:spPr>
        <p:txBody>
          <a:bodyPr wrap="square" lIns="0" tIns="0" rIns="0" bIns="0" rtlCol="0" anchor="ctr"/>
          <a:lstStyle/>
          <a:p>
            <a:pPr indent="0" marL="0">
              <a:buNone/>
            </a:pPr>
            <a:r>
              <a:rPr lang="en-US" sz="950" b="1" spc="200" kern="0" dirty="0">
                <a:solidFill>
                  <a:schemeClr val="tx2"/>
                </a:solidFill>
              </a:rPr>
              <a:t>SPREADSHEETS</a:t>
            </a:r>
            <a:endParaRPr lang="en-US" sz="950" dirty="0"/>
          </a:p>
        </p:txBody>
      </p:sp>
      <p:sp>
        <p:nvSpPr>
          <p:cNvPr id="22" name="Text 20"/>
          <p:cNvSpPr txBox="1"/>
          <p:nvPr/>
        </p:nvSpPr>
        <p:spPr>
          <a:xfrm>
            <a:off x="822960" y="4617720"/>
            <a:ext cx="2053514" cy="457200"/>
          </a:xfrm>
          <a:prstGeom prst="rect">
            <a:avLst/>
          </a:prstGeom>
          <a:noFill/>
          <a:ln/>
        </p:spPr>
        <p:txBody>
          <a:bodyPr wrap="square" lIns="0" tIns="0" rIns="0" bIns="0" rtlCol="0" anchor="ctr"/>
          <a:lstStyle/>
          <a:p>
            <a:pPr indent="0" marL="0">
              <a:buNone/>
            </a:pPr>
            <a:r>
              <a:rPr lang="en-US" sz="2000" dirty="0">
                <a:solidFill>
                  <a:schemeClr val="tx1"/>
                </a:solidFill>
                <a:latin typeface="Cambria" pitchFamily="34" charset="0"/>
                <a:ea typeface="Cambria" pitchFamily="34" charset="-122"/>
                <a:cs typeface="Cambria" pitchFamily="34" charset="-120"/>
              </a:rPr>
              <a:t>Microsoft Excel</a:t>
            </a:r>
            <a:endParaRPr lang="en-US" sz="2000" dirty="0"/>
          </a:p>
        </p:txBody>
      </p:sp>
      <p:sp>
        <p:nvSpPr>
          <p:cNvPr id="23" name="Text 21"/>
          <p:cNvSpPr txBox="1"/>
          <p:nvPr/>
        </p:nvSpPr>
        <p:spPr>
          <a:xfrm>
            <a:off x="822960" y="5166360"/>
            <a:ext cx="2053514" cy="457200"/>
          </a:xfrm>
          <a:prstGeom prst="rect">
            <a:avLst/>
          </a:prstGeom>
          <a:noFill/>
          <a:ln/>
        </p:spPr>
        <p:txBody>
          <a:bodyPr wrap="square" lIns="0" tIns="0" rIns="0" bIns="0" rtlCol="0" anchor="t"/>
          <a:lstStyle/>
          <a:p>
            <a:pPr indent="0" marL="0">
              <a:buNone/>
            </a:pPr>
            <a:r>
              <a:rPr lang="en-US" sz="1200" dirty="0">
                <a:solidFill>
                  <a:schemeClr val="accent3"/>
                </a:solidFill>
              </a:rPr>
              <a:t>Audits, trackers, reconciliation</a:t>
            </a:r>
            <a:endParaRPr lang="en-US" sz="1200" dirty="0"/>
          </a:p>
        </p:txBody>
      </p:sp>
      <p:sp>
        <p:nvSpPr>
          <p:cNvPr id="24" name="Google Sheets tile"/>
          <p:cNvSpPr/>
          <p:nvPr/>
        </p:nvSpPr>
        <p:spPr>
          <a:xfrm>
            <a:off x="3379394" y="3977640"/>
            <a:ext cx="2602154" cy="1874520"/>
          </a:xfrm>
          <a:prstGeom prst="roundRect">
            <a:avLst>
              <a:gd name="adj" fmla="val 3902"/>
            </a:avLst>
          </a:prstGeom>
          <a:solidFill>
            <a:schemeClr val="bg1"/>
          </a:solidFill>
          <a:ln w="9525">
            <a:solidFill>
              <a:schemeClr val="accent4"/>
            </a:solidFill>
            <a:prstDash val="solid"/>
          </a:ln>
        </p:spPr>
      </p:sp>
      <p:sp>
        <p:nvSpPr>
          <p:cNvPr id="25" name="Text 23"/>
          <p:cNvSpPr txBox="1"/>
          <p:nvPr/>
        </p:nvSpPr>
        <p:spPr>
          <a:xfrm>
            <a:off x="3653714" y="4251960"/>
            <a:ext cx="2053514" cy="274320"/>
          </a:xfrm>
          <a:prstGeom prst="rect">
            <a:avLst/>
          </a:prstGeom>
          <a:noFill/>
          <a:ln/>
        </p:spPr>
        <p:txBody>
          <a:bodyPr wrap="square" lIns="0" tIns="0" rIns="0" bIns="0" rtlCol="0" anchor="ctr"/>
          <a:lstStyle/>
          <a:p>
            <a:pPr indent="0" marL="0">
              <a:buNone/>
            </a:pPr>
            <a:r>
              <a:rPr lang="en-US" sz="950" b="1" spc="200" kern="0" dirty="0">
                <a:solidFill>
                  <a:schemeClr val="tx2"/>
                </a:solidFill>
              </a:rPr>
              <a:t>SPREADSHEETS</a:t>
            </a:r>
            <a:endParaRPr lang="en-US" sz="950" dirty="0"/>
          </a:p>
        </p:txBody>
      </p:sp>
      <p:sp>
        <p:nvSpPr>
          <p:cNvPr id="26" name="Text 24"/>
          <p:cNvSpPr txBox="1"/>
          <p:nvPr/>
        </p:nvSpPr>
        <p:spPr>
          <a:xfrm>
            <a:off x="3653714" y="4617720"/>
            <a:ext cx="2053514" cy="457200"/>
          </a:xfrm>
          <a:prstGeom prst="rect">
            <a:avLst/>
          </a:prstGeom>
          <a:noFill/>
          <a:ln/>
        </p:spPr>
        <p:txBody>
          <a:bodyPr wrap="square" lIns="0" tIns="0" rIns="0" bIns="0" rtlCol="0" anchor="ctr"/>
          <a:lstStyle/>
          <a:p>
            <a:pPr indent="0" marL="0">
              <a:buNone/>
            </a:pPr>
            <a:r>
              <a:rPr lang="en-US" sz="2000" dirty="0">
                <a:solidFill>
                  <a:schemeClr val="tx1"/>
                </a:solidFill>
                <a:latin typeface="Cambria" pitchFamily="34" charset="0"/>
                <a:ea typeface="Cambria" pitchFamily="34" charset="-122"/>
                <a:cs typeface="Cambria" pitchFamily="34" charset="-120"/>
              </a:rPr>
              <a:t>Google Sheets</a:t>
            </a:r>
            <a:endParaRPr lang="en-US" sz="2000" dirty="0"/>
          </a:p>
        </p:txBody>
      </p:sp>
      <p:sp>
        <p:nvSpPr>
          <p:cNvPr id="27" name="Text 25"/>
          <p:cNvSpPr txBox="1"/>
          <p:nvPr/>
        </p:nvSpPr>
        <p:spPr>
          <a:xfrm>
            <a:off x="3653714" y="5166360"/>
            <a:ext cx="2053514" cy="457200"/>
          </a:xfrm>
          <a:prstGeom prst="rect">
            <a:avLst/>
          </a:prstGeom>
          <a:noFill/>
          <a:ln/>
        </p:spPr>
        <p:txBody>
          <a:bodyPr wrap="square" lIns="0" tIns="0" rIns="0" bIns="0" rtlCol="0" anchor="t"/>
          <a:lstStyle/>
          <a:p>
            <a:pPr indent="0" marL="0">
              <a:buNone/>
            </a:pPr>
            <a:r>
              <a:rPr lang="en-US" sz="1200" dirty="0">
                <a:solidFill>
                  <a:schemeClr val="accent3"/>
                </a:solidFill>
              </a:rPr>
              <a:t>Shared reports and tracking</a:t>
            </a:r>
            <a:endParaRPr lang="en-US" sz="1200" dirty="0"/>
          </a:p>
        </p:txBody>
      </p:sp>
      <p:sp>
        <p:nvSpPr>
          <p:cNvPr id="28" name="Slack tile"/>
          <p:cNvSpPr/>
          <p:nvPr/>
        </p:nvSpPr>
        <p:spPr>
          <a:xfrm>
            <a:off x="6210148" y="3977640"/>
            <a:ext cx="2602154" cy="1874520"/>
          </a:xfrm>
          <a:prstGeom prst="roundRect">
            <a:avLst>
              <a:gd name="adj" fmla="val 3902"/>
            </a:avLst>
          </a:prstGeom>
          <a:solidFill>
            <a:schemeClr val="bg1"/>
          </a:solidFill>
          <a:ln w="9525">
            <a:solidFill>
              <a:schemeClr val="accent4"/>
            </a:solidFill>
            <a:prstDash val="solid"/>
          </a:ln>
        </p:spPr>
      </p:sp>
      <p:sp>
        <p:nvSpPr>
          <p:cNvPr id="29" name="Text 27"/>
          <p:cNvSpPr txBox="1"/>
          <p:nvPr/>
        </p:nvSpPr>
        <p:spPr>
          <a:xfrm>
            <a:off x="6484468" y="4251960"/>
            <a:ext cx="2053514" cy="274320"/>
          </a:xfrm>
          <a:prstGeom prst="rect">
            <a:avLst/>
          </a:prstGeom>
          <a:noFill/>
          <a:ln/>
        </p:spPr>
        <p:txBody>
          <a:bodyPr wrap="square" lIns="0" tIns="0" rIns="0" bIns="0" rtlCol="0" anchor="ctr"/>
          <a:lstStyle/>
          <a:p>
            <a:pPr indent="0" marL="0">
              <a:buNone/>
            </a:pPr>
            <a:r>
              <a:rPr lang="en-US" sz="950" b="1" spc="200" kern="0" dirty="0">
                <a:solidFill>
                  <a:schemeClr val="tx2"/>
                </a:solidFill>
              </a:rPr>
              <a:t>COMMUNICATION</a:t>
            </a:r>
            <a:endParaRPr lang="en-US" sz="950" dirty="0"/>
          </a:p>
        </p:txBody>
      </p:sp>
      <p:sp>
        <p:nvSpPr>
          <p:cNvPr id="30" name="Text 28"/>
          <p:cNvSpPr txBox="1"/>
          <p:nvPr/>
        </p:nvSpPr>
        <p:spPr>
          <a:xfrm>
            <a:off x="6484468" y="4617720"/>
            <a:ext cx="2053514" cy="457200"/>
          </a:xfrm>
          <a:prstGeom prst="rect">
            <a:avLst/>
          </a:prstGeom>
          <a:noFill/>
          <a:ln/>
        </p:spPr>
        <p:txBody>
          <a:bodyPr wrap="square" lIns="0" tIns="0" rIns="0" bIns="0" rtlCol="0" anchor="ctr"/>
          <a:lstStyle/>
          <a:p>
            <a:pPr indent="0" marL="0">
              <a:buNone/>
            </a:pPr>
            <a:r>
              <a:rPr lang="en-US" sz="2000" dirty="0">
                <a:solidFill>
                  <a:schemeClr val="tx1"/>
                </a:solidFill>
                <a:latin typeface="Cambria" pitchFamily="34" charset="0"/>
                <a:ea typeface="Cambria" pitchFamily="34" charset="-122"/>
                <a:cs typeface="Cambria" pitchFamily="34" charset="-120"/>
              </a:rPr>
              <a:t>Slack</a:t>
            </a:r>
            <a:endParaRPr lang="en-US" sz="2000" dirty="0"/>
          </a:p>
        </p:txBody>
      </p:sp>
      <p:sp>
        <p:nvSpPr>
          <p:cNvPr id="31" name="Text 29"/>
          <p:cNvSpPr txBox="1"/>
          <p:nvPr/>
        </p:nvSpPr>
        <p:spPr>
          <a:xfrm>
            <a:off x="6484468" y="5166360"/>
            <a:ext cx="2053514" cy="457200"/>
          </a:xfrm>
          <a:prstGeom prst="rect">
            <a:avLst/>
          </a:prstGeom>
          <a:noFill/>
          <a:ln/>
        </p:spPr>
        <p:txBody>
          <a:bodyPr wrap="square" lIns="0" tIns="0" rIns="0" bIns="0" rtlCol="0" anchor="t"/>
          <a:lstStyle/>
          <a:p>
            <a:pPr indent="0" marL="0">
              <a:buNone/>
            </a:pPr>
            <a:r>
              <a:rPr lang="en-US" sz="1200" dirty="0">
                <a:solidFill>
                  <a:schemeClr val="accent3"/>
                </a:solidFill>
              </a:rPr>
              <a:t>Cross-team updates and follow-ups</a:t>
            </a:r>
            <a:endParaRPr lang="en-US" sz="1200" dirty="0"/>
          </a:p>
        </p:txBody>
      </p:sp>
      <p:sp>
        <p:nvSpPr>
          <p:cNvPr id="32" name="Collaboration tools tile"/>
          <p:cNvSpPr/>
          <p:nvPr/>
        </p:nvSpPr>
        <p:spPr>
          <a:xfrm>
            <a:off x="9040901" y="3977640"/>
            <a:ext cx="2602154" cy="1874520"/>
          </a:xfrm>
          <a:prstGeom prst="roundRect">
            <a:avLst>
              <a:gd name="adj" fmla="val 3902"/>
            </a:avLst>
          </a:prstGeom>
          <a:solidFill>
            <a:schemeClr val="bg1"/>
          </a:solidFill>
          <a:ln w="9525">
            <a:solidFill>
              <a:schemeClr val="accent4"/>
            </a:solidFill>
            <a:prstDash val="solid"/>
          </a:ln>
        </p:spPr>
      </p:sp>
      <p:sp>
        <p:nvSpPr>
          <p:cNvPr id="33" name="Text 31"/>
          <p:cNvSpPr txBox="1"/>
          <p:nvPr/>
        </p:nvSpPr>
        <p:spPr>
          <a:xfrm>
            <a:off x="9315221" y="4251960"/>
            <a:ext cx="2053514" cy="274320"/>
          </a:xfrm>
          <a:prstGeom prst="rect">
            <a:avLst/>
          </a:prstGeom>
          <a:noFill/>
          <a:ln/>
        </p:spPr>
        <p:txBody>
          <a:bodyPr wrap="square" lIns="0" tIns="0" rIns="0" bIns="0" rtlCol="0" anchor="ctr"/>
          <a:lstStyle/>
          <a:p>
            <a:pPr indent="0" marL="0">
              <a:buNone/>
            </a:pPr>
            <a:r>
              <a:rPr lang="en-US" sz="950" b="1" spc="200" kern="0" dirty="0">
                <a:solidFill>
                  <a:schemeClr val="tx2"/>
                </a:solidFill>
              </a:rPr>
              <a:t>REMOTE WORK</a:t>
            </a:r>
            <a:endParaRPr lang="en-US" sz="950" dirty="0"/>
          </a:p>
        </p:txBody>
      </p:sp>
      <p:sp>
        <p:nvSpPr>
          <p:cNvPr id="34" name="Text 32"/>
          <p:cNvSpPr txBox="1"/>
          <p:nvPr/>
        </p:nvSpPr>
        <p:spPr>
          <a:xfrm>
            <a:off x="9315221" y="4617720"/>
            <a:ext cx="2053514" cy="457200"/>
          </a:xfrm>
          <a:prstGeom prst="rect">
            <a:avLst/>
          </a:prstGeom>
          <a:noFill/>
          <a:ln/>
        </p:spPr>
        <p:txBody>
          <a:bodyPr wrap="square" lIns="0" tIns="0" rIns="0" bIns="0" rtlCol="0" anchor="ctr"/>
          <a:lstStyle/>
          <a:p>
            <a:pPr indent="0" marL="0">
              <a:buNone/>
            </a:pPr>
            <a:r>
              <a:rPr lang="en-US" sz="2000" dirty="0">
                <a:solidFill>
                  <a:schemeClr val="tx1"/>
                </a:solidFill>
                <a:latin typeface="Cambria" pitchFamily="34" charset="0"/>
                <a:ea typeface="Cambria" pitchFamily="34" charset="-122"/>
                <a:cs typeface="Cambria" pitchFamily="34" charset="-120"/>
              </a:rPr>
              <a:t>Collaboration tools</a:t>
            </a:r>
            <a:endParaRPr lang="en-US" sz="2000" dirty="0"/>
          </a:p>
        </p:txBody>
      </p:sp>
      <p:sp>
        <p:nvSpPr>
          <p:cNvPr id="35" name="Text 33"/>
          <p:cNvSpPr txBox="1"/>
          <p:nvPr/>
        </p:nvSpPr>
        <p:spPr>
          <a:xfrm>
            <a:off x="9315221" y="5166360"/>
            <a:ext cx="2053514" cy="457200"/>
          </a:xfrm>
          <a:prstGeom prst="rect">
            <a:avLst/>
          </a:prstGeom>
          <a:noFill/>
          <a:ln/>
        </p:spPr>
        <p:txBody>
          <a:bodyPr wrap="square" lIns="0" tIns="0" rIns="0" bIns="0" rtlCol="0" anchor="t"/>
          <a:lstStyle/>
          <a:p>
            <a:pPr indent="0" marL="0">
              <a:buNone/>
            </a:pPr>
            <a:r>
              <a:rPr lang="en-US" sz="1200" dirty="0">
                <a:solidFill>
                  <a:schemeClr val="accent3"/>
                </a:solidFill>
              </a:rPr>
              <a:t>Other remote workspace and docs tools</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1371600"/>
            <a:ext cx="6400800" cy="320040"/>
          </a:xfrm>
          <a:prstGeom prst="rect">
            <a:avLst/>
          </a:prstGeom>
          <a:noFill/>
          <a:ln/>
        </p:spPr>
        <p:txBody>
          <a:bodyPr wrap="square" lIns="0" tIns="0" rIns="0" bIns="0" rtlCol="0" anchor="ctr"/>
          <a:lstStyle/>
          <a:p>
            <a:pPr indent="0" marL="0">
              <a:buNone/>
            </a:pPr>
            <a:r>
              <a:rPr lang="en-US" sz="1200" b="1" spc="300" kern="0" dirty="0">
                <a:solidFill>
                  <a:schemeClr val="accent2"/>
                </a:solidFill>
              </a:rPr>
              <a:t>SELECTED CASE STUDIES</a:t>
            </a:r>
            <a:endParaRPr lang="en-US" sz="1200" dirty="0"/>
          </a:p>
        </p:txBody>
      </p:sp>
      <p:sp>
        <p:nvSpPr>
          <p:cNvPr id="3" name="Text 0"/>
          <p:cNvSpPr/>
          <p:nvPr>
            <p:ph idx="100" type="title" hasCustomPrompt="1"/>
          </p:nvPr>
        </p:nvSpPr>
        <p:spPr>
          <a:xfrm>
            <a:off x="548640" y="2011680"/>
            <a:ext cx="6583680" cy="2011680"/>
          </a:xfrm>
          <a:prstGeom prst="rect">
            <a:avLst/>
          </a:prstGeom>
          <a:noFill/>
          <a:ln/>
        </p:spPr>
        <p:txBody>
          <a:bodyPr wrap="square" lIns="0" tIns="0" rIns="0" bIns="0" rtlCol="0" anchor="t"/>
          <a:lstStyle/>
          <a:p>
            <a:pPr algn="l" indent="0" marL="0">
              <a:buNone/>
            </a:pPr>
            <a:r>
              <a:rPr lang="en-US" sz="5400" dirty="0">
                <a:solidFill>
                  <a:schemeClr val="bg1"/>
                </a:solidFill>
                <a:latin typeface="Cambria" pitchFamily="34" charset="0"/>
                <a:ea typeface="Cambria" pitchFamily="34" charset="-122"/>
                <a:cs typeface="Cambria" pitchFamily="34" charset="-120"/>
              </a:rPr>
              <a:t>How I approach the work.</a:t>
            </a:r>
            <a:endParaRPr lang="en-US" sz="5400" dirty="0"/>
          </a:p>
        </p:txBody>
      </p:sp>
      <p:sp>
        <p:nvSpPr>
          <p:cNvPr id="4" name="Text 2"/>
          <p:cNvSpPr txBox="1"/>
          <p:nvPr/>
        </p:nvSpPr>
        <p:spPr>
          <a:xfrm>
            <a:off x="548640" y="4069080"/>
            <a:ext cx="6035040" cy="822960"/>
          </a:xfrm>
          <a:prstGeom prst="rect">
            <a:avLst/>
          </a:prstGeom>
          <a:noFill/>
          <a:ln/>
        </p:spPr>
        <p:txBody>
          <a:bodyPr wrap="square" lIns="0" tIns="0" rIns="0" bIns="0" rtlCol="0" anchor="ctr"/>
          <a:lstStyle/>
          <a:p>
            <a:pPr indent="0" marL="0">
              <a:buNone/>
            </a:pPr>
            <a:r>
              <a:rPr lang="en-US" sz="1600" dirty="0">
                <a:solidFill>
                  <a:srgbClr val="C9D3CF"/>
                </a:solidFill>
              </a:rPr>
              <a:t>Four representative, anonymized examples. Client names, company details, and figures are left out on purpose to protect confidentiality.</a:t>
            </a:r>
            <a:endParaRPr lang="en-US" sz="1600" dirty="0"/>
          </a:p>
        </p:txBody>
      </p:sp>
      <p:sp>
        <p:nvSpPr>
          <p:cNvPr id="5" name="Shape 3"/>
          <p:cNvSpPr/>
          <p:nvPr/>
        </p:nvSpPr>
        <p:spPr>
          <a:xfrm>
            <a:off x="7635240" y="1828800"/>
            <a:ext cx="4023360" cy="0"/>
          </a:xfrm>
          <a:prstGeom prst="line">
            <a:avLst/>
          </a:prstGeom>
          <a:noFill/>
          <a:ln w="9525">
            <a:solidFill>
              <a:srgbClr val="2E3D38"/>
            </a:solidFill>
            <a:prstDash val="solid"/>
          </a:ln>
        </p:spPr>
      </p:sp>
      <p:sp>
        <p:nvSpPr>
          <p:cNvPr id="6" name="Text 4"/>
          <p:cNvSpPr txBox="1"/>
          <p:nvPr/>
        </p:nvSpPr>
        <p:spPr>
          <a:xfrm>
            <a:off x="7635240" y="2011680"/>
            <a:ext cx="548640" cy="457200"/>
          </a:xfrm>
          <a:prstGeom prst="rect">
            <a:avLst/>
          </a:prstGeom>
          <a:noFill/>
          <a:ln/>
        </p:spPr>
        <p:txBody>
          <a:bodyPr wrap="square" lIns="0" tIns="0" rIns="0" bIns="0" rtlCol="0" anchor="ctr"/>
          <a:lstStyle/>
          <a:p>
            <a:pPr indent="0" marL="0">
              <a:buNone/>
            </a:pPr>
            <a:r>
              <a:rPr lang="en-US" sz="1200" dirty="0">
                <a:solidFill>
                  <a:schemeClr val="accent2"/>
                </a:solidFill>
              </a:rPr>
              <a:t>01</a:t>
            </a:r>
            <a:endParaRPr lang="en-US" sz="1200" dirty="0"/>
          </a:p>
        </p:txBody>
      </p:sp>
      <p:sp>
        <p:nvSpPr>
          <p:cNvPr id="7" name="Text 5"/>
          <p:cNvSpPr txBox="1"/>
          <p:nvPr/>
        </p:nvSpPr>
        <p:spPr>
          <a:xfrm>
            <a:off x="8229600" y="2011680"/>
            <a:ext cx="3429000" cy="457200"/>
          </a:xfrm>
          <a:prstGeom prst="rect">
            <a:avLst/>
          </a:prstGeom>
          <a:noFill/>
          <a:ln/>
        </p:spPr>
        <p:txBody>
          <a:bodyPr wrap="square" lIns="0" tIns="0" rIns="0" bIns="0" rtlCol="0" anchor="ctr"/>
          <a:lstStyle/>
          <a:p>
            <a:pPr indent="0" marL="0">
              <a:buNone/>
            </a:pPr>
            <a:r>
              <a:rPr lang="en-US" sz="1800" dirty="0">
                <a:solidFill>
                  <a:schemeClr val="bg1"/>
                </a:solidFill>
                <a:latin typeface="Cambria" pitchFamily="34" charset="0"/>
                <a:ea typeface="Cambria" pitchFamily="34" charset="-122"/>
                <a:cs typeface="Cambria" pitchFamily="34" charset="-120"/>
              </a:rPr>
              <a:t>Monthly Billing Audit</a:t>
            </a:r>
            <a:endParaRPr lang="en-US" sz="1800" dirty="0"/>
          </a:p>
        </p:txBody>
      </p:sp>
      <p:sp>
        <p:nvSpPr>
          <p:cNvPr id="8" name="Shape 6"/>
          <p:cNvSpPr/>
          <p:nvPr/>
        </p:nvSpPr>
        <p:spPr>
          <a:xfrm>
            <a:off x="7635240" y="2697480"/>
            <a:ext cx="4023360" cy="0"/>
          </a:xfrm>
          <a:prstGeom prst="line">
            <a:avLst/>
          </a:prstGeom>
          <a:noFill/>
          <a:ln w="9525">
            <a:solidFill>
              <a:srgbClr val="2E3D38"/>
            </a:solidFill>
            <a:prstDash val="solid"/>
          </a:ln>
        </p:spPr>
      </p:sp>
      <p:sp>
        <p:nvSpPr>
          <p:cNvPr id="9" name="Text 7"/>
          <p:cNvSpPr txBox="1"/>
          <p:nvPr/>
        </p:nvSpPr>
        <p:spPr>
          <a:xfrm>
            <a:off x="7635240" y="2880360"/>
            <a:ext cx="548640" cy="457200"/>
          </a:xfrm>
          <a:prstGeom prst="rect">
            <a:avLst/>
          </a:prstGeom>
          <a:noFill/>
          <a:ln/>
        </p:spPr>
        <p:txBody>
          <a:bodyPr wrap="square" lIns="0" tIns="0" rIns="0" bIns="0" rtlCol="0" anchor="ctr"/>
          <a:lstStyle/>
          <a:p>
            <a:pPr indent="0" marL="0">
              <a:buNone/>
            </a:pPr>
            <a:r>
              <a:rPr lang="en-US" sz="1200" dirty="0">
                <a:solidFill>
                  <a:schemeClr val="accent2"/>
                </a:solidFill>
              </a:rPr>
              <a:t>02</a:t>
            </a:r>
            <a:endParaRPr lang="en-US" sz="1200" dirty="0"/>
          </a:p>
        </p:txBody>
      </p:sp>
      <p:sp>
        <p:nvSpPr>
          <p:cNvPr id="10" name="Text 8"/>
          <p:cNvSpPr txBox="1"/>
          <p:nvPr/>
        </p:nvSpPr>
        <p:spPr>
          <a:xfrm>
            <a:off x="8229600" y="2880360"/>
            <a:ext cx="3429000" cy="457200"/>
          </a:xfrm>
          <a:prstGeom prst="rect">
            <a:avLst/>
          </a:prstGeom>
          <a:noFill/>
          <a:ln/>
        </p:spPr>
        <p:txBody>
          <a:bodyPr wrap="square" lIns="0" tIns="0" rIns="0" bIns="0" rtlCol="0" anchor="ctr"/>
          <a:lstStyle/>
          <a:p>
            <a:pPr indent="0" marL="0">
              <a:buNone/>
            </a:pPr>
            <a:r>
              <a:rPr lang="en-US" sz="1800" dirty="0">
                <a:solidFill>
                  <a:schemeClr val="bg1"/>
                </a:solidFill>
                <a:latin typeface="Cambria" pitchFamily="34" charset="0"/>
                <a:ea typeface="Cambria" pitchFamily="34" charset="-122"/>
                <a:cs typeface="Cambria" pitchFamily="34" charset="-120"/>
              </a:rPr>
              <a:t>Recurring Billing Management</a:t>
            </a:r>
            <a:endParaRPr lang="en-US" sz="1800" dirty="0"/>
          </a:p>
        </p:txBody>
      </p:sp>
      <p:sp>
        <p:nvSpPr>
          <p:cNvPr id="11" name="Shape 9"/>
          <p:cNvSpPr/>
          <p:nvPr/>
        </p:nvSpPr>
        <p:spPr>
          <a:xfrm>
            <a:off x="7635240" y="3566160"/>
            <a:ext cx="4023360" cy="0"/>
          </a:xfrm>
          <a:prstGeom prst="line">
            <a:avLst/>
          </a:prstGeom>
          <a:noFill/>
          <a:ln w="9525">
            <a:solidFill>
              <a:srgbClr val="2E3D38"/>
            </a:solidFill>
            <a:prstDash val="solid"/>
          </a:ln>
        </p:spPr>
      </p:sp>
      <p:sp>
        <p:nvSpPr>
          <p:cNvPr id="12" name="Text 10"/>
          <p:cNvSpPr txBox="1"/>
          <p:nvPr/>
        </p:nvSpPr>
        <p:spPr>
          <a:xfrm>
            <a:off x="7635240" y="3749040"/>
            <a:ext cx="548640" cy="457200"/>
          </a:xfrm>
          <a:prstGeom prst="rect">
            <a:avLst/>
          </a:prstGeom>
          <a:noFill/>
          <a:ln/>
        </p:spPr>
        <p:txBody>
          <a:bodyPr wrap="square" lIns="0" tIns="0" rIns="0" bIns="0" rtlCol="0" anchor="ctr"/>
          <a:lstStyle/>
          <a:p>
            <a:pPr indent="0" marL="0">
              <a:buNone/>
            </a:pPr>
            <a:r>
              <a:rPr lang="en-US" sz="1200" dirty="0">
                <a:solidFill>
                  <a:schemeClr val="accent2"/>
                </a:solidFill>
              </a:rPr>
              <a:t>03</a:t>
            </a:r>
            <a:endParaRPr lang="en-US" sz="1200" dirty="0"/>
          </a:p>
        </p:txBody>
      </p:sp>
      <p:sp>
        <p:nvSpPr>
          <p:cNvPr id="13" name="Text 11"/>
          <p:cNvSpPr txBox="1"/>
          <p:nvPr/>
        </p:nvSpPr>
        <p:spPr>
          <a:xfrm>
            <a:off x="8229600" y="3749040"/>
            <a:ext cx="3429000" cy="457200"/>
          </a:xfrm>
          <a:prstGeom prst="rect">
            <a:avLst/>
          </a:prstGeom>
          <a:noFill/>
          <a:ln/>
        </p:spPr>
        <p:txBody>
          <a:bodyPr wrap="square" lIns="0" tIns="0" rIns="0" bIns="0" rtlCol="0" anchor="ctr"/>
          <a:lstStyle/>
          <a:p>
            <a:pPr indent="0" marL="0">
              <a:buNone/>
            </a:pPr>
            <a:r>
              <a:rPr lang="en-US" sz="1800" dirty="0">
                <a:solidFill>
                  <a:schemeClr val="bg1"/>
                </a:solidFill>
                <a:latin typeface="Cambria" pitchFamily="34" charset="0"/>
                <a:ea typeface="Cambria" pitchFamily="34" charset="-122"/>
                <a:cs typeface="Cambria" pitchFamily="34" charset="-120"/>
              </a:rPr>
              <a:t>Payment &amp; Contractor Coordination</a:t>
            </a:r>
            <a:endParaRPr lang="en-US" sz="1800" dirty="0"/>
          </a:p>
        </p:txBody>
      </p:sp>
      <p:sp>
        <p:nvSpPr>
          <p:cNvPr id="14" name="Shape 12"/>
          <p:cNvSpPr/>
          <p:nvPr/>
        </p:nvSpPr>
        <p:spPr>
          <a:xfrm>
            <a:off x="7635240" y="4434840"/>
            <a:ext cx="4023360" cy="0"/>
          </a:xfrm>
          <a:prstGeom prst="line">
            <a:avLst/>
          </a:prstGeom>
          <a:noFill/>
          <a:ln w="9525">
            <a:solidFill>
              <a:srgbClr val="2E3D38"/>
            </a:solidFill>
            <a:prstDash val="solid"/>
          </a:ln>
        </p:spPr>
      </p:sp>
      <p:sp>
        <p:nvSpPr>
          <p:cNvPr id="15" name="Text 13"/>
          <p:cNvSpPr txBox="1"/>
          <p:nvPr/>
        </p:nvSpPr>
        <p:spPr>
          <a:xfrm>
            <a:off x="7635240" y="4617720"/>
            <a:ext cx="548640" cy="457200"/>
          </a:xfrm>
          <a:prstGeom prst="rect">
            <a:avLst/>
          </a:prstGeom>
          <a:noFill/>
          <a:ln/>
        </p:spPr>
        <p:txBody>
          <a:bodyPr wrap="square" lIns="0" tIns="0" rIns="0" bIns="0" rtlCol="0" anchor="ctr"/>
          <a:lstStyle/>
          <a:p>
            <a:pPr indent="0" marL="0">
              <a:buNone/>
            </a:pPr>
            <a:r>
              <a:rPr lang="en-US" sz="1200" dirty="0">
                <a:solidFill>
                  <a:schemeClr val="accent2"/>
                </a:solidFill>
              </a:rPr>
              <a:t>04</a:t>
            </a:r>
            <a:endParaRPr lang="en-US" sz="1200" dirty="0"/>
          </a:p>
        </p:txBody>
      </p:sp>
      <p:sp>
        <p:nvSpPr>
          <p:cNvPr id="16" name="Text 14"/>
          <p:cNvSpPr txBox="1"/>
          <p:nvPr/>
        </p:nvSpPr>
        <p:spPr>
          <a:xfrm>
            <a:off x="8229600" y="4617720"/>
            <a:ext cx="3429000" cy="457200"/>
          </a:xfrm>
          <a:prstGeom prst="rect">
            <a:avLst/>
          </a:prstGeom>
          <a:noFill/>
          <a:ln/>
        </p:spPr>
        <p:txBody>
          <a:bodyPr wrap="square" lIns="0" tIns="0" rIns="0" bIns="0" rtlCol="0" anchor="ctr"/>
          <a:lstStyle/>
          <a:p>
            <a:pPr indent="0" marL="0">
              <a:buNone/>
            </a:pPr>
            <a:r>
              <a:rPr lang="en-US" sz="1800" dirty="0">
                <a:solidFill>
                  <a:schemeClr val="bg1"/>
                </a:solidFill>
                <a:latin typeface="Cambria" pitchFamily="34" charset="0"/>
                <a:ea typeface="Cambria" pitchFamily="34" charset="-122"/>
                <a:cs typeface="Cambria" pitchFamily="34" charset="-120"/>
              </a:rPr>
              <a:t>Billing &amp; Account Reconciliation</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7315200" cy="274320"/>
          </a:xfrm>
          <a:prstGeom prst="rect">
            <a:avLst/>
          </a:prstGeom>
          <a:noFill/>
          <a:ln/>
        </p:spPr>
        <p:txBody>
          <a:bodyPr wrap="square" lIns="0" tIns="0" rIns="0" bIns="0" rtlCol="0"/>
          <a:lstStyle/>
          <a:p>
            <a:pPr indent="0" marL="0">
              <a:buNone/>
            </a:pPr>
            <a:r>
              <a:rPr lang="en-US" sz="1100" b="1" spc="300" kern="0" dirty="0">
                <a:solidFill>
                  <a:schemeClr val="tx2"/>
                </a:solidFill>
                <a:latin typeface="Calibri" pitchFamily="34" charset="0"/>
                <a:ea typeface="Calibri" pitchFamily="34" charset="-122"/>
                <a:cs typeface="Calibri" pitchFamily="34" charset="-120"/>
              </a:rPr>
              <a:t>CASE STUDY 1 OF 4  ·  BILLING &amp; REPORTING</a:t>
            </a:r>
            <a:endParaRPr lang="en-US" sz="1100" dirty="0"/>
          </a:p>
        </p:txBody>
      </p:sp>
      <p:sp>
        <p:nvSpPr>
          <p:cNvPr id="3" name="Text 0"/>
          <p:cNvSpPr/>
          <p:nvPr>
            <p:ph idx="101" type="title" hasCustomPrompt="1"/>
          </p:nvPr>
        </p:nvSpPr>
        <p:spPr>
          <a:xfrm>
            <a:off x="548640" y="731520"/>
            <a:ext cx="10972800" cy="77724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Monthly Billing Audit</a:t>
            </a:r>
            <a:endParaRPr lang="en-US" sz="3400" dirty="0"/>
          </a:p>
        </p:txBody>
      </p:sp>
      <p:sp>
        <p:nvSpPr>
          <p:cNvPr id="4" name="Text 2"/>
          <p:cNvSpPr txBox="1"/>
          <p:nvPr/>
        </p:nvSpPr>
        <p:spPr>
          <a:xfrm>
            <a:off x="8439912" y="384048"/>
            <a:ext cx="3200400" cy="292608"/>
          </a:xfrm>
          <a:prstGeom prst="rect">
            <a:avLst/>
          </a:prstGeom>
          <a:noFill/>
          <a:ln/>
        </p:spPr>
        <p:txBody>
          <a:bodyPr wrap="square" lIns="0" tIns="0" rIns="0" bIns="0" rtlCol="0" anchor="ctr"/>
          <a:lstStyle/>
          <a:p>
            <a:pPr algn="r" indent="0" marL="0">
              <a:buNone/>
            </a:pPr>
            <a:r>
              <a:rPr lang="en-US" sz="1000" i="1" dirty="0">
                <a:solidFill>
                  <a:schemeClr val="accent3"/>
                </a:solidFill>
              </a:rPr>
              <a:t>Representative, anonymized example</a:t>
            </a:r>
            <a:endParaRPr lang="en-US" sz="1000" dirty="0"/>
          </a:p>
        </p:txBody>
      </p:sp>
      <p:sp>
        <p:nvSpPr>
          <p:cNvPr id="5" name="CHALLENGE panel"/>
          <p:cNvSpPr/>
          <p:nvPr/>
        </p:nvSpPr>
        <p:spPr>
          <a:xfrm>
            <a:off x="548640" y="1828800"/>
            <a:ext cx="2636444" cy="3749040"/>
          </a:xfrm>
          <a:prstGeom prst="roundRect">
            <a:avLst>
              <a:gd name="adj" fmla="val 2775"/>
            </a:avLst>
          </a:prstGeom>
          <a:solidFill>
            <a:schemeClr val="bg1"/>
          </a:solidFill>
          <a:ln w="9525">
            <a:solidFill>
              <a:schemeClr val="accent4"/>
            </a:solidFill>
            <a:prstDash val="solid"/>
          </a:ln>
        </p:spPr>
      </p:sp>
      <p:sp>
        <p:nvSpPr>
          <p:cNvPr id="6" name="Text 4"/>
          <p:cNvSpPr txBox="1"/>
          <p:nvPr/>
        </p:nvSpPr>
        <p:spPr>
          <a:xfrm>
            <a:off x="822960" y="2103120"/>
            <a:ext cx="2087804" cy="274320"/>
          </a:xfrm>
          <a:prstGeom prst="rect">
            <a:avLst/>
          </a:prstGeom>
          <a:noFill/>
          <a:ln/>
        </p:spPr>
        <p:txBody>
          <a:bodyPr wrap="square" lIns="0" tIns="0" rIns="0" bIns="0" rtlCol="0" anchor="ctr"/>
          <a:lstStyle/>
          <a:p>
            <a:pPr indent="0" marL="0">
              <a:buNone/>
            </a:pPr>
            <a:r>
              <a:rPr lang="en-US" sz="1050" b="1" spc="200" kern="0" dirty="0">
                <a:solidFill>
                  <a:schemeClr val="tx2"/>
                </a:solidFill>
              </a:rPr>
              <a:t>CHALLENGE  →</a:t>
            </a:r>
            <a:endParaRPr lang="en-US" sz="1050" dirty="0"/>
          </a:p>
        </p:txBody>
      </p:sp>
      <p:sp>
        <p:nvSpPr>
          <p:cNvPr id="7" name="Text 5"/>
          <p:cNvSpPr txBox="1"/>
          <p:nvPr/>
        </p:nvSpPr>
        <p:spPr>
          <a:xfrm>
            <a:off x="822960" y="2560320"/>
            <a:ext cx="2087804" cy="2743200"/>
          </a:xfrm>
          <a:prstGeom prst="rect">
            <a:avLst/>
          </a:prstGeom>
          <a:noFill/>
          <a:ln/>
        </p:spPr>
        <p:txBody>
          <a:bodyPr wrap="square" lIns="0" tIns="0" rIns="0" bIns="0" rtlCol="0" anchor="t"/>
          <a:lstStyle/>
          <a:p>
            <a:pPr indent="0" marL="0">
              <a:lnSpc>
                <a:spcPct val="110000"/>
              </a:lnSpc>
              <a:buNone/>
            </a:pPr>
            <a:r>
              <a:rPr lang="en-US" sz="1350" dirty="0">
                <a:solidFill>
                  <a:schemeClr val="tx1"/>
                </a:solidFill>
              </a:rPr>
              <a:t>Each month, billing records had to match current account terms before invoices were final. Small mismatches in rates, dates, or account status could carry into the next cycle if no one caught them.</a:t>
            </a:r>
            <a:endParaRPr lang="en-US" sz="1350" dirty="0"/>
          </a:p>
        </p:txBody>
      </p:sp>
      <p:sp>
        <p:nvSpPr>
          <p:cNvPr id="8" name="MY ROLE panel"/>
          <p:cNvSpPr/>
          <p:nvPr/>
        </p:nvSpPr>
        <p:spPr>
          <a:xfrm>
            <a:off x="3367964" y="1828800"/>
            <a:ext cx="2636444" cy="3749040"/>
          </a:xfrm>
          <a:prstGeom prst="roundRect">
            <a:avLst>
              <a:gd name="adj" fmla="val 2775"/>
            </a:avLst>
          </a:prstGeom>
          <a:solidFill>
            <a:schemeClr val="bg1"/>
          </a:solidFill>
          <a:ln w="9525">
            <a:solidFill>
              <a:schemeClr val="accent4"/>
            </a:solidFill>
            <a:prstDash val="solid"/>
          </a:ln>
        </p:spPr>
      </p:sp>
      <p:sp>
        <p:nvSpPr>
          <p:cNvPr id="9" name="Text 7"/>
          <p:cNvSpPr txBox="1"/>
          <p:nvPr/>
        </p:nvSpPr>
        <p:spPr>
          <a:xfrm>
            <a:off x="3642284" y="2103120"/>
            <a:ext cx="2087804" cy="274320"/>
          </a:xfrm>
          <a:prstGeom prst="rect">
            <a:avLst/>
          </a:prstGeom>
          <a:noFill/>
          <a:ln/>
        </p:spPr>
        <p:txBody>
          <a:bodyPr wrap="square" lIns="0" tIns="0" rIns="0" bIns="0" rtlCol="0" anchor="ctr"/>
          <a:lstStyle/>
          <a:p>
            <a:pPr indent="0" marL="0">
              <a:buNone/>
            </a:pPr>
            <a:r>
              <a:rPr lang="en-US" sz="1050" b="1" spc="200" kern="0" dirty="0">
                <a:solidFill>
                  <a:schemeClr val="tx2"/>
                </a:solidFill>
              </a:rPr>
              <a:t>MY ROLE  →</a:t>
            </a:r>
            <a:endParaRPr lang="en-US" sz="1050" dirty="0"/>
          </a:p>
        </p:txBody>
      </p:sp>
      <p:sp>
        <p:nvSpPr>
          <p:cNvPr id="10" name="Text 8"/>
          <p:cNvSpPr txBox="1"/>
          <p:nvPr/>
        </p:nvSpPr>
        <p:spPr>
          <a:xfrm>
            <a:off x="3642284" y="2560320"/>
            <a:ext cx="2087804" cy="2743200"/>
          </a:xfrm>
          <a:prstGeom prst="rect">
            <a:avLst/>
          </a:prstGeom>
          <a:noFill/>
          <a:ln/>
        </p:spPr>
        <p:txBody>
          <a:bodyPr wrap="square" lIns="0" tIns="0" rIns="0" bIns="0" rtlCol="0" anchor="t"/>
          <a:lstStyle/>
          <a:p>
            <a:pPr indent="0" marL="0">
              <a:lnSpc>
                <a:spcPct val="110000"/>
              </a:lnSpc>
              <a:buNone/>
            </a:pPr>
            <a:r>
              <a:rPr lang="en-US" sz="1350" dirty="0">
                <a:solidFill>
                  <a:schemeClr val="tx1"/>
                </a:solidFill>
              </a:rPr>
              <a:t>I ran the monthly audit: reviewing billing records against account details and flagging anything that needed correction before the cycle closed.</a:t>
            </a:r>
            <a:endParaRPr lang="en-US" sz="1350" dirty="0"/>
          </a:p>
        </p:txBody>
      </p:sp>
      <p:sp>
        <p:nvSpPr>
          <p:cNvPr id="11" name="PROCESS panel"/>
          <p:cNvSpPr/>
          <p:nvPr/>
        </p:nvSpPr>
        <p:spPr>
          <a:xfrm>
            <a:off x="6187288" y="1828800"/>
            <a:ext cx="2636444" cy="3749040"/>
          </a:xfrm>
          <a:prstGeom prst="roundRect">
            <a:avLst>
              <a:gd name="adj" fmla="val 2775"/>
            </a:avLst>
          </a:prstGeom>
          <a:solidFill>
            <a:schemeClr val="bg1"/>
          </a:solidFill>
          <a:ln w="9525">
            <a:solidFill>
              <a:schemeClr val="accent4"/>
            </a:solidFill>
            <a:prstDash val="solid"/>
          </a:ln>
        </p:spPr>
      </p:sp>
      <p:sp>
        <p:nvSpPr>
          <p:cNvPr id="12" name="Text 10"/>
          <p:cNvSpPr txBox="1"/>
          <p:nvPr/>
        </p:nvSpPr>
        <p:spPr>
          <a:xfrm>
            <a:off x="6461608" y="2103120"/>
            <a:ext cx="2087804" cy="274320"/>
          </a:xfrm>
          <a:prstGeom prst="rect">
            <a:avLst/>
          </a:prstGeom>
          <a:noFill/>
          <a:ln/>
        </p:spPr>
        <p:txBody>
          <a:bodyPr wrap="square" lIns="0" tIns="0" rIns="0" bIns="0" rtlCol="0" anchor="ctr"/>
          <a:lstStyle/>
          <a:p>
            <a:pPr indent="0" marL="0">
              <a:buNone/>
            </a:pPr>
            <a:r>
              <a:rPr lang="en-US" sz="1050" b="1" spc="200" kern="0" dirty="0">
                <a:solidFill>
                  <a:schemeClr val="tx2"/>
                </a:solidFill>
              </a:rPr>
              <a:t>PROCESS  →</a:t>
            </a:r>
            <a:endParaRPr lang="en-US" sz="1050" dirty="0"/>
          </a:p>
        </p:txBody>
      </p:sp>
      <p:sp>
        <p:nvSpPr>
          <p:cNvPr id="13" name="Text 11"/>
          <p:cNvSpPr txBox="1"/>
          <p:nvPr/>
        </p:nvSpPr>
        <p:spPr>
          <a:xfrm>
            <a:off x="6461608" y="2560320"/>
            <a:ext cx="2087804" cy="2743200"/>
          </a:xfrm>
          <a:prstGeom prst="rect">
            <a:avLst/>
          </a:prstGeom>
          <a:noFill/>
          <a:ln/>
        </p:spPr>
        <p:txBody>
          <a:bodyPr wrap="square" lIns="0" tIns="0" rIns="0" bIns="0" rtlCol="0" anchor="t"/>
          <a:lstStyle/>
          <a:p>
            <a:pPr marL="152400" indent="-152400">
              <a:lnSpc>
                <a:spcPct val="110000"/>
              </a:lnSpc>
              <a:spcAft>
                <a:spcPts val="800"/>
              </a:spcAft>
              <a:buSzPct val="100000"/>
              <a:buChar char="•"/>
            </a:pPr>
            <a:r>
              <a:rPr lang="en-US" sz="1350" dirty="0">
                <a:solidFill>
                  <a:schemeClr val="tx1"/>
                </a:solidFill>
              </a:rPr>
              <a:t>Pulled billing and account data into one sheet</a:t>
            </a:r>
            <a:endParaRPr lang="en-US" sz="1350" dirty="0"/>
          </a:p>
          <a:p>
            <a:pPr marL="152400" indent="-152400">
              <a:lnSpc>
                <a:spcPct val="110000"/>
              </a:lnSpc>
              <a:spcAft>
                <a:spcPts val="800"/>
              </a:spcAft>
              <a:buSzPct val="100000"/>
              <a:buChar char="•"/>
            </a:pPr>
            <a:r>
              <a:rPr lang="en-US" sz="1350" dirty="0">
                <a:solidFill>
                  <a:schemeClr val="tx1"/>
                </a:solidFill>
              </a:rPr>
              <a:t>Checked rates, billing dates, and account status line by line</a:t>
            </a:r>
            <a:endParaRPr lang="en-US" sz="1350" dirty="0"/>
          </a:p>
          <a:p>
            <a:pPr marL="152400" indent="-152400">
              <a:lnSpc>
                <a:spcPct val="110000"/>
              </a:lnSpc>
              <a:spcAft>
                <a:spcPts val="800"/>
              </a:spcAft>
              <a:buSzPct val="100000"/>
              <a:buChar char="•"/>
            </a:pPr>
            <a:r>
              <a:rPr lang="en-US" sz="1350" dirty="0">
                <a:solidFill>
                  <a:schemeClr val="tx1"/>
                </a:solidFill>
              </a:rPr>
              <a:t>Logged each discrepancy with its source</a:t>
            </a:r>
            <a:endParaRPr lang="en-US" sz="1350" dirty="0"/>
          </a:p>
          <a:p>
            <a:pPr marL="152400" indent="-152400">
              <a:lnSpc>
                <a:spcPct val="110000"/>
              </a:lnSpc>
              <a:spcAft>
                <a:spcPts val="800"/>
              </a:spcAft>
              <a:buSzPct val="100000"/>
              <a:buChar char="•"/>
            </a:pPr>
            <a:r>
              <a:rPr lang="en-US" sz="1350" dirty="0">
                <a:solidFill>
                  <a:schemeClr val="tx1"/>
                </a:solidFill>
              </a:rPr>
              <a:t>Shared findings and tracked fixes</a:t>
            </a:r>
            <a:endParaRPr lang="en-US" sz="1350" dirty="0"/>
          </a:p>
        </p:txBody>
      </p:sp>
      <p:sp>
        <p:nvSpPr>
          <p:cNvPr id="14" name="OUTCOME panel"/>
          <p:cNvSpPr/>
          <p:nvPr/>
        </p:nvSpPr>
        <p:spPr>
          <a:xfrm>
            <a:off x="9006611" y="1828800"/>
            <a:ext cx="2636444" cy="3749040"/>
          </a:xfrm>
          <a:prstGeom prst="roundRect">
            <a:avLst>
              <a:gd name="adj" fmla="val 2775"/>
            </a:avLst>
          </a:prstGeom>
          <a:solidFill>
            <a:schemeClr val="accent5"/>
          </a:solidFill>
          <a:ln w="9525">
            <a:solidFill>
              <a:schemeClr val="accent4"/>
            </a:solidFill>
            <a:prstDash val="solid"/>
          </a:ln>
        </p:spPr>
      </p:sp>
      <p:sp>
        <p:nvSpPr>
          <p:cNvPr id="15" name="Text 13"/>
          <p:cNvSpPr txBox="1"/>
          <p:nvPr/>
        </p:nvSpPr>
        <p:spPr>
          <a:xfrm>
            <a:off x="9280931" y="2103120"/>
            <a:ext cx="2087804" cy="274320"/>
          </a:xfrm>
          <a:prstGeom prst="rect">
            <a:avLst/>
          </a:prstGeom>
          <a:noFill/>
          <a:ln/>
        </p:spPr>
        <p:txBody>
          <a:bodyPr wrap="square" lIns="0" tIns="0" rIns="0" bIns="0" rtlCol="0" anchor="ctr"/>
          <a:lstStyle/>
          <a:p>
            <a:pPr indent="0" marL="0">
              <a:buNone/>
            </a:pPr>
            <a:r>
              <a:rPr lang="en-US" sz="1050" b="1" spc="200" kern="0" dirty="0">
                <a:solidFill>
                  <a:schemeClr val="tx2"/>
                </a:solidFill>
              </a:rPr>
              <a:t>OUTCOME</a:t>
            </a:r>
            <a:endParaRPr lang="en-US" sz="1050" dirty="0"/>
          </a:p>
        </p:txBody>
      </p:sp>
      <p:sp>
        <p:nvSpPr>
          <p:cNvPr id="16" name="Text 14"/>
          <p:cNvSpPr txBox="1"/>
          <p:nvPr/>
        </p:nvSpPr>
        <p:spPr>
          <a:xfrm>
            <a:off x="9280931" y="2560320"/>
            <a:ext cx="2087804" cy="2743200"/>
          </a:xfrm>
          <a:prstGeom prst="rect">
            <a:avLst/>
          </a:prstGeom>
          <a:noFill/>
          <a:ln/>
        </p:spPr>
        <p:txBody>
          <a:bodyPr wrap="square" lIns="0" tIns="0" rIns="0" bIns="0" rtlCol="0" anchor="t"/>
          <a:lstStyle/>
          <a:p>
            <a:pPr indent="0" marL="0">
              <a:lnSpc>
                <a:spcPct val="110000"/>
              </a:lnSpc>
              <a:buNone/>
            </a:pPr>
            <a:r>
              <a:rPr lang="en-US" sz="1350" dirty="0">
                <a:solidFill>
                  <a:schemeClr val="tx1"/>
                </a:solidFill>
              </a:rPr>
              <a:t>Discrepancies were found and documented before invoices went out, and the team had a clear record of what was reviewed and what changed each month.</a:t>
            </a:r>
            <a:endParaRPr lang="en-US" sz="13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7315200" cy="274320"/>
          </a:xfrm>
          <a:prstGeom prst="rect">
            <a:avLst/>
          </a:prstGeom>
          <a:noFill/>
          <a:ln/>
        </p:spPr>
        <p:txBody>
          <a:bodyPr wrap="square" lIns="0" tIns="0" rIns="0" bIns="0" rtlCol="0"/>
          <a:lstStyle/>
          <a:p>
            <a:pPr indent="0" marL="0">
              <a:buNone/>
            </a:pPr>
            <a:r>
              <a:rPr lang="en-US" sz="1100" b="1" spc="300" kern="0" dirty="0">
                <a:solidFill>
                  <a:schemeClr val="tx2"/>
                </a:solidFill>
                <a:latin typeface="Calibri" pitchFamily="34" charset="0"/>
                <a:ea typeface="Calibri" pitchFamily="34" charset="-122"/>
                <a:cs typeface="Calibri" pitchFamily="34" charset="-120"/>
              </a:rPr>
              <a:t>CASE STUDY 2 OF 4  ·  BILLING &amp; INVOICING</a:t>
            </a:r>
            <a:endParaRPr lang="en-US" sz="1100" dirty="0"/>
          </a:p>
        </p:txBody>
      </p:sp>
      <p:sp>
        <p:nvSpPr>
          <p:cNvPr id="3" name="Text 0"/>
          <p:cNvSpPr/>
          <p:nvPr>
            <p:ph idx="101" type="title" hasCustomPrompt="1"/>
          </p:nvPr>
        </p:nvSpPr>
        <p:spPr>
          <a:xfrm>
            <a:off x="548640" y="731520"/>
            <a:ext cx="10972800" cy="77724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Recurring Billing Management</a:t>
            </a:r>
            <a:endParaRPr lang="en-US" sz="3400" dirty="0"/>
          </a:p>
        </p:txBody>
      </p:sp>
      <p:sp>
        <p:nvSpPr>
          <p:cNvPr id="4" name="Text 2"/>
          <p:cNvSpPr txBox="1"/>
          <p:nvPr/>
        </p:nvSpPr>
        <p:spPr>
          <a:xfrm>
            <a:off x="8439912" y="384048"/>
            <a:ext cx="3200400" cy="292608"/>
          </a:xfrm>
          <a:prstGeom prst="rect">
            <a:avLst/>
          </a:prstGeom>
          <a:noFill/>
          <a:ln/>
        </p:spPr>
        <p:txBody>
          <a:bodyPr wrap="square" lIns="0" tIns="0" rIns="0" bIns="0" rtlCol="0" anchor="ctr"/>
          <a:lstStyle/>
          <a:p>
            <a:pPr algn="r" indent="0" marL="0">
              <a:buNone/>
            </a:pPr>
            <a:r>
              <a:rPr lang="en-US" sz="1000" i="1" dirty="0">
                <a:solidFill>
                  <a:schemeClr val="accent3"/>
                </a:solidFill>
              </a:rPr>
              <a:t>Representative, anonymized example</a:t>
            </a:r>
            <a:endParaRPr lang="en-US" sz="1000" dirty="0"/>
          </a:p>
        </p:txBody>
      </p:sp>
      <p:sp>
        <p:nvSpPr>
          <p:cNvPr id="5" name="CHALLENGE panel"/>
          <p:cNvSpPr/>
          <p:nvPr/>
        </p:nvSpPr>
        <p:spPr>
          <a:xfrm>
            <a:off x="548640" y="1828800"/>
            <a:ext cx="2636444" cy="3749040"/>
          </a:xfrm>
          <a:prstGeom prst="roundRect">
            <a:avLst>
              <a:gd name="adj" fmla="val 2775"/>
            </a:avLst>
          </a:prstGeom>
          <a:solidFill>
            <a:schemeClr val="bg1"/>
          </a:solidFill>
          <a:ln w="9525">
            <a:solidFill>
              <a:schemeClr val="accent4"/>
            </a:solidFill>
            <a:prstDash val="solid"/>
          </a:ln>
        </p:spPr>
      </p:sp>
      <p:sp>
        <p:nvSpPr>
          <p:cNvPr id="6" name="Text 4"/>
          <p:cNvSpPr txBox="1"/>
          <p:nvPr/>
        </p:nvSpPr>
        <p:spPr>
          <a:xfrm>
            <a:off x="822960" y="2103120"/>
            <a:ext cx="2087804" cy="274320"/>
          </a:xfrm>
          <a:prstGeom prst="rect">
            <a:avLst/>
          </a:prstGeom>
          <a:noFill/>
          <a:ln/>
        </p:spPr>
        <p:txBody>
          <a:bodyPr wrap="square" lIns="0" tIns="0" rIns="0" bIns="0" rtlCol="0" anchor="ctr"/>
          <a:lstStyle/>
          <a:p>
            <a:pPr indent="0" marL="0">
              <a:buNone/>
            </a:pPr>
            <a:r>
              <a:rPr lang="en-US" sz="1050" b="1" spc="200" kern="0" dirty="0">
                <a:solidFill>
                  <a:schemeClr val="tx2"/>
                </a:solidFill>
              </a:rPr>
              <a:t>CHALLENGE  →</a:t>
            </a:r>
            <a:endParaRPr lang="en-US" sz="1050" dirty="0"/>
          </a:p>
        </p:txBody>
      </p:sp>
      <p:sp>
        <p:nvSpPr>
          <p:cNvPr id="7" name="Text 5"/>
          <p:cNvSpPr txBox="1"/>
          <p:nvPr/>
        </p:nvSpPr>
        <p:spPr>
          <a:xfrm>
            <a:off x="822960" y="2560320"/>
            <a:ext cx="2087804" cy="2743200"/>
          </a:xfrm>
          <a:prstGeom prst="rect">
            <a:avLst/>
          </a:prstGeom>
          <a:noFill/>
          <a:ln/>
        </p:spPr>
        <p:txBody>
          <a:bodyPr wrap="square" lIns="0" tIns="0" rIns="0" bIns="0" rtlCol="0" anchor="t"/>
          <a:lstStyle/>
          <a:p>
            <a:pPr indent="0" marL="0">
              <a:lnSpc>
                <a:spcPct val="110000"/>
              </a:lnSpc>
              <a:buNone/>
            </a:pPr>
            <a:r>
              <a:rPr lang="en-US" sz="1350" dirty="0">
                <a:solidFill>
                  <a:schemeClr val="tx1"/>
                </a:solidFill>
              </a:rPr>
              <a:t>Recurring client billing had to reflect mid-cycle changes such as upgrades, downgrades, credits, and cancellations, each needing the right adjustment on the right date.</a:t>
            </a:r>
            <a:endParaRPr lang="en-US" sz="1350" dirty="0"/>
          </a:p>
        </p:txBody>
      </p:sp>
      <p:sp>
        <p:nvSpPr>
          <p:cNvPr id="8" name="MY ROLE panel"/>
          <p:cNvSpPr/>
          <p:nvPr/>
        </p:nvSpPr>
        <p:spPr>
          <a:xfrm>
            <a:off x="3367964" y="1828800"/>
            <a:ext cx="2636444" cy="3749040"/>
          </a:xfrm>
          <a:prstGeom prst="roundRect">
            <a:avLst>
              <a:gd name="adj" fmla="val 2775"/>
            </a:avLst>
          </a:prstGeom>
          <a:solidFill>
            <a:schemeClr val="bg1"/>
          </a:solidFill>
          <a:ln w="9525">
            <a:solidFill>
              <a:schemeClr val="accent4"/>
            </a:solidFill>
            <a:prstDash val="solid"/>
          </a:ln>
        </p:spPr>
      </p:sp>
      <p:sp>
        <p:nvSpPr>
          <p:cNvPr id="9" name="Text 7"/>
          <p:cNvSpPr txBox="1"/>
          <p:nvPr/>
        </p:nvSpPr>
        <p:spPr>
          <a:xfrm>
            <a:off x="3642284" y="2103120"/>
            <a:ext cx="2087804" cy="274320"/>
          </a:xfrm>
          <a:prstGeom prst="rect">
            <a:avLst/>
          </a:prstGeom>
          <a:noFill/>
          <a:ln/>
        </p:spPr>
        <p:txBody>
          <a:bodyPr wrap="square" lIns="0" tIns="0" rIns="0" bIns="0" rtlCol="0" anchor="ctr"/>
          <a:lstStyle/>
          <a:p>
            <a:pPr indent="0" marL="0">
              <a:buNone/>
            </a:pPr>
            <a:r>
              <a:rPr lang="en-US" sz="1050" b="1" spc="200" kern="0" dirty="0">
                <a:solidFill>
                  <a:schemeClr val="tx2"/>
                </a:solidFill>
              </a:rPr>
              <a:t>MY ROLE  →</a:t>
            </a:r>
            <a:endParaRPr lang="en-US" sz="1050" dirty="0"/>
          </a:p>
        </p:txBody>
      </p:sp>
      <p:sp>
        <p:nvSpPr>
          <p:cNvPr id="10" name="Text 8"/>
          <p:cNvSpPr txBox="1"/>
          <p:nvPr/>
        </p:nvSpPr>
        <p:spPr>
          <a:xfrm>
            <a:off x="3642284" y="2560320"/>
            <a:ext cx="2087804" cy="2743200"/>
          </a:xfrm>
          <a:prstGeom prst="rect">
            <a:avLst/>
          </a:prstGeom>
          <a:noFill/>
          <a:ln/>
        </p:spPr>
        <p:txBody>
          <a:bodyPr wrap="square" lIns="0" tIns="0" rIns="0" bIns="0" rtlCol="0" anchor="t"/>
          <a:lstStyle/>
          <a:p>
            <a:pPr indent="0" marL="0">
              <a:lnSpc>
                <a:spcPct val="110000"/>
              </a:lnSpc>
              <a:buNone/>
            </a:pPr>
            <a:r>
              <a:rPr lang="en-US" sz="1350" dirty="0">
                <a:solidFill>
                  <a:schemeClr val="tx1"/>
                </a:solidFill>
              </a:rPr>
              <a:t>I managed recurring billing: monitoring billing dates, applying proration and adjustments, and keeping subscription records current.</a:t>
            </a:r>
            <a:endParaRPr lang="en-US" sz="1350" dirty="0"/>
          </a:p>
        </p:txBody>
      </p:sp>
      <p:sp>
        <p:nvSpPr>
          <p:cNvPr id="11" name="PROCESS panel"/>
          <p:cNvSpPr/>
          <p:nvPr/>
        </p:nvSpPr>
        <p:spPr>
          <a:xfrm>
            <a:off x="6187288" y="1828800"/>
            <a:ext cx="2636444" cy="3749040"/>
          </a:xfrm>
          <a:prstGeom prst="roundRect">
            <a:avLst>
              <a:gd name="adj" fmla="val 2775"/>
            </a:avLst>
          </a:prstGeom>
          <a:solidFill>
            <a:schemeClr val="bg1"/>
          </a:solidFill>
          <a:ln w="9525">
            <a:solidFill>
              <a:schemeClr val="accent4"/>
            </a:solidFill>
            <a:prstDash val="solid"/>
          </a:ln>
        </p:spPr>
      </p:sp>
      <p:sp>
        <p:nvSpPr>
          <p:cNvPr id="12" name="Text 10"/>
          <p:cNvSpPr txBox="1"/>
          <p:nvPr/>
        </p:nvSpPr>
        <p:spPr>
          <a:xfrm>
            <a:off x="6461608" y="2103120"/>
            <a:ext cx="2087804" cy="274320"/>
          </a:xfrm>
          <a:prstGeom prst="rect">
            <a:avLst/>
          </a:prstGeom>
          <a:noFill/>
          <a:ln/>
        </p:spPr>
        <p:txBody>
          <a:bodyPr wrap="square" lIns="0" tIns="0" rIns="0" bIns="0" rtlCol="0" anchor="ctr"/>
          <a:lstStyle/>
          <a:p>
            <a:pPr indent="0" marL="0">
              <a:buNone/>
            </a:pPr>
            <a:r>
              <a:rPr lang="en-US" sz="1050" b="1" spc="200" kern="0" dirty="0">
                <a:solidFill>
                  <a:schemeClr val="tx2"/>
                </a:solidFill>
              </a:rPr>
              <a:t>PROCESS  →</a:t>
            </a:r>
            <a:endParaRPr lang="en-US" sz="1050" dirty="0"/>
          </a:p>
        </p:txBody>
      </p:sp>
      <p:sp>
        <p:nvSpPr>
          <p:cNvPr id="13" name="Text 11"/>
          <p:cNvSpPr txBox="1"/>
          <p:nvPr/>
        </p:nvSpPr>
        <p:spPr>
          <a:xfrm>
            <a:off x="6461608" y="2560320"/>
            <a:ext cx="2087804" cy="2743200"/>
          </a:xfrm>
          <a:prstGeom prst="rect">
            <a:avLst/>
          </a:prstGeom>
          <a:noFill/>
          <a:ln/>
        </p:spPr>
        <p:txBody>
          <a:bodyPr wrap="square" lIns="0" tIns="0" rIns="0" bIns="0" rtlCol="0" anchor="t"/>
          <a:lstStyle/>
          <a:p>
            <a:pPr marL="152400" indent="-152400">
              <a:lnSpc>
                <a:spcPct val="110000"/>
              </a:lnSpc>
              <a:spcAft>
                <a:spcPts val="800"/>
              </a:spcAft>
              <a:buSzPct val="100000"/>
              <a:buChar char="•"/>
            </a:pPr>
            <a:r>
              <a:rPr lang="en-US" sz="1350" dirty="0">
                <a:solidFill>
                  <a:schemeClr val="tx1"/>
                </a:solidFill>
              </a:rPr>
              <a:t>Monitored upcoming billing dates</a:t>
            </a:r>
            <a:endParaRPr lang="en-US" sz="1350" dirty="0"/>
          </a:p>
          <a:p>
            <a:pPr marL="152400" indent="-152400">
              <a:lnSpc>
                <a:spcPct val="110000"/>
              </a:lnSpc>
              <a:spcAft>
                <a:spcPts val="800"/>
              </a:spcAft>
              <a:buSzPct val="100000"/>
              <a:buChar char="•"/>
            </a:pPr>
            <a:r>
              <a:rPr lang="en-US" sz="1350" dirty="0">
                <a:solidFill>
                  <a:schemeClr val="tx1"/>
                </a:solidFill>
              </a:rPr>
              <a:t>Calculated proration for mid-cycle changes</a:t>
            </a:r>
            <a:endParaRPr lang="en-US" sz="1350" dirty="0"/>
          </a:p>
          <a:p>
            <a:pPr marL="152400" indent="-152400">
              <a:lnSpc>
                <a:spcPct val="110000"/>
              </a:lnSpc>
              <a:spcAft>
                <a:spcPts val="800"/>
              </a:spcAft>
              <a:buSzPct val="100000"/>
              <a:buChar char="•"/>
            </a:pPr>
            <a:r>
              <a:rPr lang="en-US" sz="1350" dirty="0">
                <a:solidFill>
                  <a:schemeClr val="tx1"/>
                </a:solidFill>
              </a:rPr>
              <a:t>Applied credits, refunds, and rate adjustments</a:t>
            </a:r>
            <a:endParaRPr lang="en-US" sz="1350" dirty="0"/>
          </a:p>
          <a:p>
            <a:pPr marL="152400" indent="-152400">
              <a:lnSpc>
                <a:spcPct val="110000"/>
              </a:lnSpc>
              <a:spcAft>
                <a:spcPts val="800"/>
              </a:spcAft>
              <a:buSzPct val="100000"/>
              <a:buChar char="•"/>
            </a:pPr>
            <a:r>
              <a:rPr lang="en-US" sz="1350" dirty="0">
                <a:solidFill>
                  <a:schemeClr val="tx1"/>
                </a:solidFill>
              </a:rPr>
              <a:t>Updated subscription records and noted each change</a:t>
            </a:r>
            <a:endParaRPr lang="en-US" sz="1350" dirty="0"/>
          </a:p>
        </p:txBody>
      </p:sp>
      <p:sp>
        <p:nvSpPr>
          <p:cNvPr id="14" name="OUTCOME panel"/>
          <p:cNvSpPr/>
          <p:nvPr/>
        </p:nvSpPr>
        <p:spPr>
          <a:xfrm>
            <a:off x="9006611" y="1828800"/>
            <a:ext cx="2636444" cy="3749040"/>
          </a:xfrm>
          <a:prstGeom prst="roundRect">
            <a:avLst>
              <a:gd name="adj" fmla="val 2775"/>
            </a:avLst>
          </a:prstGeom>
          <a:solidFill>
            <a:schemeClr val="accent5"/>
          </a:solidFill>
          <a:ln w="9525">
            <a:solidFill>
              <a:schemeClr val="accent4"/>
            </a:solidFill>
            <a:prstDash val="solid"/>
          </a:ln>
        </p:spPr>
      </p:sp>
      <p:sp>
        <p:nvSpPr>
          <p:cNvPr id="15" name="Text 13"/>
          <p:cNvSpPr txBox="1"/>
          <p:nvPr/>
        </p:nvSpPr>
        <p:spPr>
          <a:xfrm>
            <a:off x="9280931" y="2103120"/>
            <a:ext cx="2087804" cy="274320"/>
          </a:xfrm>
          <a:prstGeom prst="rect">
            <a:avLst/>
          </a:prstGeom>
          <a:noFill/>
          <a:ln/>
        </p:spPr>
        <p:txBody>
          <a:bodyPr wrap="square" lIns="0" tIns="0" rIns="0" bIns="0" rtlCol="0" anchor="ctr"/>
          <a:lstStyle/>
          <a:p>
            <a:pPr indent="0" marL="0">
              <a:buNone/>
            </a:pPr>
            <a:r>
              <a:rPr lang="en-US" sz="1050" b="1" spc="200" kern="0" dirty="0">
                <a:solidFill>
                  <a:schemeClr val="tx2"/>
                </a:solidFill>
              </a:rPr>
              <a:t>OUTCOME</a:t>
            </a:r>
            <a:endParaRPr lang="en-US" sz="1050" dirty="0"/>
          </a:p>
        </p:txBody>
      </p:sp>
      <p:sp>
        <p:nvSpPr>
          <p:cNvPr id="16" name="Text 14"/>
          <p:cNvSpPr txBox="1"/>
          <p:nvPr/>
        </p:nvSpPr>
        <p:spPr>
          <a:xfrm>
            <a:off x="9280931" y="2560320"/>
            <a:ext cx="2087804" cy="2743200"/>
          </a:xfrm>
          <a:prstGeom prst="rect">
            <a:avLst/>
          </a:prstGeom>
          <a:noFill/>
          <a:ln/>
        </p:spPr>
        <p:txBody>
          <a:bodyPr wrap="square" lIns="0" tIns="0" rIns="0" bIns="0" rtlCol="0" anchor="t"/>
          <a:lstStyle/>
          <a:p>
            <a:pPr indent="0" marL="0">
              <a:lnSpc>
                <a:spcPct val="110000"/>
              </a:lnSpc>
              <a:buNone/>
            </a:pPr>
            <a:r>
              <a:rPr lang="en-US" sz="1350" dirty="0">
                <a:solidFill>
                  <a:schemeClr val="tx1"/>
                </a:solidFill>
              </a:rPr>
              <a:t>Invoices reflected each client's current terms, and every adjustment had a documented reason the team could refer back to.</a:t>
            </a:r>
            <a:endParaRPr lang="en-US" sz="13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7315200" cy="274320"/>
          </a:xfrm>
          <a:prstGeom prst="rect">
            <a:avLst/>
          </a:prstGeom>
          <a:noFill/>
          <a:ln/>
        </p:spPr>
        <p:txBody>
          <a:bodyPr wrap="square" lIns="0" tIns="0" rIns="0" bIns="0" rtlCol="0"/>
          <a:lstStyle/>
          <a:p>
            <a:pPr indent="0" marL="0">
              <a:buNone/>
            </a:pPr>
            <a:r>
              <a:rPr lang="en-US" sz="1100" b="1" spc="300" kern="0" dirty="0">
                <a:solidFill>
                  <a:schemeClr val="tx2"/>
                </a:solidFill>
                <a:latin typeface="Calibri" pitchFamily="34" charset="0"/>
                <a:ea typeface="Calibri" pitchFamily="34" charset="-122"/>
                <a:cs typeface="Calibri" pitchFamily="34" charset="-120"/>
              </a:rPr>
              <a:t>CASE STUDY 3 OF 4  ·  FINANCE OPERATIONS</a:t>
            </a:r>
            <a:endParaRPr lang="en-US" sz="1100" dirty="0"/>
          </a:p>
        </p:txBody>
      </p:sp>
      <p:sp>
        <p:nvSpPr>
          <p:cNvPr id="3" name="Text 0"/>
          <p:cNvSpPr/>
          <p:nvPr>
            <p:ph idx="101" type="title" hasCustomPrompt="1"/>
          </p:nvPr>
        </p:nvSpPr>
        <p:spPr>
          <a:xfrm>
            <a:off x="548640" y="731520"/>
            <a:ext cx="10972800" cy="77724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Payment &amp; Contractor Coordination</a:t>
            </a:r>
            <a:endParaRPr lang="en-US" sz="3400" dirty="0"/>
          </a:p>
        </p:txBody>
      </p:sp>
      <p:sp>
        <p:nvSpPr>
          <p:cNvPr id="4" name="Text 2"/>
          <p:cNvSpPr txBox="1"/>
          <p:nvPr/>
        </p:nvSpPr>
        <p:spPr>
          <a:xfrm>
            <a:off x="8439912" y="384048"/>
            <a:ext cx="3200400" cy="292608"/>
          </a:xfrm>
          <a:prstGeom prst="rect">
            <a:avLst/>
          </a:prstGeom>
          <a:noFill/>
          <a:ln/>
        </p:spPr>
        <p:txBody>
          <a:bodyPr wrap="square" lIns="0" tIns="0" rIns="0" bIns="0" rtlCol="0" anchor="ctr"/>
          <a:lstStyle/>
          <a:p>
            <a:pPr algn="r" indent="0" marL="0">
              <a:buNone/>
            </a:pPr>
            <a:r>
              <a:rPr lang="en-US" sz="1000" i="1" dirty="0">
                <a:solidFill>
                  <a:schemeClr val="accent3"/>
                </a:solidFill>
              </a:rPr>
              <a:t>Representative, anonymized example</a:t>
            </a:r>
            <a:endParaRPr lang="en-US" sz="1000" dirty="0"/>
          </a:p>
        </p:txBody>
      </p:sp>
      <p:sp>
        <p:nvSpPr>
          <p:cNvPr id="5" name="CHALLENGE panel"/>
          <p:cNvSpPr/>
          <p:nvPr/>
        </p:nvSpPr>
        <p:spPr>
          <a:xfrm>
            <a:off x="548640" y="1828800"/>
            <a:ext cx="2636444" cy="3749040"/>
          </a:xfrm>
          <a:prstGeom prst="roundRect">
            <a:avLst>
              <a:gd name="adj" fmla="val 2775"/>
            </a:avLst>
          </a:prstGeom>
          <a:solidFill>
            <a:schemeClr val="bg1"/>
          </a:solidFill>
          <a:ln w="9525">
            <a:solidFill>
              <a:schemeClr val="accent4"/>
            </a:solidFill>
            <a:prstDash val="solid"/>
          </a:ln>
        </p:spPr>
      </p:sp>
      <p:sp>
        <p:nvSpPr>
          <p:cNvPr id="6" name="Text 4"/>
          <p:cNvSpPr txBox="1"/>
          <p:nvPr/>
        </p:nvSpPr>
        <p:spPr>
          <a:xfrm>
            <a:off x="822960" y="2103120"/>
            <a:ext cx="2087804" cy="274320"/>
          </a:xfrm>
          <a:prstGeom prst="rect">
            <a:avLst/>
          </a:prstGeom>
          <a:noFill/>
          <a:ln/>
        </p:spPr>
        <p:txBody>
          <a:bodyPr wrap="square" lIns="0" tIns="0" rIns="0" bIns="0" rtlCol="0" anchor="ctr"/>
          <a:lstStyle/>
          <a:p>
            <a:pPr indent="0" marL="0">
              <a:buNone/>
            </a:pPr>
            <a:r>
              <a:rPr lang="en-US" sz="1050" b="1" spc="200" kern="0" dirty="0">
                <a:solidFill>
                  <a:schemeClr val="tx2"/>
                </a:solidFill>
              </a:rPr>
              <a:t>CHALLENGE  →</a:t>
            </a:r>
            <a:endParaRPr lang="en-US" sz="1050" dirty="0"/>
          </a:p>
        </p:txBody>
      </p:sp>
      <p:sp>
        <p:nvSpPr>
          <p:cNvPr id="7" name="Text 5"/>
          <p:cNvSpPr txBox="1"/>
          <p:nvPr/>
        </p:nvSpPr>
        <p:spPr>
          <a:xfrm>
            <a:off x="822960" y="2560320"/>
            <a:ext cx="2087804" cy="2743200"/>
          </a:xfrm>
          <a:prstGeom prst="rect">
            <a:avLst/>
          </a:prstGeom>
          <a:noFill/>
          <a:ln/>
        </p:spPr>
        <p:txBody>
          <a:bodyPr wrap="square" lIns="0" tIns="0" rIns="0" bIns="0" rtlCol="0" anchor="t"/>
          <a:lstStyle/>
          <a:p>
            <a:pPr indent="0" marL="0">
              <a:lnSpc>
                <a:spcPct val="110000"/>
              </a:lnSpc>
              <a:buNone/>
            </a:pPr>
            <a:r>
              <a:rPr lang="en-US" sz="1350" dirty="0">
                <a:solidFill>
                  <a:schemeClr val="tx1"/>
                </a:solidFill>
              </a:rPr>
              <a:t>Contractor payments involved several inputs, including rate changes and bonuses, that had to be confirmed with different people before each payment run.</a:t>
            </a:r>
            <a:endParaRPr lang="en-US" sz="1350" dirty="0"/>
          </a:p>
        </p:txBody>
      </p:sp>
      <p:sp>
        <p:nvSpPr>
          <p:cNvPr id="8" name="MY ROLE panel"/>
          <p:cNvSpPr/>
          <p:nvPr/>
        </p:nvSpPr>
        <p:spPr>
          <a:xfrm>
            <a:off x="3367964" y="1828800"/>
            <a:ext cx="2636444" cy="3749040"/>
          </a:xfrm>
          <a:prstGeom prst="roundRect">
            <a:avLst>
              <a:gd name="adj" fmla="val 2775"/>
            </a:avLst>
          </a:prstGeom>
          <a:solidFill>
            <a:schemeClr val="bg1"/>
          </a:solidFill>
          <a:ln w="9525">
            <a:solidFill>
              <a:schemeClr val="accent4"/>
            </a:solidFill>
            <a:prstDash val="solid"/>
          </a:ln>
        </p:spPr>
      </p:sp>
      <p:sp>
        <p:nvSpPr>
          <p:cNvPr id="9" name="Text 7"/>
          <p:cNvSpPr txBox="1"/>
          <p:nvPr/>
        </p:nvSpPr>
        <p:spPr>
          <a:xfrm>
            <a:off x="3642284" y="2103120"/>
            <a:ext cx="2087804" cy="274320"/>
          </a:xfrm>
          <a:prstGeom prst="rect">
            <a:avLst/>
          </a:prstGeom>
          <a:noFill/>
          <a:ln/>
        </p:spPr>
        <p:txBody>
          <a:bodyPr wrap="square" lIns="0" tIns="0" rIns="0" bIns="0" rtlCol="0" anchor="ctr"/>
          <a:lstStyle/>
          <a:p>
            <a:pPr indent="0" marL="0">
              <a:buNone/>
            </a:pPr>
            <a:r>
              <a:rPr lang="en-US" sz="1050" b="1" spc="200" kern="0" dirty="0">
                <a:solidFill>
                  <a:schemeClr val="tx2"/>
                </a:solidFill>
              </a:rPr>
              <a:t>MY ROLE  →</a:t>
            </a:r>
            <a:endParaRPr lang="en-US" sz="1050" dirty="0"/>
          </a:p>
        </p:txBody>
      </p:sp>
      <p:sp>
        <p:nvSpPr>
          <p:cNvPr id="10" name="Text 8"/>
          <p:cNvSpPr txBox="1"/>
          <p:nvPr/>
        </p:nvSpPr>
        <p:spPr>
          <a:xfrm>
            <a:off x="3642284" y="2560320"/>
            <a:ext cx="2087804" cy="2743200"/>
          </a:xfrm>
          <a:prstGeom prst="rect">
            <a:avLst/>
          </a:prstGeom>
          <a:noFill/>
          <a:ln/>
        </p:spPr>
        <p:txBody>
          <a:bodyPr wrap="square" lIns="0" tIns="0" rIns="0" bIns="0" rtlCol="0" anchor="t"/>
          <a:lstStyle/>
          <a:p>
            <a:pPr indent="0" marL="0">
              <a:lnSpc>
                <a:spcPct val="110000"/>
              </a:lnSpc>
              <a:buNone/>
            </a:pPr>
            <a:r>
              <a:rPr lang="en-US" sz="1350" dirty="0">
                <a:solidFill>
                  <a:schemeClr val="tx1"/>
                </a:solidFill>
              </a:rPr>
              <a:t>I coordinated payment details across teams, verified amounts and changes, and followed up on anything missing before payments were processed.</a:t>
            </a:r>
            <a:endParaRPr lang="en-US" sz="1350" dirty="0"/>
          </a:p>
        </p:txBody>
      </p:sp>
      <p:sp>
        <p:nvSpPr>
          <p:cNvPr id="11" name="PROCESS panel"/>
          <p:cNvSpPr/>
          <p:nvPr/>
        </p:nvSpPr>
        <p:spPr>
          <a:xfrm>
            <a:off x="6187288" y="1828800"/>
            <a:ext cx="2636444" cy="3749040"/>
          </a:xfrm>
          <a:prstGeom prst="roundRect">
            <a:avLst>
              <a:gd name="adj" fmla="val 2775"/>
            </a:avLst>
          </a:prstGeom>
          <a:solidFill>
            <a:schemeClr val="bg1"/>
          </a:solidFill>
          <a:ln w="9525">
            <a:solidFill>
              <a:schemeClr val="accent4"/>
            </a:solidFill>
            <a:prstDash val="solid"/>
          </a:ln>
        </p:spPr>
      </p:sp>
      <p:sp>
        <p:nvSpPr>
          <p:cNvPr id="12" name="Text 10"/>
          <p:cNvSpPr txBox="1"/>
          <p:nvPr/>
        </p:nvSpPr>
        <p:spPr>
          <a:xfrm>
            <a:off x="6461608" y="2103120"/>
            <a:ext cx="2087804" cy="274320"/>
          </a:xfrm>
          <a:prstGeom prst="rect">
            <a:avLst/>
          </a:prstGeom>
          <a:noFill/>
          <a:ln/>
        </p:spPr>
        <p:txBody>
          <a:bodyPr wrap="square" lIns="0" tIns="0" rIns="0" bIns="0" rtlCol="0" anchor="ctr"/>
          <a:lstStyle/>
          <a:p>
            <a:pPr indent="0" marL="0">
              <a:buNone/>
            </a:pPr>
            <a:r>
              <a:rPr lang="en-US" sz="1050" b="1" spc="200" kern="0" dirty="0">
                <a:solidFill>
                  <a:schemeClr val="tx2"/>
                </a:solidFill>
              </a:rPr>
              <a:t>PROCESS  →</a:t>
            </a:r>
            <a:endParaRPr lang="en-US" sz="1050" dirty="0"/>
          </a:p>
        </p:txBody>
      </p:sp>
      <p:sp>
        <p:nvSpPr>
          <p:cNvPr id="13" name="Text 11"/>
          <p:cNvSpPr txBox="1"/>
          <p:nvPr/>
        </p:nvSpPr>
        <p:spPr>
          <a:xfrm>
            <a:off x="6461608" y="2560320"/>
            <a:ext cx="2087804" cy="2743200"/>
          </a:xfrm>
          <a:prstGeom prst="rect">
            <a:avLst/>
          </a:prstGeom>
          <a:noFill/>
          <a:ln/>
        </p:spPr>
        <p:txBody>
          <a:bodyPr wrap="square" lIns="0" tIns="0" rIns="0" bIns="0" rtlCol="0" anchor="t"/>
          <a:lstStyle/>
          <a:p>
            <a:pPr marL="152400" indent="-152400">
              <a:lnSpc>
                <a:spcPct val="110000"/>
              </a:lnSpc>
              <a:spcAft>
                <a:spcPts val="800"/>
              </a:spcAft>
              <a:buSzPct val="100000"/>
              <a:buChar char="•"/>
            </a:pPr>
            <a:r>
              <a:rPr lang="en-US" sz="1350" dirty="0">
                <a:solidFill>
                  <a:schemeClr val="tx1"/>
                </a:solidFill>
              </a:rPr>
              <a:t>Collected rate changes and bonus details</a:t>
            </a:r>
            <a:endParaRPr lang="en-US" sz="1350" dirty="0"/>
          </a:p>
          <a:p>
            <a:pPr marL="152400" indent="-152400">
              <a:lnSpc>
                <a:spcPct val="110000"/>
              </a:lnSpc>
              <a:spcAft>
                <a:spcPts val="800"/>
              </a:spcAft>
              <a:buSzPct val="100000"/>
              <a:buChar char="•"/>
            </a:pPr>
            <a:r>
              <a:rPr lang="en-US" sz="1350" dirty="0">
                <a:solidFill>
                  <a:schemeClr val="tx1"/>
                </a:solidFill>
              </a:rPr>
              <a:t>Calculated bonuses and verified amounts</a:t>
            </a:r>
            <a:endParaRPr lang="en-US" sz="1350" dirty="0"/>
          </a:p>
          <a:p>
            <a:pPr marL="152400" indent="-152400">
              <a:lnSpc>
                <a:spcPct val="110000"/>
              </a:lnSpc>
              <a:spcAft>
                <a:spcPts val="800"/>
              </a:spcAft>
              <a:buSzPct val="100000"/>
              <a:buChar char="•"/>
            </a:pPr>
            <a:r>
              <a:rPr lang="en-US" sz="1350" dirty="0">
                <a:solidFill>
                  <a:schemeClr val="tx1"/>
                </a:solidFill>
              </a:rPr>
              <a:t>Confirmed open items with stakeholders</a:t>
            </a:r>
            <a:endParaRPr lang="en-US" sz="1350" dirty="0"/>
          </a:p>
          <a:p>
            <a:pPr marL="152400" indent="-152400">
              <a:lnSpc>
                <a:spcPct val="110000"/>
              </a:lnSpc>
              <a:spcAft>
                <a:spcPts val="800"/>
              </a:spcAft>
              <a:buSzPct val="100000"/>
              <a:buChar char="•"/>
            </a:pPr>
            <a:r>
              <a:rPr lang="en-US" sz="1350" dirty="0">
                <a:solidFill>
                  <a:schemeClr val="tx1"/>
                </a:solidFill>
              </a:rPr>
              <a:t>Tracked payment status to completion</a:t>
            </a:r>
            <a:endParaRPr lang="en-US" sz="1350" dirty="0"/>
          </a:p>
        </p:txBody>
      </p:sp>
      <p:sp>
        <p:nvSpPr>
          <p:cNvPr id="14" name="OUTCOME panel"/>
          <p:cNvSpPr/>
          <p:nvPr/>
        </p:nvSpPr>
        <p:spPr>
          <a:xfrm>
            <a:off x="9006611" y="1828800"/>
            <a:ext cx="2636444" cy="3749040"/>
          </a:xfrm>
          <a:prstGeom prst="roundRect">
            <a:avLst>
              <a:gd name="adj" fmla="val 2775"/>
            </a:avLst>
          </a:prstGeom>
          <a:solidFill>
            <a:schemeClr val="accent5"/>
          </a:solidFill>
          <a:ln w="9525">
            <a:solidFill>
              <a:schemeClr val="accent4"/>
            </a:solidFill>
            <a:prstDash val="solid"/>
          </a:ln>
        </p:spPr>
      </p:sp>
      <p:sp>
        <p:nvSpPr>
          <p:cNvPr id="15" name="Text 13"/>
          <p:cNvSpPr txBox="1"/>
          <p:nvPr/>
        </p:nvSpPr>
        <p:spPr>
          <a:xfrm>
            <a:off x="9280931" y="2103120"/>
            <a:ext cx="2087804" cy="274320"/>
          </a:xfrm>
          <a:prstGeom prst="rect">
            <a:avLst/>
          </a:prstGeom>
          <a:noFill/>
          <a:ln/>
        </p:spPr>
        <p:txBody>
          <a:bodyPr wrap="square" lIns="0" tIns="0" rIns="0" bIns="0" rtlCol="0" anchor="ctr"/>
          <a:lstStyle/>
          <a:p>
            <a:pPr indent="0" marL="0">
              <a:buNone/>
            </a:pPr>
            <a:r>
              <a:rPr lang="en-US" sz="1050" b="1" spc="200" kern="0" dirty="0">
                <a:solidFill>
                  <a:schemeClr val="tx2"/>
                </a:solidFill>
              </a:rPr>
              <a:t>OUTCOME</a:t>
            </a:r>
            <a:endParaRPr lang="en-US" sz="1050" dirty="0"/>
          </a:p>
        </p:txBody>
      </p:sp>
      <p:sp>
        <p:nvSpPr>
          <p:cNvPr id="16" name="Text 14"/>
          <p:cNvSpPr txBox="1"/>
          <p:nvPr/>
        </p:nvSpPr>
        <p:spPr>
          <a:xfrm>
            <a:off x="9280931" y="2560320"/>
            <a:ext cx="2087804" cy="2743200"/>
          </a:xfrm>
          <a:prstGeom prst="rect">
            <a:avLst/>
          </a:prstGeom>
          <a:noFill/>
          <a:ln/>
        </p:spPr>
        <p:txBody>
          <a:bodyPr wrap="square" lIns="0" tIns="0" rIns="0" bIns="0" rtlCol="0" anchor="t"/>
          <a:lstStyle/>
          <a:p>
            <a:pPr indent="0" marL="0">
              <a:lnSpc>
                <a:spcPct val="110000"/>
              </a:lnSpc>
              <a:buNone/>
            </a:pPr>
            <a:r>
              <a:rPr lang="en-US" sz="1350" dirty="0">
                <a:solidFill>
                  <a:schemeClr val="tx1"/>
                </a:solidFill>
              </a:rPr>
              <a:t>Payment runs went ahead with confirmed details, and open questions were resolved through documented follow-ups rather than last-minute fixes.</a:t>
            </a:r>
            <a:endParaRPr lang="en-US" sz="13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7315200" cy="274320"/>
          </a:xfrm>
          <a:prstGeom prst="rect">
            <a:avLst/>
          </a:prstGeom>
          <a:noFill/>
          <a:ln/>
        </p:spPr>
        <p:txBody>
          <a:bodyPr wrap="square" lIns="0" tIns="0" rIns="0" bIns="0" rtlCol="0"/>
          <a:lstStyle/>
          <a:p>
            <a:pPr indent="0" marL="0">
              <a:buNone/>
            </a:pPr>
            <a:r>
              <a:rPr lang="en-US" sz="1100" b="1" spc="300" kern="0" dirty="0">
                <a:solidFill>
                  <a:schemeClr val="tx2"/>
                </a:solidFill>
                <a:latin typeface="Calibri" pitchFamily="34" charset="0"/>
                <a:ea typeface="Calibri" pitchFamily="34" charset="-122"/>
                <a:cs typeface="Calibri" pitchFamily="34" charset="-120"/>
              </a:rPr>
              <a:t>CASE STUDY 4 OF 4  ·  ACCOUNT MANAGEMENT</a:t>
            </a:r>
            <a:endParaRPr lang="en-US" sz="1100" dirty="0"/>
          </a:p>
        </p:txBody>
      </p:sp>
      <p:sp>
        <p:nvSpPr>
          <p:cNvPr id="3" name="Text 0"/>
          <p:cNvSpPr/>
          <p:nvPr>
            <p:ph idx="101" type="title" hasCustomPrompt="1"/>
          </p:nvPr>
        </p:nvSpPr>
        <p:spPr>
          <a:xfrm>
            <a:off x="548640" y="731520"/>
            <a:ext cx="10972800" cy="77724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Billing &amp; Account Reconciliation</a:t>
            </a:r>
            <a:endParaRPr lang="en-US" sz="3400" dirty="0"/>
          </a:p>
        </p:txBody>
      </p:sp>
      <p:sp>
        <p:nvSpPr>
          <p:cNvPr id="4" name="Text 2"/>
          <p:cNvSpPr txBox="1"/>
          <p:nvPr/>
        </p:nvSpPr>
        <p:spPr>
          <a:xfrm>
            <a:off x="8439912" y="384048"/>
            <a:ext cx="3200400" cy="292608"/>
          </a:xfrm>
          <a:prstGeom prst="rect">
            <a:avLst/>
          </a:prstGeom>
          <a:noFill/>
          <a:ln/>
        </p:spPr>
        <p:txBody>
          <a:bodyPr wrap="square" lIns="0" tIns="0" rIns="0" bIns="0" rtlCol="0" anchor="ctr"/>
          <a:lstStyle/>
          <a:p>
            <a:pPr algn="r" indent="0" marL="0">
              <a:buNone/>
            </a:pPr>
            <a:r>
              <a:rPr lang="en-US" sz="1000" i="1" dirty="0">
                <a:solidFill>
                  <a:schemeClr val="accent3"/>
                </a:solidFill>
              </a:rPr>
              <a:t>Representative, anonymized example</a:t>
            </a:r>
            <a:endParaRPr lang="en-US" sz="1000" dirty="0"/>
          </a:p>
        </p:txBody>
      </p:sp>
      <p:sp>
        <p:nvSpPr>
          <p:cNvPr id="5" name="CHALLENGE panel"/>
          <p:cNvSpPr/>
          <p:nvPr/>
        </p:nvSpPr>
        <p:spPr>
          <a:xfrm>
            <a:off x="548640" y="1828800"/>
            <a:ext cx="2636444" cy="3749040"/>
          </a:xfrm>
          <a:prstGeom prst="roundRect">
            <a:avLst>
              <a:gd name="adj" fmla="val 2775"/>
            </a:avLst>
          </a:prstGeom>
          <a:solidFill>
            <a:schemeClr val="bg1"/>
          </a:solidFill>
          <a:ln w="9525">
            <a:solidFill>
              <a:schemeClr val="accent4"/>
            </a:solidFill>
            <a:prstDash val="solid"/>
          </a:ln>
        </p:spPr>
      </p:sp>
      <p:sp>
        <p:nvSpPr>
          <p:cNvPr id="6" name="Text 4"/>
          <p:cNvSpPr txBox="1"/>
          <p:nvPr/>
        </p:nvSpPr>
        <p:spPr>
          <a:xfrm>
            <a:off x="822960" y="2103120"/>
            <a:ext cx="2087804" cy="274320"/>
          </a:xfrm>
          <a:prstGeom prst="rect">
            <a:avLst/>
          </a:prstGeom>
          <a:noFill/>
          <a:ln/>
        </p:spPr>
        <p:txBody>
          <a:bodyPr wrap="square" lIns="0" tIns="0" rIns="0" bIns="0" rtlCol="0" anchor="ctr"/>
          <a:lstStyle/>
          <a:p>
            <a:pPr indent="0" marL="0">
              <a:buNone/>
            </a:pPr>
            <a:r>
              <a:rPr lang="en-US" sz="1050" b="1" spc="200" kern="0" dirty="0">
                <a:solidFill>
                  <a:schemeClr val="tx2"/>
                </a:solidFill>
              </a:rPr>
              <a:t>CHALLENGE  →</a:t>
            </a:r>
            <a:endParaRPr lang="en-US" sz="1050" dirty="0"/>
          </a:p>
        </p:txBody>
      </p:sp>
      <p:sp>
        <p:nvSpPr>
          <p:cNvPr id="7" name="Text 5"/>
          <p:cNvSpPr txBox="1"/>
          <p:nvPr/>
        </p:nvSpPr>
        <p:spPr>
          <a:xfrm>
            <a:off x="822960" y="2560320"/>
            <a:ext cx="2087804" cy="2743200"/>
          </a:xfrm>
          <a:prstGeom prst="rect">
            <a:avLst/>
          </a:prstGeom>
          <a:noFill/>
          <a:ln/>
        </p:spPr>
        <p:txBody>
          <a:bodyPr wrap="square" lIns="0" tIns="0" rIns="0" bIns="0" rtlCol="0" anchor="t"/>
          <a:lstStyle/>
          <a:p>
            <a:pPr indent="0" marL="0">
              <a:lnSpc>
                <a:spcPct val="110000"/>
              </a:lnSpc>
              <a:buNone/>
            </a:pPr>
            <a:r>
              <a:rPr lang="en-US" sz="1350" dirty="0">
                <a:solidFill>
                  <a:schemeClr val="tx1"/>
                </a:solidFill>
              </a:rPr>
              <a:t>Account records and billing records drifted apart over time as contracts changed, accounts closed, and terminations came through.</a:t>
            </a:r>
            <a:endParaRPr lang="en-US" sz="1350" dirty="0"/>
          </a:p>
        </p:txBody>
      </p:sp>
      <p:sp>
        <p:nvSpPr>
          <p:cNvPr id="8" name="MY ROLE panel"/>
          <p:cNvSpPr/>
          <p:nvPr/>
        </p:nvSpPr>
        <p:spPr>
          <a:xfrm>
            <a:off x="3367964" y="1828800"/>
            <a:ext cx="2636444" cy="3749040"/>
          </a:xfrm>
          <a:prstGeom prst="roundRect">
            <a:avLst>
              <a:gd name="adj" fmla="val 2775"/>
            </a:avLst>
          </a:prstGeom>
          <a:solidFill>
            <a:schemeClr val="bg1"/>
          </a:solidFill>
          <a:ln w="9525">
            <a:solidFill>
              <a:schemeClr val="accent4"/>
            </a:solidFill>
            <a:prstDash val="solid"/>
          </a:ln>
        </p:spPr>
      </p:sp>
      <p:sp>
        <p:nvSpPr>
          <p:cNvPr id="9" name="Text 7"/>
          <p:cNvSpPr txBox="1"/>
          <p:nvPr/>
        </p:nvSpPr>
        <p:spPr>
          <a:xfrm>
            <a:off x="3642284" y="2103120"/>
            <a:ext cx="2087804" cy="274320"/>
          </a:xfrm>
          <a:prstGeom prst="rect">
            <a:avLst/>
          </a:prstGeom>
          <a:noFill/>
          <a:ln/>
        </p:spPr>
        <p:txBody>
          <a:bodyPr wrap="square" lIns="0" tIns="0" rIns="0" bIns="0" rtlCol="0" anchor="ctr"/>
          <a:lstStyle/>
          <a:p>
            <a:pPr indent="0" marL="0">
              <a:buNone/>
            </a:pPr>
            <a:r>
              <a:rPr lang="en-US" sz="1050" b="1" spc="200" kern="0" dirty="0">
                <a:solidFill>
                  <a:schemeClr val="tx2"/>
                </a:solidFill>
              </a:rPr>
              <a:t>MY ROLE  →</a:t>
            </a:r>
            <a:endParaRPr lang="en-US" sz="1050" dirty="0"/>
          </a:p>
        </p:txBody>
      </p:sp>
      <p:sp>
        <p:nvSpPr>
          <p:cNvPr id="10" name="Text 8"/>
          <p:cNvSpPr txBox="1"/>
          <p:nvPr/>
        </p:nvSpPr>
        <p:spPr>
          <a:xfrm>
            <a:off x="3642284" y="2560320"/>
            <a:ext cx="2087804" cy="2743200"/>
          </a:xfrm>
          <a:prstGeom prst="rect">
            <a:avLst/>
          </a:prstGeom>
          <a:noFill/>
          <a:ln/>
        </p:spPr>
        <p:txBody>
          <a:bodyPr wrap="square" lIns="0" tIns="0" rIns="0" bIns="0" rtlCol="0" anchor="t"/>
          <a:lstStyle/>
          <a:p>
            <a:pPr indent="0" marL="0">
              <a:lnSpc>
                <a:spcPct val="110000"/>
              </a:lnSpc>
              <a:buNone/>
            </a:pPr>
            <a:r>
              <a:rPr lang="en-US" sz="1350" dirty="0">
                <a:solidFill>
                  <a:schemeClr val="tx1"/>
                </a:solidFill>
              </a:rPr>
              <a:t>I reconciled billing against account records, tracking active, closed, and terminated accounts so billing matched each account's real status.</a:t>
            </a:r>
            <a:endParaRPr lang="en-US" sz="1350" dirty="0"/>
          </a:p>
        </p:txBody>
      </p:sp>
      <p:sp>
        <p:nvSpPr>
          <p:cNvPr id="11" name="PROCESS panel"/>
          <p:cNvSpPr/>
          <p:nvPr/>
        </p:nvSpPr>
        <p:spPr>
          <a:xfrm>
            <a:off x="6187288" y="1828800"/>
            <a:ext cx="2636444" cy="3749040"/>
          </a:xfrm>
          <a:prstGeom prst="roundRect">
            <a:avLst>
              <a:gd name="adj" fmla="val 2775"/>
            </a:avLst>
          </a:prstGeom>
          <a:solidFill>
            <a:schemeClr val="bg1"/>
          </a:solidFill>
          <a:ln w="9525">
            <a:solidFill>
              <a:schemeClr val="accent4"/>
            </a:solidFill>
            <a:prstDash val="solid"/>
          </a:ln>
        </p:spPr>
      </p:sp>
      <p:sp>
        <p:nvSpPr>
          <p:cNvPr id="12" name="Text 10"/>
          <p:cNvSpPr txBox="1"/>
          <p:nvPr/>
        </p:nvSpPr>
        <p:spPr>
          <a:xfrm>
            <a:off x="6461608" y="2103120"/>
            <a:ext cx="2087804" cy="274320"/>
          </a:xfrm>
          <a:prstGeom prst="rect">
            <a:avLst/>
          </a:prstGeom>
          <a:noFill/>
          <a:ln/>
        </p:spPr>
        <p:txBody>
          <a:bodyPr wrap="square" lIns="0" tIns="0" rIns="0" bIns="0" rtlCol="0" anchor="ctr"/>
          <a:lstStyle/>
          <a:p>
            <a:pPr indent="0" marL="0">
              <a:buNone/>
            </a:pPr>
            <a:r>
              <a:rPr lang="en-US" sz="1050" b="1" spc="200" kern="0" dirty="0">
                <a:solidFill>
                  <a:schemeClr val="tx2"/>
                </a:solidFill>
              </a:rPr>
              <a:t>PROCESS  →</a:t>
            </a:r>
            <a:endParaRPr lang="en-US" sz="1050" dirty="0"/>
          </a:p>
        </p:txBody>
      </p:sp>
      <p:sp>
        <p:nvSpPr>
          <p:cNvPr id="13" name="Text 11"/>
          <p:cNvSpPr txBox="1"/>
          <p:nvPr/>
        </p:nvSpPr>
        <p:spPr>
          <a:xfrm>
            <a:off x="6461608" y="2560320"/>
            <a:ext cx="2087804" cy="2743200"/>
          </a:xfrm>
          <a:prstGeom prst="rect">
            <a:avLst/>
          </a:prstGeom>
          <a:noFill/>
          <a:ln/>
        </p:spPr>
        <p:txBody>
          <a:bodyPr wrap="square" lIns="0" tIns="0" rIns="0" bIns="0" rtlCol="0" anchor="t"/>
          <a:lstStyle/>
          <a:p>
            <a:pPr marL="152400" indent="-152400">
              <a:lnSpc>
                <a:spcPct val="110000"/>
              </a:lnSpc>
              <a:spcAft>
                <a:spcPts val="800"/>
              </a:spcAft>
              <a:buSzPct val="100000"/>
              <a:buChar char="•"/>
            </a:pPr>
            <a:r>
              <a:rPr lang="en-US" sz="1350" dirty="0">
                <a:solidFill>
                  <a:schemeClr val="tx1"/>
                </a:solidFill>
              </a:rPr>
              <a:t>Compared account lists with billing and payment records</a:t>
            </a:r>
            <a:endParaRPr lang="en-US" sz="1350" dirty="0"/>
          </a:p>
          <a:p>
            <a:pPr marL="152400" indent="-152400">
              <a:lnSpc>
                <a:spcPct val="110000"/>
              </a:lnSpc>
              <a:spcAft>
                <a:spcPts val="800"/>
              </a:spcAft>
              <a:buSzPct val="100000"/>
              <a:buChar char="•"/>
            </a:pPr>
            <a:r>
              <a:rPr lang="en-US" sz="1350" dirty="0">
                <a:solidFill>
                  <a:schemeClr val="tx1"/>
                </a:solidFill>
              </a:rPr>
              <a:t>Matched contract and subscription changes to billing</a:t>
            </a:r>
            <a:endParaRPr lang="en-US" sz="1350" dirty="0"/>
          </a:p>
          <a:p>
            <a:pPr marL="152400" indent="-152400">
              <a:lnSpc>
                <a:spcPct val="110000"/>
              </a:lnSpc>
              <a:spcAft>
                <a:spcPts val="800"/>
              </a:spcAft>
              <a:buSzPct val="100000"/>
              <a:buChar char="•"/>
            </a:pPr>
            <a:r>
              <a:rPr lang="en-US" sz="1350" dirty="0">
                <a:solidFill>
                  <a:schemeClr val="tx1"/>
                </a:solidFill>
              </a:rPr>
              <a:t>Flagged closed or terminated accounts still billed</a:t>
            </a:r>
            <a:endParaRPr lang="en-US" sz="1350" dirty="0"/>
          </a:p>
          <a:p>
            <a:pPr marL="152400" indent="-152400">
              <a:lnSpc>
                <a:spcPct val="110000"/>
              </a:lnSpc>
              <a:spcAft>
                <a:spcPts val="800"/>
              </a:spcAft>
              <a:buSzPct val="100000"/>
              <a:buChar char="•"/>
            </a:pPr>
            <a:r>
              <a:rPr lang="en-US" sz="1350" dirty="0">
                <a:solidFill>
                  <a:schemeClr val="tx1"/>
                </a:solidFill>
              </a:rPr>
              <a:t>Updated the tracker and reported open items</a:t>
            </a:r>
            <a:endParaRPr lang="en-US" sz="1350" dirty="0"/>
          </a:p>
        </p:txBody>
      </p:sp>
      <p:sp>
        <p:nvSpPr>
          <p:cNvPr id="14" name="OUTCOME panel"/>
          <p:cNvSpPr/>
          <p:nvPr/>
        </p:nvSpPr>
        <p:spPr>
          <a:xfrm>
            <a:off x="9006611" y="1828800"/>
            <a:ext cx="2636444" cy="3749040"/>
          </a:xfrm>
          <a:prstGeom prst="roundRect">
            <a:avLst>
              <a:gd name="adj" fmla="val 2775"/>
            </a:avLst>
          </a:prstGeom>
          <a:solidFill>
            <a:schemeClr val="accent5"/>
          </a:solidFill>
          <a:ln w="9525">
            <a:solidFill>
              <a:schemeClr val="accent4"/>
            </a:solidFill>
            <a:prstDash val="solid"/>
          </a:ln>
        </p:spPr>
      </p:sp>
      <p:sp>
        <p:nvSpPr>
          <p:cNvPr id="15" name="Text 13"/>
          <p:cNvSpPr txBox="1"/>
          <p:nvPr/>
        </p:nvSpPr>
        <p:spPr>
          <a:xfrm>
            <a:off x="9280931" y="2103120"/>
            <a:ext cx="2087804" cy="274320"/>
          </a:xfrm>
          <a:prstGeom prst="rect">
            <a:avLst/>
          </a:prstGeom>
          <a:noFill/>
          <a:ln/>
        </p:spPr>
        <p:txBody>
          <a:bodyPr wrap="square" lIns="0" tIns="0" rIns="0" bIns="0" rtlCol="0" anchor="ctr"/>
          <a:lstStyle/>
          <a:p>
            <a:pPr indent="0" marL="0">
              <a:buNone/>
            </a:pPr>
            <a:r>
              <a:rPr lang="en-US" sz="1050" b="1" spc="200" kern="0" dirty="0">
                <a:solidFill>
                  <a:schemeClr val="tx2"/>
                </a:solidFill>
              </a:rPr>
              <a:t>OUTCOME</a:t>
            </a:r>
            <a:endParaRPr lang="en-US" sz="1050" dirty="0"/>
          </a:p>
        </p:txBody>
      </p:sp>
      <p:sp>
        <p:nvSpPr>
          <p:cNvPr id="16" name="Text 14"/>
          <p:cNvSpPr txBox="1"/>
          <p:nvPr/>
        </p:nvSpPr>
        <p:spPr>
          <a:xfrm>
            <a:off x="9280931" y="2560320"/>
            <a:ext cx="2087804" cy="2743200"/>
          </a:xfrm>
          <a:prstGeom prst="rect">
            <a:avLst/>
          </a:prstGeom>
          <a:noFill/>
          <a:ln/>
        </p:spPr>
        <p:txBody>
          <a:bodyPr wrap="square" lIns="0" tIns="0" rIns="0" bIns="0" rtlCol="0" anchor="t"/>
          <a:lstStyle/>
          <a:p>
            <a:pPr indent="0" marL="0">
              <a:lnSpc>
                <a:spcPct val="110000"/>
              </a:lnSpc>
              <a:buNone/>
            </a:pPr>
            <a:r>
              <a:rPr lang="en-US" sz="1350" dirty="0">
                <a:solidFill>
                  <a:schemeClr val="tx1"/>
                </a:solidFill>
              </a:rPr>
              <a:t>Account status and billing lined up, MRR tracking reflected current accounts, and the team had one reconciled source to work from.</a:t>
            </a:r>
            <a:endParaRPr lang="en-US" sz="13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7315200" cy="274320"/>
          </a:xfrm>
          <a:prstGeom prst="rect">
            <a:avLst/>
          </a:prstGeom>
          <a:noFill/>
          <a:ln/>
        </p:spPr>
        <p:txBody>
          <a:bodyPr wrap="square" lIns="0" tIns="0" rIns="0" bIns="0" rtlCol="0"/>
          <a:lstStyle/>
          <a:p>
            <a:pPr indent="0" marL="0">
              <a:buNone/>
            </a:pPr>
            <a:r>
              <a:rPr lang="en-US" sz="1100" b="1" spc="300" kern="0" dirty="0">
                <a:solidFill>
                  <a:schemeClr val="tx2"/>
                </a:solidFill>
                <a:latin typeface="Calibri" pitchFamily="34" charset="0"/>
                <a:ea typeface="Calibri" pitchFamily="34" charset="-122"/>
                <a:cs typeface="Calibri" pitchFamily="34" charset="-120"/>
              </a:rPr>
              <a:t>MY WORKFLOW</a:t>
            </a:r>
            <a:endParaRPr lang="en-US" sz="1100" dirty="0"/>
          </a:p>
        </p:txBody>
      </p:sp>
      <p:sp>
        <p:nvSpPr>
          <p:cNvPr id="3" name="Text 0"/>
          <p:cNvSpPr/>
          <p:nvPr>
            <p:ph idx="101" type="title" hasCustomPrompt="1"/>
          </p:nvPr>
        </p:nvSpPr>
        <p:spPr>
          <a:xfrm>
            <a:off x="548640" y="731520"/>
            <a:ext cx="10972800" cy="77724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A repeatable process for every cycle.</a:t>
            </a:r>
            <a:endParaRPr lang="en-US" sz="3400" dirty="0"/>
          </a:p>
        </p:txBody>
      </p:sp>
      <p:sp>
        <p:nvSpPr>
          <p:cNvPr id="4" name="Text 2"/>
          <p:cNvSpPr txBox="1"/>
          <p:nvPr/>
        </p:nvSpPr>
        <p:spPr>
          <a:xfrm>
            <a:off x="548640" y="1508760"/>
            <a:ext cx="9144000" cy="365760"/>
          </a:xfrm>
          <a:prstGeom prst="rect">
            <a:avLst/>
          </a:prstGeom>
          <a:noFill/>
          <a:ln/>
        </p:spPr>
        <p:txBody>
          <a:bodyPr wrap="square" lIns="0" tIns="0" rIns="0" bIns="0" rtlCol="0" anchor="ctr"/>
          <a:lstStyle/>
          <a:p>
            <a:pPr indent="0" marL="0">
              <a:buNone/>
            </a:pPr>
            <a:r>
              <a:rPr lang="en-US" sz="1500" dirty="0">
                <a:solidFill>
                  <a:schemeClr val="accent3"/>
                </a:solidFill>
              </a:rPr>
              <a:t>The same five steps, whether it's a billing run, a reconciliation, or a payment batch.</a:t>
            </a:r>
            <a:endParaRPr lang="en-US" sz="1500" dirty="0"/>
          </a:p>
        </p:txBody>
      </p:sp>
      <p:sp>
        <p:nvSpPr>
          <p:cNvPr id="5" name="Shape 3"/>
          <p:cNvSpPr/>
          <p:nvPr/>
        </p:nvSpPr>
        <p:spPr>
          <a:xfrm>
            <a:off x="914400" y="2971800"/>
            <a:ext cx="8875532" cy="0"/>
          </a:xfrm>
          <a:prstGeom prst="line">
            <a:avLst/>
          </a:prstGeom>
          <a:noFill/>
          <a:ln w="19050">
            <a:solidFill>
              <a:schemeClr val="accent4"/>
            </a:solidFill>
            <a:prstDash val="solid"/>
          </a:ln>
        </p:spPr>
      </p:sp>
      <p:sp>
        <p:nvSpPr>
          <p:cNvPr id="6" name="Shape 4"/>
          <p:cNvSpPr/>
          <p:nvPr/>
        </p:nvSpPr>
        <p:spPr>
          <a:xfrm>
            <a:off x="548640" y="2606040"/>
            <a:ext cx="731520" cy="731520"/>
          </a:xfrm>
          <a:prstGeom prst="ellipse">
            <a:avLst/>
          </a:prstGeom>
          <a:solidFill>
            <a:schemeClr val="bg1"/>
          </a:solidFill>
          <a:ln w="19050">
            <a:solidFill>
              <a:schemeClr val="tx2"/>
            </a:solidFill>
            <a:prstDash val="solid"/>
          </a:ln>
        </p:spPr>
      </p:sp>
      <p:pic>
        <p:nvPicPr>
          <p:cNvPr id="7" name="Image 0" descr="preencoded.png">    </p:cNvPr>
          <p:cNvPicPr>
            <a:picLocks noChangeAspect="1"/>
          </p:cNvPicPr>
          <p:nvPr/>
        </p:nvPicPr>
        <p:blipFill>
          <a:blip r:embed="rId1"/>
          <a:stretch>
            <a:fillRect/>
          </a:stretch>
        </p:blipFill>
        <p:spPr>
          <a:xfrm>
            <a:off x="768096" y="2825496"/>
            <a:ext cx="292608" cy="292608"/>
          </a:xfrm>
          <a:prstGeom prst="rect">
            <a:avLst/>
          </a:prstGeom>
        </p:spPr>
      </p:pic>
      <p:sp>
        <p:nvSpPr>
          <p:cNvPr id="8" name="Text 5"/>
          <p:cNvSpPr txBox="1"/>
          <p:nvPr/>
        </p:nvSpPr>
        <p:spPr>
          <a:xfrm>
            <a:off x="548640" y="3657600"/>
            <a:ext cx="1944563" cy="274320"/>
          </a:xfrm>
          <a:prstGeom prst="rect">
            <a:avLst/>
          </a:prstGeom>
          <a:noFill/>
          <a:ln/>
        </p:spPr>
        <p:txBody>
          <a:bodyPr wrap="square" lIns="0" tIns="0" rIns="0" bIns="0" rtlCol="0" anchor="ctr"/>
          <a:lstStyle/>
          <a:p>
            <a:pPr indent="0" marL="0">
              <a:buNone/>
            </a:pPr>
            <a:r>
              <a:rPr lang="en-US" sz="1000" b="1" spc="200" kern="0" dirty="0">
                <a:solidFill>
                  <a:schemeClr val="accent3"/>
                </a:solidFill>
              </a:rPr>
              <a:t>STEP 01</a:t>
            </a:r>
            <a:endParaRPr lang="en-US" sz="1000" dirty="0"/>
          </a:p>
        </p:txBody>
      </p:sp>
      <p:sp>
        <p:nvSpPr>
          <p:cNvPr id="9" name="Text 6"/>
          <p:cNvSpPr txBox="1"/>
          <p:nvPr/>
        </p:nvSpPr>
        <p:spPr>
          <a:xfrm>
            <a:off x="548640" y="3977640"/>
            <a:ext cx="1944563" cy="457200"/>
          </a:xfrm>
          <a:prstGeom prst="rect">
            <a:avLst/>
          </a:prstGeom>
          <a:noFill/>
          <a:ln/>
        </p:spPr>
        <p:txBody>
          <a:bodyPr wrap="square" lIns="0" tIns="0" rIns="0" bIns="0" rtlCol="0" anchor="ctr"/>
          <a:lstStyle/>
          <a:p>
            <a:pPr indent="0" marL="0">
              <a:buNone/>
            </a:pPr>
            <a:r>
              <a:rPr lang="en-US" sz="2200" dirty="0">
                <a:solidFill>
                  <a:schemeClr val="tx1"/>
                </a:solidFill>
                <a:latin typeface="Cambria" pitchFamily="34" charset="0"/>
                <a:ea typeface="Cambria" pitchFamily="34" charset="-122"/>
                <a:cs typeface="Cambria" pitchFamily="34" charset="-120"/>
              </a:rPr>
              <a:t>Gather</a:t>
            </a:r>
            <a:endParaRPr lang="en-US" sz="2200" dirty="0"/>
          </a:p>
        </p:txBody>
      </p:sp>
      <p:sp>
        <p:nvSpPr>
          <p:cNvPr id="10" name="Text 7"/>
          <p:cNvSpPr txBox="1"/>
          <p:nvPr/>
        </p:nvSpPr>
        <p:spPr>
          <a:xfrm>
            <a:off x="548640" y="4526280"/>
            <a:ext cx="1898843" cy="1097280"/>
          </a:xfrm>
          <a:prstGeom prst="rect">
            <a:avLst/>
          </a:prstGeom>
          <a:noFill/>
          <a:ln/>
        </p:spPr>
        <p:txBody>
          <a:bodyPr wrap="square" lIns="0" tIns="0" rIns="0" bIns="0" rtlCol="0" anchor="t"/>
          <a:lstStyle/>
          <a:p>
            <a:pPr indent="0" marL="0">
              <a:buNone/>
            </a:pPr>
            <a:r>
              <a:rPr lang="en-US" sz="1300" dirty="0">
                <a:solidFill>
                  <a:schemeClr val="accent3"/>
                </a:solidFill>
              </a:rPr>
              <a:t>Collect the billing, payment, and account data the task depends on.</a:t>
            </a:r>
            <a:endParaRPr lang="en-US" sz="1300" dirty="0"/>
          </a:p>
        </p:txBody>
      </p:sp>
      <p:sp>
        <p:nvSpPr>
          <p:cNvPr id="11" name="Shape 8"/>
          <p:cNvSpPr/>
          <p:nvPr/>
        </p:nvSpPr>
        <p:spPr>
          <a:xfrm>
            <a:off x="2767523" y="2606040"/>
            <a:ext cx="731520" cy="731520"/>
          </a:xfrm>
          <a:prstGeom prst="ellipse">
            <a:avLst/>
          </a:prstGeom>
          <a:solidFill>
            <a:schemeClr val="bg1"/>
          </a:solidFill>
          <a:ln w="19050">
            <a:solidFill>
              <a:schemeClr val="tx2"/>
            </a:solidFill>
            <a:prstDash val="solid"/>
          </a:ln>
        </p:spPr>
      </p:sp>
      <p:pic>
        <p:nvPicPr>
          <p:cNvPr id="12" name="Image 1" descr="preencoded.png">    </p:cNvPr>
          <p:cNvPicPr>
            <a:picLocks noChangeAspect="1"/>
          </p:cNvPicPr>
          <p:nvPr/>
        </p:nvPicPr>
        <p:blipFill>
          <a:blip r:embed="rId2"/>
          <a:stretch>
            <a:fillRect/>
          </a:stretch>
        </p:blipFill>
        <p:spPr>
          <a:xfrm>
            <a:off x="2986979" y="2825496"/>
            <a:ext cx="292608" cy="292608"/>
          </a:xfrm>
          <a:prstGeom prst="rect">
            <a:avLst/>
          </a:prstGeom>
        </p:spPr>
      </p:pic>
      <p:sp>
        <p:nvSpPr>
          <p:cNvPr id="13" name="Text 9"/>
          <p:cNvSpPr txBox="1"/>
          <p:nvPr/>
        </p:nvSpPr>
        <p:spPr>
          <a:xfrm>
            <a:off x="2767523" y="3657600"/>
            <a:ext cx="1944563" cy="274320"/>
          </a:xfrm>
          <a:prstGeom prst="rect">
            <a:avLst/>
          </a:prstGeom>
          <a:noFill/>
          <a:ln/>
        </p:spPr>
        <p:txBody>
          <a:bodyPr wrap="square" lIns="0" tIns="0" rIns="0" bIns="0" rtlCol="0" anchor="ctr"/>
          <a:lstStyle/>
          <a:p>
            <a:pPr indent="0" marL="0">
              <a:buNone/>
            </a:pPr>
            <a:r>
              <a:rPr lang="en-US" sz="1000" b="1" spc="200" kern="0" dirty="0">
                <a:solidFill>
                  <a:schemeClr val="accent3"/>
                </a:solidFill>
              </a:rPr>
              <a:t>STEP 02</a:t>
            </a:r>
            <a:endParaRPr lang="en-US" sz="1000" dirty="0"/>
          </a:p>
        </p:txBody>
      </p:sp>
      <p:sp>
        <p:nvSpPr>
          <p:cNvPr id="14" name="Text 10"/>
          <p:cNvSpPr txBox="1"/>
          <p:nvPr/>
        </p:nvSpPr>
        <p:spPr>
          <a:xfrm>
            <a:off x="2767523" y="3977640"/>
            <a:ext cx="1944563" cy="457200"/>
          </a:xfrm>
          <a:prstGeom prst="rect">
            <a:avLst/>
          </a:prstGeom>
          <a:noFill/>
          <a:ln/>
        </p:spPr>
        <p:txBody>
          <a:bodyPr wrap="square" lIns="0" tIns="0" rIns="0" bIns="0" rtlCol="0" anchor="ctr"/>
          <a:lstStyle/>
          <a:p>
            <a:pPr indent="0" marL="0">
              <a:buNone/>
            </a:pPr>
            <a:r>
              <a:rPr lang="en-US" sz="2200" dirty="0">
                <a:solidFill>
                  <a:schemeClr val="tx1"/>
                </a:solidFill>
                <a:latin typeface="Cambria" pitchFamily="34" charset="0"/>
                <a:ea typeface="Cambria" pitchFamily="34" charset="-122"/>
                <a:cs typeface="Cambria" pitchFamily="34" charset="-120"/>
              </a:rPr>
              <a:t>Verify</a:t>
            </a:r>
            <a:endParaRPr lang="en-US" sz="2200" dirty="0"/>
          </a:p>
        </p:txBody>
      </p:sp>
      <p:sp>
        <p:nvSpPr>
          <p:cNvPr id="15" name="Text 11"/>
          <p:cNvSpPr txBox="1"/>
          <p:nvPr/>
        </p:nvSpPr>
        <p:spPr>
          <a:xfrm>
            <a:off x="2767523" y="4526280"/>
            <a:ext cx="1898843" cy="1097280"/>
          </a:xfrm>
          <a:prstGeom prst="rect">
            <a:avLst/>
          </a:prstGeom>
          <a:noFill/>
          <a:ln/>
        </p:spPr>
        <p:txBody>
          <a:bodyPr wrap="square" lIns="0" tIns="0" rIns="0" bIns="0" rtlCol="0" anchor="t"/>
          <a:lstStyle/>
          <a:p>
            <a:pPr indent="0" marL="0">
              <a:buNone/>
            </a:pPr>
            <a:r>
              <a:rPr lang="en-US" sz="1300" dirty="0">
                <a:solidFill>
                  <a:schemeClr val="accent3"/>
                </a:solidFill>
              </a:rPr>
              <a:t>Check records against contracts, rates, and billing dates.</a:t>
            </a:r>
            <a:endParaRPr lang="en-US" sz="1300" dirty="0"/>
          </a:p>
        </p:txBody>
      </p:sp>
      <p:sp>
        <p:nvSpPr>
          <p:cNvPr id="16" name="Shape 12"/>
          <p:cNvSpPr/>
          <p:nvPr/>
        </p:nvSpPr>
        <p:spPr>
          <a:xfrm>
            <a:off x="4986406" y="2606040"/>
            <a:ext cx="731520" cy="731520"/>
          </a:xfrm>
          <a:prstGeom prst="ellipse">
            <a:avLst/>
          </a:prstGeom>
          <a:solidFill>
            <a:schemeClr val="bg1"/>
          </a:solidFill>
          <a:ln w="19050">
            <a:solidFill>
              <a:schemeClr val="tx2"/>
            </a:solidFill>
            <a:prstDash val="solid"/>
          </a:ln>
        </p:spPr>
      </p:sp>
      <p:pic>
        <p:nvPicPr>
          <p:cNvPr id="17" name="Image 2" descr="preencoded.png">    </p:cNvPr>
          <p:cNvPicPr>
            <a:picLocks noChangeAspect="1"/>
          </p:cNvPicPr>
          <p:nvPr/>
        </p:nvPicPr>
        <p:blipFill>
          <a:blip r:embed="rId3"/>
          <a:stretch>
            <a:fillRect/>
          </a:stretch>
        </p:blipFill>
        <p:spPr>
          <a:xfrm>
            <a:off x="5205862" y="2825496"/>
            <a:ext cx="292608" cy="292608"/>
          </a:xfrm>
          <a:prstGeom prst="rect">
            <a:avLst/>
          </a:prstGeom>
        </p:spPr>
      </p:pic>
      <p:sp>
        <p:nvSpPr>
          <p:cNvPr id="18" name="Text 13"/>
          <p:cNvSpPr txBox="1"/>
          <p:nvPr/>
        </p:nvSpPr>
        <p:spPr>
          <a:xfrm>
            <a:off x="4986406" y="3657600"/>
            <a:ext cx="1944563" cy="274320"/>
          </a:xfrm>
          <a:prstGeom prst="rect">
            <a:avLst/>
          </a:prstGeom>
          <a:noFill/>
          <a:ln/>
        </p:spPr>
        <p:txBody>
          <a:bodyPr wrap="square" lIns="0" tIns="0" rIns="0" bIns="0" rtlCol="0" anchor="ctr"/>
          <a:lstStyle/>
          <a:p>
            <a:pPr indent="0" marL="0">
              <a:buNone/>
            </a:pPr>
            <a:r>
              <a:rPr lang="en-US" sz="1000" b="1" spc="200" kern="0" dirty="0">
                <a:solidFill>
                  <a:schemeClr val="accent3"/>
                </a:solidFill>
              </a:rPr>
              <a:t>STEP 03</a:t>
            </a:r>
            <a:endParaRPr lang="en-US" sz="1000" dirty="0"/>
          </a:p>
        </p:txBody>
      </p:sp>
      <p:sp>
        <p:nvSpPr>
          <p:cNvPr id="19" name="Text 14"/>
          <p:cNvSpPr txBox="1"/>
          <p:nvPr/>
        </p:nvSpPr>
        <p:spPr>
          <a:xfrm>
            <a:off x="4986406" y="3977640"/>
            <a:ext cx="1944563" cy="457200"/>
          </a:xfrm>
          <a:prstGeom prst="rect">
            <a:avLst/>
          </a:prstGeom>
          <a:noFill/>
          <a:ln/>
        </p:spPr>
        <p:txBody>
          <a:bodyPr wrap="square" lIns="0" tIns="0" rIns="0" bIns="0" rtlCol="0" anchor="ctr"/>
          <a:lstStyle/>
          <a:p>
            <a:pPr indent="0" marL="0">
              <a:buNone/>
            </a:pPr>
            <a:r>
              <a:rPr lang="en-US" sz="2200" dirty="0">
                <a:solidFill>
                  <a:schemeClr val="tx1"/>
                </a:solidFill>
                <a:latin typeface="Cambria" pitchFamily="34" charset="0"/>
                <a:ea typeface="Cambria" pitchFamily="34" charset="-122"/>
                <a:cs typeface="Cambria" pitchFamily="34" charset="-120"/>
              </a:rPr>
              <a:t>Reconcile</a:t>
            </a:r>
            <a:endParaRPr lang="en-US" sz="2200" dirty="0"/>
          </a:p>
        </p:txBody>
      </p:sp>
      <p:sp>
        <p:nvSpPr>
          <p:cNvPr id="20" name="Text 15"/>
          <p:cNvSpPr txBox="1"/>
          <p:nvPr/>
        </p:nvSpPr>
        <p:spPr>
          <a:xfrm>
            <a:off x="4986406" y="4526280"/>
            <a:ext cx="1898843" cy="1097280"/>
          </a:xfrm>
          <a:prstGeom prst="rect">
            <a:avLst/>
          </a:prstGeom>
          <a:noFill/>
          <a:ln/>
        </p:spPr>
        <p:txBody>
          <a:bodyPr wrap="square" lIns="0" tIns="0" rIns="0" bIns="0" rtlCol="0" anchor="t"/>
          <a:lstStyle/>
          <a:p>
            <a:pPr indent="0" marL="0">
              <a:buNone/>
            </a:pPr>
            <a:r>
              <a:rPr lang="en-US" sz="1300" dirty="0">
                <a:solidFill>
                  <a:schemeClr val="accent3"/>
                </a:solidFill>
              </a:rPr>
              <a:t>Match accounts, invoices, and payments, and resolve differences.</a:t>
            </a:r>
            <a:endParaRPr lang="en-US" sz="1300" dirty="0"/>
          </a:p>
        </p:txBody>
      </p:sp>
      <p:sp>
        <p:nvSpPr>
          <p:cNvPr id="21" name="Shape 16"/>
          <p:cNvSpPr/>
          <p:nvPr/>
        </p:nvSpPr>
        <p:spPr>
          <a:xfrm>
            <a:off x="7205289" y="2606040"/>
            <a:ext cx="731520" cy="731520"/>
          </a:xfrm>
          <a:prstGeom prst="ellipse">
            <a:avLst/>
          </a:prstGeom>
          <a:solidFill>
            <a:schemeClr val="bg1"/>
          </a:solidFill>
          <a:ln w="19050">
            <a:solidFill>
              <a:schemeClr val="tx2"/>
            </a:solidFill>
            <a:prstDash val="solid"/>
          </a:ln>
        </p:spPr>
      </p:sp>
      <p:pic>
        <p:nvPicPr>
          <p:cNvPr id="22" name="Image 3" descr="preencoded.png">    </p:cNvPr>
          <p:cNvPicPr>
            <a:picLocks noChangeAspect="1"/>
          </p:cNvPicPr>
          <p:nvPr/>
        </p:nvPicPr>
        <p:blipFill>
          <a:blip r:embed="rId4"/>
          <a:stretch>
            <a:fillRect/>
          </a:stretch>
        </p:blipFill>
        <p:spPr>
          <a:xfrm>
            <a:off x="7424745" y="2825496"/>
            <a:ext cx="292608" cy="292608"/>
          </a:xfrm>
          <a:prstGeom prst="rect">
            <a:avLst/>
          </a:prstGeom>
        </p:spPr>
      </p:pic>
      <p:sp>
        <p:nvSpPr>
          <p:cNvPr id="23" name="Text 17"/>
          <p:cNvSpPr txBox="1"/>
          <p:nvPr/>
        </p:nvSpPr>
        <p:spPr>
          <a:xfrm>
            <a:off x="7205289" y="3657600"/>
            <a:ext cx="1944563" cy="274320"/>
          </a:xfrm>
          <a:prstGeom prst="rect">
            <a:avLst/>
          </a:prstGeom>
          <a:noFill/>
          <a:ln/>
        </p:spPr>
        <p:txBody>
          <a:bodyPr wrap="square" lIns="0" tIns="0" rIns="0" bIns="0" rtlCol="0" anchor="ctr"/>
          <a:lstStyle/>
          <a:p>
            <a:pPr indent="0" marL="0">
              <a:buNone/>
            </a:pPr>
            <a:r>
              <a:rPr lang="en-US" sz="1000" b="1" spc="200" kern="0" dirty="0">
                <a:solidFill>
                  <a:schemeClr val="accent3"/>
                </a:solidFill>
              </a:rPr>
              <a:t>STEP 04</a:t>
            </a:r>
            <a:endParaRPr lang="en-US" sz="1000" dirty="0"/>
          </a:p>
        </p:txBody>
      </p:sp>
      <p:sp>
        <p:nvSpPr>
          <p:cNvPr id="24" name="Text 18"/>
          <p:cNvSpPr txBox="1"/>
          <p:nvPr/>
        </p:nvSpPr>
        <p:spPr>
          <a:xfrm>
            <a:off x="7205289" y="3977640"/>
            <a:ext cx="1944563" cy="457200"/>
          </a:xfrm>
          <a:prstGeom prst="rect">
            <a:avLst/>
          </a:prstGeom>
          <a:noFill/>
          <a:ln/>
        </p:spPr>
        <p:txBody>
          <a:bodyPr wrap="square" lIns="0" tIns="0" rIns="0" bIns="0" rtlCol="0" anchor="ctr"/>
          <a:lstStyle/>
          <a:p>
            <a:pPr indent="0" marL="0">
              <a:buNone/>
            </a:pPr>
            <a:r>
              <a:rPr lang="en-US" sz="2200" dirty="0">
                <a:solidFill>
                  <a:schemeClr val="tx1"/>
                </a:solidFill>
                <a:latin typeface="Cambria" pitchFamily="34" charset="0"/>
                <a:ea typeface="Cambria" pitchFamily="34" charset="-122"/>
                <a:cs typeface="Cambria" pitchFamily="34" charset="-120"/>
              </a:rPr>
              <a:t>Report</a:t>
            </a:r>
            <a:endParaRPr lang="en-US" sz="2200" dirty="0"/>
          </a:p>
        </p:txBody>
      </p:sp>
      <p:sp>
        <p:nvSpPr>
          <p:cNvPr id="25" name="Text 19"/>
          <p:cNvSpPr txBox="1"/>
          <p:nvPr/>
        </p:nvSpPr>
        <p:spPr>
          <a:xfrm>
            <a:off x="7205289" y="4526280"/>
            <a:ext cx="1898843" cy="1097280"/>
          </a:xfrm>
          <a:prstGeom prst="rect">
            <a:avLst/>
          </a:prstGeom>
          <a:noFill/>
          <a:ln/>
        </p:spPr>
        <p:txBody>
          <a:bodyPr wrap="square" lIns="0" tIns="0" rIns="0" bIns="0" rtlCol="0" anchor="t"/>
          <a:lstStyle/>
          <a:p>
            <a:pPr indent="0" marL="0">
              <a:buNone/>
            </a:pPr>
            <a:r>
              <a:rPr lang="en-US" sz="1300" dirty="0">
                <a:solidFill>
                  <a:schemeClr val="accent3"/>
                </a:solidFill>
              </a:rPr>
              <a:t>Summarize results and open items in a clear, shareable format.</a:t>
            </a:r>
            <a:endParaRPr lang="en-US" sz="1300" dirty="0"/>
          </a:p>
        </p:txBody>
      </p:sp>
      <p:sp>
        <p:nvSpPr>
          <p:cNvPr id="26" name="Shape 20"/>
          <p:cNvSpPr/>
          <p:nvPr/>
        </p:nvSpPr>
        <p:spPr>
          <a:xfrm>
            <a:off x="9424172" y="2606040"/>
            <a:ext cx="731520" cy="731520"/>
          </a:xfrm>
          <a:prstGeom prst="ellipse">
            <a:avLst/>
          </a:prstGeom>
          <a:solidFill>
            <a:schemeClr val="tx2"/>
          </a:solidFill>
          <a:ln w="19050">
            <a:solidFill>
              <a:schemeClr val="tx2"/>
            </a:solidFill>
            <a:prstDash val="solid"/>
          </a:ln>
        </p:spPr>
      </p:sp>
      <p:pic>
        <p:nvPicPr>
          <p:cNvPr id="27" name="Image 4" descr="preencoded.png">    </p:cNvPr>
          <p:cNvPicPr>
            <a:picLocks noChangeAspect="1"/>
          </p:cNvPicPr>
          <p:nvPr/>
        </p:nvPicPr>
        <p:blipFill>
          <a:blip r:embed="rId5"/>
          <a:stretch>
            <a:fillRect/>
          </a:stretch>
        </p:blipFill>
        <p:spPr>
          <a:xfrm>
            <a:off x="9643628" y="2825496"/>
            <a:ext cx="292608" cy="292608"/>
          </a:xfrm>
          <a:prstGeom prst="rect">
            <a:avLst/>
          </a:prstGeom>
        </p:spPr>
      </p:pic>
      <p:sp>
        <p:nvSpPr>
          <p:cNvPr id="28" name="Text 21"/>
          <p:cNvSpPr txBox="1"/>
          <p:nvPr/>
        </p:nvSpPr>
        <p:spPr>
          <a:xfrm>
            <a:off x="9424172" y="3657600"/>
            <a:ext cx="1944563" cy="274320"/>
          </a:xfrm>
          <a:prstGeom prst="rect">
            <a:avLst/>
          </a:prstGeom>
          <a:noFill/>
          <a:ln/>
        </p:spPr>
        <p:txBody>
          <a:bodyPr wrap="square" lIns="0" tIns="0" rIns="0" bIns="0" rtlCol="0" anchor="ctr"/>
          <a:lstStyle/>
          <a:p>
            <a:pPr indent="0" marL="0">
              <a:buNone/>
            </a:pPr>
            <a:r>
              <a:rPr lang="en-US" sz="1000" b="1" spc="200" kern="0" dirty="0">
                <a:solidFill>
                  <a:schemeClr val="accent3"/>
                </a:solidFill>
              </a:rPr>
              <a:t>STEP 05</a:t>
            </a:r>
            <a:endParaRPr lang="en-US" sz="1000" dirty="0"/>
          </a:p>
        </p:txBody>
      </p:sp>
      <p:sp>
        <p:nvSpPr>
          <p:cNvPr id="29" name="Text 22"/>
          <p:cNvSpPr txBox="1"/>
          <p:nvPr/>
        </p:nvSpPr>
        <p:spPr>
          <a:xfrm>
            <a:off x="9424172" y="3977640"/>
            <a:ext cx="1944563" cy="457200"/>
          </a:xfrm>
          <a:prstGeom prst="rect">
            <a:avLst/>
          </a:prstGeom>
          <a:noFill/>
          <a:ln/>
        </p:spPr>
        <p:txBody>
          <a:bodyPr wrap="square" lIns="0" tIns="0" rIns="0" bIns="0" rtlCol="0" anchor="ctr"/>
          <a:lstStyle/>
          <a:p>
            <a:pPr indent="0" marL="0">
              <a:buNone/>
            </a:pPr>
            <a:r>
              <a:rPr lang="en-US" sz="2200" dirty="0">
                <a:solidFill>
                  <a:schemeClr val="tx1"/>
                </a:solidFill>
                <a:latin typeface="Cambria" pitchFamily="34" charset="0"/>
                <a:ea typeface="Cambria" pitchFamily="34" charset="-122"/>
                <a:cs typeface="Cambria" pitchFamily="34" charset="-120"/>
              </a:rPr>
              <a:t>Follow up</a:t>
            </a:r>
            <a:endParaRPr lang="en-US" sz="2200" dirty="0"/>
          </a:p>
        </p:txBody>
      </p:sp>
      <p:sp>
        <p:nvSpPr>
          <p:cNvPr id="30" name="Text 23"/>
          <p:cNvSpPr txBox="1"/>
          <p:nvPr/>
        </p:nvSpPr>
        <p:spPr>
          <a:xfrm>
            <a:off x="9424172" y="4526280"/>
            <a:ext cx="1898843" cy="1097280"/>
          </a:xfrm>
          <a:prstGeom prst="rect">
            <a:avLst/>
          </a:prstGeom>
          <a:noFill/>
          <a:ln/>
        </p:spPr>
        <p:txBody>
          <a:bodyPr wrap="square" lIns="0" tIns="0" rIns="0" bIns="0" rtlCol="0" anchor="t"/>
          <a:lstStyle/>
          <a:p>
            <a:pPr indent="0" marL="0">
              <a:buNone/>
            </a:pPr>
            <a:r>
              <a:rPr lang="en-US" sz="1300" dirty="0">
                <a:solidFill>
                  <a:schemeClr val="accent3"/>
                </a:solidFill>
              </a:rPr>
              <a:t>Track each open item with the right people until it's closed.</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7315200" cy="274320"/>
          </a:xfrm>
          <a:prstGeom prst="rect">
            <a:avLst/>
          </a:prstGeom>
          <a:noFill/>
          <a:ln/>
        </p:spPr>
        <p:txBody>
          <a:bodyPr wrap="square" lIns="0" tIns="0" rIns="0" bIns="0" rtlCol="0"/>
          <a:lstStyle/>
          <a:p>
            <a:pPr indent="0" marL="0">
              <a:buNone/>
            </a:pPr>
            <a:r>
              <a:rPr lang="en-US" sz="1100" b="1" spc="300" kern="0" dirty="0">
                <a:solidFill>
                  <a:schemeClr val="tx2"/>
                </a:solidFill>
                <a:latin typeface="Calibri" pitchFamily="34" charset="0"/>
                <a:ea typeface="Calibri" pitchFamily="34" charset="-122"/>
                <a:cs typeface="Calibri" pitchFamily="34" charset="-120"/>
              </a:rPr>
              <a:t>EXPERIENCE SNAPSHOT</a:t>
            </a:r>
            <a:endParaRPr lang="en-US" sz="1100" dirty="0"/>
          </a:p>
        </p:txBody>
      </p:sp>
      <p:sp>
        <p:nvSpPr>
          <p:cNvPr id="3" name="Text 0"/>
          <p:cNvSpPr/>
          <p:nvPr>
            <p:ph idx="101" type="title" hasCustomPrompt="1"/>
          </p:nvPr>
        </p:nvSpPr>
        <p:spPr>
          <a:xfrm>
            <a:off x="548640" y="731520"/>
            <a:ext cx="10972800" cy="77724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Where my experience is.</a:t>
            </a:r>
            <a:endParaRPr lang="en-US" sz="3400" dirty="0"/>
          </a:p>
        </p:txBody>
      </p:sp>
      <p:sp>
        <p:nvSpPr>
          <p:cNvPr id="4" name="Text 2"/>
          <p:cNvSpPr txBox="1"/>
          <p:nvPr/>
        </p:nvSpPr>
        <p:spPr>
          <a:xfrm>
            <a:off x="548640" y="1508760"/>
            <a:ext cx="9144000" cy="365760"/>
          </a:xfrm>
          <a:prstGeom prst="rect">
            <a:avLst/>
          </a:prstGeom>
          <a:noFill/>
          <a:ln/>
        </p:spPr>
        <p:txBody>
          <a:bodyPr wrap="square" lIns="0" tIns="0" rIns="0" bIns="0" rtlCol="0" anchor="ctr"/>
          <a:lstStyle/>
          <a:p>
            <a:pPr indent="0" marL="0">
              <a:buNone/>
            </a:pPr>
            <a:r>
              <a:rPr lang="en-US" sz="1500" dirty="0">
                <a:solidFill>
                  <a:schemeClr val="accent3"/>
                </a:solidFill>
              </a:rPr>
              <a:t>A quick view of the hands-on work I've done. Full work history available on request.</a:t>
            </a:r>
            <a:endParaRPr lang="en-US" sz="1500" dirty="0"/>
          </a:p>
        </p:txBody>
      </p:sp>
      <p:sp>
        <p:nvSpPr>
          <p:cNvPr id="5" name="Billing coordination card"/>
          <p:cNvSpPr/>
          <p:nvPr/>
        </p:nvSpPr>
        <p:spPr>
          <a:xfrm>
            <a:off x="548640" y="2148840"/>
            <a:ext cx="3545738" cy="1920240"/>
          </a:xfrm>
          <a:prstGeom prst="roundRect">
            <a:avLst>
              <a:gd name="adj" fmla="val 3810"/>
            </a:avLst>
          </a:prstGeom>
          <a:solidFill>
            <a:schemeClr val="bg1"/>
          </a:solidFill>
          <a:ln w="9525">
            <a:solidFill>
              <a:schemeClr val="accent4"/>
            </a:solidFill>
            <a:prstDash val="solid"/>
          </a:ln>
        </p:spPr>
      </p:sp>
      <p:sp>
        <p:nvSpPr>
          <p:cNvPr id="6" name="Shape 4"/>
          <p:cNvSpPr/>
          <p:nvPr/>
        </p:nvSpPr>
        <p:spPr>
          <a:xfrm>
            <a:off x="822960" y="2450592"/>
            <a:ext cx="256032" cy="256032"/>
          </a:xfrm>
          <a:prstGeom prst="ellipse">
            <a:avLst/>
          </a:prstGeom>
          <a:solidFill>
            <a:schemeClr val="accent2"/>
          </a:solidFill>
          <a:ln w="15875">
            <a:solidFill>
              <a:schemeClr val="accent2"/>
            </a:solidFill>
            <a:prstDash val="solid"/>
          </a:ln>
        </p:spPr>
      </p:sp>
      <p:pic>
        <p:nvPicPr>
          <p:cNvPr id="7" name="Image 0" descr="preencoded.png">    </p:cNvPr>
          <p:cNvPicPr>
            <a:picLocks noChangeAspect="1"/>
          </p:cNvPicPr>
          <p:nvPr/>
        </p:nvPicPr>
        <p:blipFill>
          <a:blip r:embed="rId1"/>
          <a:stretch>
            <a:fillRect/>
          </a:stretch>
        </p:blipFill>
        <p:spPr>
          <a:xfrm>
            <a:off x="874166" y="2501798"/>
            <a:ext cx="153619" cy="153619"/>
          </a:xfrm>
          <a:prstGeom prst="rect">
            <a:avLst/>
          </a:prstGeom>
        </p:spPr>
      </p:pic>
      <p:sp>
        <p:nvSpPr>
          <p:cNvPr id="8" name="Text 5"/>
          <p:cNvSpPr txBox="1"/>
          <p:nvPr/>
        </p:nvSpPr>
        <p:spPr>
          <a:xfrm>
            <a:off x="1234440" y="2404872"/>
            <a:ext cx="2631338" cy="365760"/>
          </a:xfrm>
          <a:prstGeom prst="rect">
            <a:avLst/>
          </a:prstGeom>
          <a:noFill/>
          <a:ln/>
        </p:spPr>
        <p:txBody>
          <a:bodyPr wrap="square" lIns="0" tIns="0" rIns="0" bIns="0" rtlCol="0" anchor="ctr"/>
          <a:lstStyle/>
          <a:p>
            <a:pPr indent="0" marL="0">
              <a:buNone/>
            </a:pPr>
            <a:r>
              <a:rPr lang="en-US" sz="1500" b="1" dirty="0">
                <a:solidFill>
                  <a:schemeClr val="tx1"/>
                </a:solidFill>
              </a:rPr>
              <a:t>Billing coordination</a:t>
            </a:r>
            <a:endParaRPr lang="en-US" sz="1500" dirty="0"/>
          </a:p>
        </p:txBody>
      </p:sp>
      <p:sp>
        <p:nvSpPr>
          <p:cNvPr id="9" name="Text 6"/>
          <p:cNvSpPr txBox="1"/>
          <p:nvPr/>
        </p:nvSpPr>
        <p:spPr>
          <a:xfrm>
            <a:off x="822960" y="2926080"/>
            <a:ext cx="2997098" cy="960120"/>
          </a:xfrm>
          <a:prstGeom prst="rect">
            <a:avLst/>
          </a:prstGeom>
          <a:noFill/>
          <a:ln/>
        </p:spPr>
        <p:txBody>
          <a:bodyPr wrap="square" lIns="0" tIns="0" rIns="0" bIns="0" rtlCol="0" anchor="t"/>
          <a:lstStyle/>
          <a:p>
            <a:pPr indent="0" marL="0">
              <a:buNone/>
            </a:pPr>
            <a:r>
              <a:rPr lang="en-US" sz="1250" dirty="0">
                <a:solidFill>
                  <a:schemeClr val="accent3"/>
                </a:solidFill>
              </a:rPr>
              <a:t>Managing invoices and recurring billing, including credits, refunds, proration, adjustments, and billing-date monitoring.</a:t>
            </a:r>
            <a:endParaRPr lang="en-US" sz="1250" dirty="0"/>
          </a:p>
        </p:txBody>
      </p:sp>
      <p:sp>
        <p:nvSpPr>
          <p:cNvPr id="10" name="Payment processing card"/>
          <p:cNvSpPr/>
          <p:nvPr/>
        </p:nvSpPr>
        <p:spPr>
          <a:xfrm>
            <a:off x="4322978" y="2148840"/>
            <a:ext cx="3545738" cy="1920240"/>
          </a:xfrm>
          <a:prstGeom prst="roundRect">
            <a:avLst>
              <a:gd name="adj" fmla="val 3810"/>
            </a:avLst>
          </a:prstGeom>
          <a:solidFill>
            <a:schemeClr val="bg1"/>
          </a:solidFill>
          <a:ln w="9525">
            <a:solidFill>
              <a:schemeClr val="accent4"/>
            </a:solidFill>
            <a:prstDash val="solid"/>
          </a:ln>
        </p:spPr>
      </p:sp>
      <p:sp>
        <p:nvSpPr>
          <p:cNvPr id="11" name="Shape 8"/>
          <p:cNvSpPr/>
          <p:nvPr/>
        </p:nvSpPr>
        <p:spPr>
          <a:xfrm>
            <a:off x="4597298" y="2450592"/>
            <a:ext cx="256032" cy="256032"/>
          </a:xfrm>
          <a:prstGeom prst="ellipse">
            <a:avLst/>
          </a:prstGeom>
          <a:solidFill>
            <a:schemeClr val="accent2"/>
          </a:solidFill>
          <a:ln w="15875">
            <a:solidFill>
              <a:schemeClr val="accent2"/>
            </a:solidFill>
            <a:prstDash val="solid"/>
          </a:ln>
        </p:spPr>
      </p:sp>
      <p:pic>
        <p:nvPicPr>
          <p:cNvPr id="12" name="Image 1" descr="preencoded.png">    </p:cNvPr>
          <p:cNvPicPr>
            <a:picLocks noChangeAspect="1"/>
          </p:cNvPicPr>
          <p:nvPr/>
        </p:nvPicPr>
        <p:blipFill>
          <a:blip r:embed="rId2"/>
          <a:stretch>
            <a:fillRect/>
          </a:stretch>
        </p:blipFill>
        <p:spPr>
          <a:xfrm>
            <a:off x="4648505" y="2501798"/>
            <a:ext cx="153619" cy="153619"/>
          </a:xfrm>
          <a:prstGeom prst="rect">
            <a:avLst/>
          </a:prstGeom>
        </p:spPr>
      </p:pic>
      <p:sp>
        <p:nvSpPr>
          <p:cNvPr id="13" name="Text 9"/>
          <p:cNvSpPr txBox="1"/>
          <p:nvPr/>
        </p:nvSpPr>
        <p:spPr>
          <a:xfrm>
            <a:off x="5008778" y="2404872"/>
            <a:ext cx="2631338" cy="365760"/>
          </a:xfrm>
          <a:prstGeom prst="rect">
            <a:avLst/>
          </a:prstGeom>
          <a:noFill/>
          <a:ln/>
        </p:spPr>
        <p:txBody>
          <a:bodyPr wrap="square" lIns="0" tIns="0" rIns="0" bIns="0" rtlCol="0" anchor="ctr"/>
          <a:lstStyle/>
          <a:p>
            <a:pPr indent="0" marL="0">
              <a:buNone/>
            </a:pPr>
            <a:r>
              <a:rPr lang="en-US" sz="1500" b="1" dirty="0">
                <a:solidFill>
                  <a:schemeClr val="tx1"/>
                </a:solidFill>
              </a:rPr>
              <a:t>Payment processing</a:t>
            </a:r>
            <a:endParaRPr lang="en-US" sz="1500" dirty="0"/>
          </a:p>
        </p:txBody>
      </p:sp>
      <p:sp>
        <p:nvSpPr>
          <p:cNvPr id="14" name="Text 10"/>
          <p:cNvSpPr txBox="1"/>
          <p:nvPr/>
        </p:nvSpPr>
        <p:spPr>
          <a:xfrm>
            <a:off x="4597298" y="2926080"/>
            <a:ext cx="2997098" cy="960120"/>
          </a:xfrm>
          <a:prstGeom prst="rect">
            <a:avLst/>
          </a:prstGeom>
          <a:noFill/>
          <a:ln/>
        </p:spPr>
        <p:txBody>
          <a:bodyPr wrap="square" lIns="0" tIns="0" rIns="0" bIns="0" rtlCol="0" anchor="t"/>
          <a:lstStyle/>
          <a:p>
            <a:pPr indent="0" marL="0">
              <a:buNone/>
            </a:pPr>
            <a:r>
              <a:rPr lang="en-US" sz="1250" dirty="0">
                <a:solidFill>
                  <a:schemeClr val="accent3"/>
                </a:solidFill>
              </a:rPr>
              <a:t>Verifying payments, tracking payment status, and coordinating payment details, including contractor payments.</a:t>
            </a:r>
            <a:endParaRPr lang="en-US" sz="1250" dirty="0"/>
          </a:p>
        </p:txBody>
      </p:sp>
      <p:sp>
        <p:nvSpPr>
          <p:cNvPr id="15" name="Account reconciliation card"/>
          <p:cNvSpPr/>
          <p:nvPr/>
        </p:nvSpPr>
        <p:spPr>
          <a:xfrm>
            <a:off x="8097317" y="2148840"/>
            <a:ext cx="3545738" cy="1920240"/>
          </a:xfrm>
          <a:prstGeom prst="roundRect">
            <a:avLst>
              <a:gd name="adj" fmla="val 3810"/>
            </a:avLst>
          </a:prstGeom>
          <a:solidFill>
            <a:schemeClr val="bg1"/>
          </a:solidFill>
          <a:ln w="9525">
            <a:solidFill>
              <a:schemeClr val="accent4"/>
            </a:solidFill>
            <a:prstDash val="solid"/>
          </a:ln>
        </p:spPr>
      </p:sp>
      <p:sp>
        <p:nvSpPr>
          <p:cNvPr id="16" name="Shape 12"/>
          <p:cNvSpPr/>
          <p:nvPr/>
        </p:nvSpPr>
        <p:spPr>
          <a:xfrm>
            <a:off x="8371637" y="2450592"/>
            <a:ext cx="256032" cy="256032"/>
          </a:xfrm>
          <a:prstGeom prst="ellipse">
            <a:avLst/>
          </a:prstGeom>
          <a:solidFill>
            <a:schemeClr val="accent2"/>
          </a:solidFill>
          <a:ln w="15875">
            <a:solidFill>
              <a:schemeClr val="accent2"/>
            </a:solidFill>
            <a:prstDash val="solid"/>
          </a:ln>
        </p:spPr>
      </p:sp>
      <p:pic>
        <p:nvPicPr>
          <p:cNvPr id="17" name="Image 2" descr="preencoded.png">    </p:cNvPr>
          <p:cNvPicPr>
            <a:picLocks noChangeAspect="1"/>
          </p:cNvPicPr>
          <p:nvPr/>
        </p:nvPicPr>
        <p:blipFill>
          <a:blip r:embed="rId3"/>
          <a:stretch>
            <a:fillRect/>
          </a:stretch>
        </p:blipFill>
        <p:spPr>
          <a:xfrm>
            <a:off x="8422843" y="2501798"/>
            <a:ext cx="153619" cy="153619"/>
          </a:xfrm>
          <a:prstGeom prst="rect">
            <a:avLst/>
          </a:prstGeom>
        </p:spPr>
      </p:pic>
      <p:sp>
        <p:nvSpPr>
          <p:cNvPr id="18" name="Text 13"/>
          <p:cNvSpPr txBox="1"/>
          <p:nvPr/>
        </p:nvSpPr>
        <p:spPr>
          <a:xfrm>
            <a:off x="8783117" y="2404872"/>
            <a:ext cx="2631338" cy="365760"/>
          </a:xfrm>
          <a:prstGeom prst="rect">
            <a:avLst/>
          </a:prstGeom>
          <a:noFill/>
          <a:ln/>
        </p:spPr>
        <p:txBody>
          <a:bodyPr wrap="square" lIns="0" tIns="0" rIns="0" bIns="0" rtlCol="0" anchor="ctr"/>
          <a:lstStyle/>
          <a:p>
            <a:pPr indent="0" marL="0">
              <a:buNone/>
            </a:pPr>
            <a:r>
              <a:rPr lang="en-US" sz="1500" b="1" dirty="0">
                <a:solidFill>
                  <a:schemeClr val="tx1"/>
                </a:solidFill>
              </a:rPr>
              <a:t>Account reconciliation</a:t>
            </a:r>
            <a:endParaRPr lang="en-US" sz="1500" dirty="0"/>
          </a:p>
        </p:txBody>
      </p:sp>
      <p:sp>
        <p:nvSpPr>
          <p:cNvPr id="19" name="Text 14"/>
          <p:cNvSpPr txBox="1"/>
          <p:nvPr/>
        </p:nvSpPr>
        <p:spPr>
          <a:xfrm>
            <a:off x="8371637" y="2926080"/>
            <a:ext cx="2997098" cy="960120"/>
          </a:xfrm>
          <a:prstGeom prst="rect">
            <a:avLst/>
          </a:prstGeom>
          <a:noFill/>
          <a:ln/>
        </p:spPr>
        <p:txBody>
          <a:bodyPr wrap="square" lIns="0" tIns="0" rIns="0" bIns="0" rtlCol="0" anchor="t"/>
          <a:lstStyle/>
          <a:p>
            <a:pPr indent="0" marL="0">
              <a:buNone/>
            </a:pPr>
            <a:r>
              <a:rPr lang="en-US" sz="1250" dirty="0">
                <a:solidFill>
                  <a:schemeClr val="accent3"/>
                </a:solidFill>
              </a:rPr>
              <a:t>Reconciling billing with account records and keeping active, closed, and terminated accounts accurate.</a:t>
            </a:r>
            <a:endParaRPr lang="en-US" sz="1250" dirty="0"/>
          </a:p>
        </p:txBody>
      </p:sp>
      <p:sp>
        <p:nvSpPr>
          <p:cNvPr id="20" name="Client account administration card"/>
          <p:cNvSpPr/>
          <p:nvPr/>
        </p:nvSpPr>
        <p:spPr>
          <a:xfrm>
            <a:off x="548640" y="4297680"/>
            <a:ext cx="3545738" cy="1920240"/>
          </a:xfrm>
          <a:prstGeom prst="roundRect">
            <a:avLst>
              <a:gd name="adj" fmla="val 3810"/>
            </a:avLst>
          </a:prstGeom>
          <a:solidFill>
            <a:schemeClr val="bg1"/>
          </a:solidFill>
          <a:ln w="9525">
            <a:solidFill>
              <a:schemeClr val="accent4"/>
            </a:solidFill>
            <a:prstDash val="solid"/>
          </a:ln>
        </p:spPr>
      </p:sp>
      <p:sp>
        <p:nvSpPr>
          <p:cNvPr id="21" name="Shape 16"/>
          <p:cNvSpPr/>
          <p:nvPr/>
        </p:nvSpPr>
        <p:spPr>
          <a:xfrm>
            <a:off x="822960" y="4599432"/>
            <a:ext cx="256032" cy="256032"/>
          </a:xfrm>
          <a:prstGeom prst="ellipse">
            <a:avLst/>
          </a:prstGeom>
          <a:solidFill>
            <a:schemeClr val="accent2"/>
          </a:solidFill>
          <a:ln w="15875">
            <a:solidFill>
              <a:schemeClr val="accent2"/>
            </a:solidFill>
            <a:prstDash val="solid"/>
          </a:ln>
        </p:spPr>
      </p:sp>
      <p:pic>
        <p:nvPicPr>
          <p:cNvPr id="22" name="Image 3" descr="preencoded.png">    </p:cNvPr>
          <p:cNvPicPr>
            <a:picLocks noChangeAspect="1"/>
          </p:cNvPicPr>
          <p:nvPr/>
        </p:nvPicPr>
        <p:blipFill>
          <a:blip r:embed="rId4"/>
          <a:stretch>
            <a:fillRect/>
          </a:stretch>
        </p:blipFill>
        <p:spPr>
          <a:xfrm>
            <a:off x="874166" y="4650638"/>
            <a:ext cx="153619" cy="153619"/>
          </a:xfrm>
          <a:prstGeom prst="rect">
            <a:avLst/>
          </a:prstGeom>
        </p:spPr>
      </p:pic>
      <p:sp>
        <p:nvSpPr>
          <p:cNvPr id="23" name="Text 17"/>
          <p:cNvSpPr txBox="1"/>
          <p:nvPr/>
        </p:nvSpPr>
        <p:spPr>
          <a:xfrm>
            <a:off x="1234440" y="4553712"/>
            <a:ext cx="2631338" cy="365760"/>
          </a:xfrm>
          <a:prstGeom prst="rect">
            <a:avLst/>
          </a:prstGeom>
          <a:noFill/>
          <a:ln/>
        </p:spPr>
        <p:txBody>
          <a:bodyPr wrap="square" lIns="0" tIns="0" rIns="0" bIns="0" rtlCol="0" anchor="ctr"/>
          <a:lstStyle/>
          <a:p>
            <a:pPr indent="0" marL="0">
              <a:buNone/>
            </a:pPr>
            <a:r>
              <a:rPr lang="en-US" sz="1500" b="1" dirty="0">
                <a:solidFill>
                  <a:schemeClr val="tx1"/>
                </a:solidFill>
              </a:rPr>
              <a:t>Client account administration</a:t>
            </a:r>
            <a:endParaRPr lang="en-US" sz="1500" dirty="0"/>
          </a:p>
        </p:txBody>
      </p:sp>
      <p:sp>
        <p:nvSpPr>
          <p:cNvPr id="24" name="Text 18"/>
          <p:cNvSpPr txBox="1"/>
          <p:nvPr/>
        </p:nvSpPr>
        <p:spPr>
          <a:xfrm>
            <a:off x="822960" y="5074920"/>
            <a:ext cx="2997098" cy="960120"/>
          </a:xfrm>
          <a:prstGeom prst="rect">
            <a:avLst/>
          </a:prstGeom>
          <a:noFill/>
          <a:ln/>
        </p:spPr>
        <p:txBody>
          <a:bodyPr wrap="square" lIns="0" tIns="0" rIns="0" bIns="0" rtlCol="0" anchor="t"/>
          <a:lstStyle/>
          <a:p>
            <a:pPr indent="0" marL="0">
              <a:buNone/>
            </a:pPr>
            <a:r>
              <a:rPr lang="en-US" sz="1250" dirty="0">
                <a:solidFill>
                  <a:schemeClr val="accent3"/>
                </a:solidFill>
              </a:rPr>
              <a:t>Handling contract and subscription changes and coordinating billing questions with clients and internal teams.</a:t>
            </a:r>
            <a:endParaRPr lang="en-US" sz="1250" dirty="0"/>
          </a:p>
        </p:txBody>
      </p:sp>
      <p:sp>
        <p:nvSpPr>
          <p:cNvPr id="25" name="Reporting &amp; data management card"/>
          <p:cNvSpPr/>
          <p:nvPr/>
        </p:nvSpPr>
        <p:spPr>
          <a:xfrm>
            <a:off x="4322978" y="4297680"/>
            <a:ext cx="3545738" cy="1920240"/>
          </a:xfrm>
          <a:prstGeom prst="roundRect">
            <a:avLst>
              <a:gd name="adj" fmla="val 3810"/>
            </a:avLst>
          </a:prstGeom>
          <a:solidFill>
            <a:schemeClr val="bg1"/>
          </a:solidFill>
          <a:ln w="9525">
            <a:solidFill>
              <a:schemeClr val="accent4"/>
            </a:solidFill>
            <a:prstDash val="solid"/>
          </a:ln>
        </p:spPr>
      </p:sp>
      <p:sp>
        <p:nvSpPr>
          <p:cNvPr id="26" name="Shape 20"/>
          <p:cNvSpPr/>
          <p:nvPr/>
        </p:nvSpPr>
        <p:spPr>
          <a:xfrm>
            <a:off x="4597298" y="4599432"/>
            <a:ext cx="256032" cy="256032"/>
          </a:xfrm>
          <a:prstGeom prst="ellipse">
            <a:avLst/>
          </a:prstGeom>
          <a:solidFill>
            <a:schemeClr val="accent2"/>
          </a:solidFill>
          <a:ln w="15875">
            <a:solidFill>
              <a:schemeClr val="accent2"/>
            </a:solidFill>
            <a:prstDash val="solid"/>
          </a:ln>
        </p:spPr>
      </p:sp>
      <p:pic>
        <p:nvPicPr>
          <p:cNvPr id="27" name="Image 4" descr="preencoded.png">    </p:cNvPr>
          <p:cNvPicPr>
            <a:picLocks noChangeAspect="1"/>
          </p:cNvPicPr>
          <p:nvPr/>
        </p:nvPicPr>
        <p:blipFill>
          <a:blip r:embed="rId5"/>
          <a:stretch>
            <a:fillRect/>
          </a:stretch>
        </p:blipFill>
        <p:spPr>
          <a:xfrm>
            <a:off x="4648505" y="4650638"/>
            <a:ext cx="153619" cy="153619"/>
          </a:xfrm>
          <a:prstGeom prst="rect">
            <a:avLst/>
          </a:prstGeom>
        </p:spPr>
      </p:pic>
      <p:sp>
        <p:nvSpPr>
          <p:cNvPr id="28" name="Text 21"/>
          <p:cNvSpPr txBox="1"/>
          <p:nvPr/>
        </p:nvSpPr>
        <p:spPr>
          <a:xfrm>
            <a:off x="5008778" y="4553712"/>
            <a:ext cx="2631338" cy="365760"/>
          </a:xfrm>
          <a:prstGeom prst="rect">
            <a:avLst/>
          </a:prstGeom>
          <a:noFill/>
          <a:ln/>
        </p:spPr>
        <p:txBody>
          <a:bodyPr wrap="square" lIns="0" tIns="0" rIns="0" bIns="0" rtlCol="0" anchor="ctr"/>
          <a:lstStyle/>
          <a:p>
            <a:pPr indent="0" marL="0">
              <a:buNone/>
            </a:pPr>
            <a:r>
              <a:rPr lang="en-US" sz="1500" b="1" dirty="0">
                <a:solidFill>
                  <a:schemeClr val="tx1"/>
                </a:solidFill>
              </a:rPr>
              <a:t>Reporting &amp; data management</a:t>
            </a:r>
            <a:endParaRPr lang="en-US" sz="1500" dirty="0"/>
          </a:p>
        </p:txBody>
      </p:sp>
      <p:sp>
        <p:nvSpPr>
          <p:cNvPr id="29" name="Text 22"/>
          <p:cNvSpPr txBox="1"/>
          <p:nvPr/>
        </p:nvSpPr>
        <p:spPr>
          <a:xfrm>
            <a:off x="4597298" y="5074920"/>
            <a:ext cx="2997098" cy="960120"/>
          </a:xfrm>
          <a:prstGeom prst="rect">
            <a:avLst/>
          </a:prstGeom>
          <a:noFill/>
          <a:ln/>
        </p:spPr>
        <p:txBody>
          <a:bodyPr wrap="square" lIns="0" tIns="0" rIns="0" bIns="0" rtlCol="0" anchor="t"/>
          <a:lstStyle/>
          <a:p>
            <a:pPr indent="0" marL="0">
              <a:buNone/>
            </a:pPr>
            <a:r>
              <a:rPr lang="en-US" sz="1250" dirty="0">
                <a:solidFill>
                  <a:schemeClr val="accent3"/>
                </a:solidFill>
              </a:rPr>
              <a:t>Building and maintaining spreadsheets, validating data, running monthly audits, and preparing billing reports.</a:t>
            </a:r>
            <a:endParaRPr lang="en-US" sz="1250" dirty="0"/>
          </a:p>
        </p:txBody>
      </p:sp>
      <p:sp>
        <p:nvSpPr>
          <p:cNvPr id="30" name="Remote operations support card"/>
          <p:cNvSpPr/>
          <p:nvPr/>
        </p:nvSpPr>
        <p:spPr>
          <a:xfrm>
            <a:off x="8097317" y="4297680"/>
            <a:ext cx="3545738" cy="1920240"/>
          </a:xfrm>
          <a:prstGeom prst="roundRect">
            <a:avLst>
              <a:gd name="adj" fmla="val 3810"/>
            </a:avLst>
          </a:prstGeom>
          <a:solidFill>
            <a:schemeClr val="bg1"/>
          </a:solidFill>
          <a:ln w="9525">
            <a:solidFill>
              <a:schemeClr val="accent4"/>
            </a:solidFill>
            <a:prstDash val="solid"/>
          </a:ln>
        </p:spPr>
      </p:sp>
      <p:sp>
        <p:nvSpPr>
          <p:cNvPr id="31" name="Shape 24"/>
          <p:cNvSpPr/>
          <p:nvPr/>
        </p:nvSpPr>
        <p:spPr>
          <a:xfrm>
            <a:off x="8371637" y="4599432"/>
            <a:ext cx="256032" cy="256032"/>
          </a:xfrm>
          <a:prstGeom prst="ellipse">
            <a:avLst/>
          </a:prstGeom>
          <a:solidFill>
            <a:schemeClr val="accent2"/>
          </a:solidFill>
          <a:ln w="15875">
            <a:solidFill>
              <a:schemeClr val="accent2"/>
            </a:solidFill>
            <a:prstDash val="solid"/>
          </a:ln>
        </p:spPr>
      </p:sp>
      <p:pic>
        <p:nvPicPr>
          <p:cNvPr id="32" name="Image 5" descr="preencoded.png">    </p:cNvPr>
          <p:cNvPicPr>
            <a:picLocks noChangeAspect="1"/>
          </p:cNvPicPr>
          <p:nvPr/>
        </p:nvPicPr>
        <p:blipFill>
          <a:blip r:embed="rId6"/>
          <a:stretch>
            <a:fillRect/>
          </a:stretch>
        </p:blipFill>
        <p:spPr>
          <a:xfrm>
            <a:off x="8422843" y="4650638"/>
            <a:ext cx="153619" cy="153619"/>
          </a:xfrm>
          <a:prstGeom prst="rect">
            <a:avLst/>
          </a:prstGeom>
        </p:spPr>
      </p:pic>
      <p:sp>
        <p:nvSpPr>
          <p:cNvPr id="33" name="Text 25"/>
          <p:cNvSpPr txBox="1"/>
          <p:nvPr/>
        </p:nvSpPr>
        <p:spPr>
          <a:xfrm>
            <a:off x="8783117" y="4553712"/>
            <a:ext cx="2631338" cy="365760"/>
          </a:xfrm>
          <a:prstGeom prst="rect">
            <a:avLst/>
          </a:prstGeom>
          <a:noFill/>
          <a:ln/>
        </p:spPr>
        <p:txBody>
          <a:bodyPr wrap="square" lIns="0" tIns="0" rIns="0" bIns="0" rtlCol="0" anchor="ctr"/>
          <a:lstStyle/>
          <a:p>
            <a:pPr indent="0" marL="0">
              <a:buNone/>
            </a:pPr>
            <a:r>
              <a:rPr lang="en-US" sz="1500" b="1" dirty="0">
                <a:solidFill>
                  <a:schemeClr val="tx1"/>
                </a:solidFill>
              </a:rPr>
              <a:t>Remote operations support</a:t>
            </a:r>
            <a:endParaRPr lang="en-US" sz="1500" dirty="0"/>
          </a:p>
        </p:txBody>
      </p:sp>
      <p:sp>
        <p:nvSpPr>
          <p:cNvPr id="34" name="Text 26"/>
          <p:cNvSpPr txBox="1"/>
          <p:nvPr/>
        </p:nvSpPr>
        <p:spPr>
          <a:xfrm>
            <a:off x="8371637" y="5074920"/>
            <a:ext cx="2997098" cy="960120"/>
          </a:xfrm>
          <a:prstGeom prst="rect">
            <a:avLst/>
          </a:prstGeom>
          <a:noFill/>
          <a:ln/>
        </p:spPr>
        <p:txBody>
          <a:bodyPr wrap="square" lIns="0" tIns="0" rIns="0" bIns="0" rtlCol="0" anchor="t"/>
          <a:lstStyle/>
          <a:p>
            <a:pPr indent="0" marL="0">
              <a:buNone/>
            </a:pPr>
            <a:r>
              <a:rPr lang="en-US" sz="1250" dirty="0">
                <a:solidFill>
                  <a:schemeClr val="accent3"/>
                </a:solidFill>
              </a:rPr>
              <a:t>Coordinating across teams in Slack and other remote tools, tracking issues, and following up until resolved.</a:t>
            </a:r>
            <a:endParaRPr lang="en-US" sz="12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1371600"/>
            <a:ext cx="6400800" cy="320040"/>
          </a:xfrm>
          <a:prstGeom prst="rect">
            <a:avLst/>
          </a:prstGeom>
          <a:noFill/>
          <a:ln/>
        </p:spPr>
        <p:txBody>
          <a:bodyPr wrap="square" lIns="0" tIns="0" rIns="0" bIns="0" rtlCol="0" anchor="ctr"/>
          <a:lstStyle/>
          <a:p>
            <a:pPr indent="0" marL="0">
              <a:buNone/>
            </a:pPr>
            <a:r>
              <a:rPr lang="en-US" sz="1200" b="1" spc="300" kern="0" dirty="0">
                <a:solidFill>
                  <a:schemeClr val="accent2"/>
                </a:solidFill>
              </a:rPr>
              <a:t>CONTACT</a:t>
            </a:r>
            <a:endParaRPr lang="en-US" sz="1200" dirty="0"/>
          </a:p>
        </p:txBody>
      </p:sp>
      <p:sp>
        <p:nvSpPr>
          <p:cNvPr id="3" name="Text 0"/>
          <p:cNvSpPr/>
          <p:nvPr>
            <p:ph idx="100" type="title" hasCustomPrompt="1"/>
          </p:nvPr>
        </p:nvSpPr>
        <p:spPr>
          <a:xfrm>
            <a:off x="548640" y="2011680"/>
            <a:ext cx="6583680" cy="2011680"/>
          </a:xfrm>
          <a:prstGeom prst="rect">
            <a:avLst/>
          </a:prstGeom>
          <a:noFill/>
          <a:ln/>
        </p:spPr>
        <p:txBody>
          <a:bodyPr wrap="square" lIns="0" tIns="0" rIns="0" bIns="0" rtlCol="0" anchor="t"/>
          <a:lstStyle/>
          <a:p>
            <a:pPr algn="l" indent="0" marL="0">
              <a:buNone/>
            </a:pPr>
            <a:r>
              <a:rPr lang="en-US" sz="5400" dirty="0">
                <a:solidFill>
                  <a:schemeClr val="bg1"/>
                </a:solidFill>
                <a:latin typeface="Cambria" pitchFamily="34" charset="0"/>
                <a:ea typeface="Cambria" pitchFamily="34" charset="-122"/>
                <a:cs typeface="Cambria" pitchFamily="34" charset="-120"/>
              </a:rPr>
              <a:t>Let's </a:t>
            </a:r>
            <a:pPr algn="l" indent="0" marL="0">
              <a:buNone/>
            </a:pPr>
            <a:r>
              <a:rPr lang="en-US" sz="5400" i="1" dirty="0">
                <a:solidFill>
                  <a:schemeClr val="accent2"/>
                </a:solidFill>
                <a:latin typeface="Cambria" pitchFamily="34" charset="0"/>
                <a:ea typeface="Cambria" pitchFamily="34" charset="-122"/>
                <a:cs typeface="Cambria" pitchFamily="34" charset="-120"/>
              </a:rPr>
              <a:t>connect.</a:t>
            </a:r>
            <a:endParaRPr lang="en-US" sz="5400" dirty="0"/>
          </a:p>
        </p:txBody>
      </p:sp>
      <p:sp>
        <p:nvSpPr>
          <p:cNvPr id="4" name="Text 2"/>
          <p:cNvSpPr txBox="1"/>
          <p:nvPr/>
        </p:nvSpPr>
        <p:spPr>
          <a:xfrm>
            <a:off x="548640" y="4069080"/>
            <a:ext cx="6035040" cy="822960"/>
          </a:xfrm>
          <a:prstGeom prst="rect">
            <a:avLst/>
          </a:prstGeom>
          <a:noFill/>
          <a:ln/>
        </p:spPr>
        <p:txBody>
          <a:bodyPr wrap="square" lIns="0" tIns="0" rIns="0" bIns="0" rtlCol="0" anchor="ctr"/>
          <a:lstStyle/>
          <a:p>
            <a:pPr indent="0" marL="0">
              <a:buNone/>
            </a:pPr>
            <a:r>
              <a:rPr lang="en-US" sz="1600" dirty="0">
                <a:solidFill>
                  <a:srgbClr val="C9D3CF"/>
                </a:solidFill>
              </a:rPr>
              <a:t>Hiring for billing or finance operations, or looking for reliable remote support? I'd be glad to hear what you're working on.</a:t>
            </a:r>
            <a:endParaRPr lang="en-US" sz="1600" dirty="0"/>
          </a:p>
        </p:txBody>
      </p:sp>
      <p:sp>
        <p:nvSpPr>
          <p:cNvPr id="5" name="Shape 3"/>
          <p:cNvSpPr/>
          <p:nvPr/>
        </p:nvSpPr>
        <p:spPr>
          <a:xfrm>
            <a:off x="7635240" y="2194560"/>
            <a:ext cx="4023360" cy="0"/>
          </a:xfrm>
          <a:prstGeom prst="line">
            <a:avLst/>
          </a:prstGeom>
          <a:noFill/>
          <a:ln w="9525">
            <a:solidFill>
              <a:srgbClr val="2E3D38"/>
            </a:solidFill>
            <a:prstDash val="solid"/>
          </a:ln>
        </p:spPr>
      </p:sp>
      <p:sp>
        <p:nvSpPr>
          <p:cNvPr id="6" name="Text 4"/>
          <p:cNvSpPr txBox="1"/>
          <p:nvPr/>
        </p:nvSpPr>
        <p:spPr>
          <a:xfrm>
            <a:off x="7635240" y="2423160"/>
            <a:ext cx="1188720" cy="365760"/>
          </a:xfrm>
          <a:prstGeom prst="rect">
            <a:avLst/>
          </a:prstGeom>
          <a:noFill/>
          <a:ln/>
        </p:spPr>
        <p:txBody>
          <a:bodyPr wrap="square" lIns="0" tIns="0" rIns="0" bIns="0" rtlCol="0" anchor="ctr"/>
          <a:lstStyle/>
          <a:p>
            <a:pPr indent="0" marL="0">
              <a:buNone/>
            </a:pPr>
            <a:r>
              <a:rPr lang="en-US" sz="1000" b="1" spc="200" kern="0" dirty="0">
                <a:solidFill>
                  <a:srgbClr val="9AA8A2"/>
                </a:solidFill>
              </a:rPr>
              <a:t>EMAIL</a:t>
            </a:r>
            <a:endParaRPr lang="en-US" sz="1000" dirty="0"/>
          </a:p>
        </p:txBody>
      </p:sp>
      <p:sp>
        <p:nvSpPr>
          <p:cNvPr id="7" name="Text 5"/>
          <p:cNvSpPr txBox="1"/>
          <p:nvPr/>
        </p:nvSpPr>
        <p:spPr>
          <a:xfrm>
            <a:off x="8869680" y="2423160"/>
            <a:ext cx="2788920" cy="365760"/>
          </a:xfrm>
          <a:prstGeom prst="rect">
            <a:avLst/>
          </a:prstGeom>
          <a:noFill/>
          <a:ln/>
        </p:spPr>
        <p:txBody>
          <a:bodyPr wrap="square" lIns="0" tIns="0" rIns="0" bIns="0" rtlCol="0" anchor="ctr"/>
          <a:lstStyle/>
          <a:p>
            <a:pPr indent="0" marL="0">
              <a:buNone/>
            </a:pPr>
            <a:r>
              <a:rPr lang="en-US" sz="1500" i="1" dirty="0">
                <a:solidFill>
                  <a:srgbClr val="9AA8A2"/>
                </a:solidFill>
              </a:rPr>
              <a:t>Add your email address</a:t>
            </a:r>
            <a:endParaRPr lang="en-US" sz="1500" dirty="0"/>
          </a:p>
        </p:txBody>
      </p:sp>
      <p:sp>
        <p:nvSpPr>
          <p:cNvPr id="8" name="Shape 6"/>
          <p:cNvSpPr/>
          <p:nvPr/>
        </p:nvSpPr>
        <p:spPr>
          <a:xfrm>
            <a:off x="7635240" y="3063240"/>
            <a:ext cx="4023360" cy="0"/>
          </a:xfrm>
          <a:prstGeom prst="line">
            <a:avLst/>
          </a:prstGeom>
          <a:noFill/>
          <a:ln w="9525">
            <a:solidFill>
              <a:srgbClr val="2E3D38"/>
            </a:solidFill>
            <a:prstDash val="solid"/>
          </a:ln>
        </p:spPr>
      </p:sp>
      <p:sp>
        <p:nvSpPr>
          <p:cNvPr id="9" name="Text 7"/>
          <p:cNvSpPr txBox="1"/>
          <p:nvPr/>
        </p:nvSpPr>
        <p:spPr>
          <a:xfrm>
            <a:off x="7635240" y="3291840"/>
            <a:ext cx="1188720" cy="365760"/>
          </a:xfrm>
          <a:prstGeom prst="rect">
            <a:avLst/>
          </a:prstGeom>
          <a:noFill/>
          <a:ln/>
        </p:spPr>
        <p:txBody>
          <a:bodyPr wrap="square" lIns="0" tIns="0" rIns="0" bIns="0" rtlCol="0" anchor="ctr"/>
          <a:lstStyle/>
          <a:p>
            <a:pPr indent="0" marL="0">
              <a:buNone/>
            </a:pPr>
            <a:r>
              <a:rPr lang="en-US" sz="1000" b="1" spc="200" kern="0" dirty="0">
                <a:solidFill>
                  <a:srgbClr val="9AA8A2"/>
                </a:solidFill>
              </a:rPr>
              <a:t>LINKEDIN</a:t>
            </a:r>
            <a:endParaRPr lang="en-US" sz="1000" dirty="0"/>
          </a:p>
        </p:txBody>
      </p:sp>
      <p:sp>
        <p:nvSpPr>
          <p:cNvPr id="10" name="Text 8"/>
          <p:cNvSpPr txBox="1"/>
          <p:nvPr/>
        </p:nvSpPr>
        <p:spPr>
          <a:xfrm>
            <a:off x="8869680" y="3291840"/>
            <a:ext cx="2788920" cy="365760"/>
          </a:xfrm>
          <a:prstGeom prst="rect">
            <a:avLst/>
          </a:prstGeom>
          <a:noFill/>
          <a:ln/>
        </p:spPr>
        <p:txBody>
          <a:bodyPr wrap="square" lIns="0" tIns="0" rIns="0" bIns="0" rtlCol="0" anchor="ctr"/>
          <a:lstStyle/>
          <a:p>
            <a:pPr indent="0" marL="0">
              <a:buNone/>
            </a:pPr>
            <a:r>
              <a:rPr lang="en-US" sz="1500" i="1" dirty="0">
                <a:solidFill>
                  <a:srgbClr val="9AA8A2"/>
                </a:solidFill>
              </a:rPr>
              <a:t>Add your LinkedIn URL</a:t>
            </a:r>
            <a:endParaRPr lang="en-US" sz="1500" dirty="0"/>
          </a:p>
        </p:txBody>
      </p:sp>
      <p:sp>
        <p:nvSpPr>
          <p:cNvPr id="11" name="Shape 9"/>
          <p:cNvSpPr/>
          <p:nvPr/>
        </p:nvSpPr>
        <p:spPr>
          <a:xfrm>
            <a:off x="7635240" y="3931920"/>
            <a:ext cx="4023360" cy="0"/>
          </a:xfrm>
          <a:prstGeom prst="line">
            <a:avLst/>
          </a:prstGeom>
          <a:noFill/>
          <a:ln w="9525">
            <a:solidFill>
              <a:srgbClr val="2E3D38"/>
            </a:solidFill>
            <a:prstDash val="solid"/>
          </a:ln>
        </p:spPr>
      </p:sp>
      <p:sp>
        <p:nvSpPr>
          <p:cNvPr id="12" name="Text 10"/>
          <p:cNvSpPr txBox="1"/>
          <p:nvPr/>
        </p:nvSpPr>
        <p:spPr>
          <a:xfrm>
            <a:off x="7635240" y="4160520"/>
            <a:ext cx="1188720" cy="365760"/>
          </a:xfrm>
          <a:prstGeom prst="rect">
            <a:avLst/>
          </a:prstGeom>
          <a:noFill/>
          <a:ln/>
        </p:spPr>
        <p:txBody>
          <a:bodyPr wrap="square" lIns="0" tIns="0" rIns="0" bIns="0" rtlCol="0" anchor="ctr"/>
          <a:lstStyle/>
          <a:p>
            <a:pPr indent="0" marL="0">
              <a:buNone/>
            </a:pPr>
            <a:r>
              <a:rPr lang="en-US" sz="1000" b="1" spc="200" kern="0" dirty="0">
                <a:solidFill>
                  <a:srgbClr val="9AA8A2"/>
                </a:solidFill>
              </a:rPr>
              <a:t>BASED</a:t>
            </a:r>
            <a:endParaRPr lang="en-US" sz="1000" dirty="0"/>
          </a:p>
        </p:txBody>
      </p:sp>
      <p:sp>
        <p:nvSpPr>
          <p:cNvPr id="13" name="Text 11"/>
          <p:cNvSpPr txBox="1"/>
          <p:nvPr/>
        </p:nvSpPr>
        <p:spPr>
          <a:xfrm>
            <a:off x="8869680" y="4160520"/>
            <a:ext cx="2788920" cy="365760"/>
          </a:xfrm>
          <a:prstGeom prst="rect">
            <a:avLst/>
          </a:prstGeom>
          <a:noFill/>
          <a:ln/>
        </p:spPr>
        <p:txBody>
          <a:bodyPr wrap="square" lIns="0" tIns="0" rIns="0" bIns="0" rtlCol="0" anchor="ctr"/>
          <a:lstStyle/>
          <a:p>
            <a:pPr indent="0" marL="0">
              <a:buNone/>
            </a:pPr>
            <a:r>
              <a:rPr lang="en-US" sz="1500" dirty="0">
                <a:solidFill>
                  <a:schemeClr val="bg1"/>
                </a:solidFill>
              </a:rPr>
              <a:t>Remote</a:t>
            </a:r>
            <a:endParaRPr lang="en-US" sz="1500" dirty="0"/>
          </a:p>
        </p:txBody>
      </p:sp>
      <p:sp>
        <p:nvSpPr>
          <p:cNvPr id="14" name="Shape 12"/>
          <p:cNvSpPr/>
          <p:nvPr/>
        </p:nvSpPr>
        <p:spPr>
          <a:xfrm>
            <a:off x="7635240" y="4800600"/>
            <a:ext cx="4023360" cy="0"/>
          </a:xfrm>
          <a:prstGeom prst="line">
            <a:avLst/>
          </a:prstGeom>
          <a:noFill/>
          <a:ln w="9525">
            <a:solidFill>
              <a:srgbClr val="2E3D38"/>
            </a:solidFill>
            <a:prstDash val="solid"/>
          </a:ln>
        </p:spPr>
      </p:sp>
    </p:spTree>
  </p:cSld>
  <p:clrMapOvr>
    <a:masterClrMapping/>
  </p:clrMapOvr>
</p:sld>
</file>

<file path=ppt/theme/theme1.xml><?xml version="1.0" encoding="utf-8"?>
<a:theme xmlns:a="http://schemas.openxmlformats.org/drawingml/2006/main" name="Benazir Ledger">
  <a:themeElements>
    <a:clrScheme name="Benazir Ledger">
      <a:dk1>
        <a:srgbClr val="15201D"/>
      </a:dk1>
      <a:lt1>
        <a:srgbClr val="FFFFFF"/>
      </a:lt1>
      <a:dk2>
        <a:srgbClr val="1E5A48"/>
      </a:dk2>
      <a:lt2>
        <a:srgbClr val="F6F7F5"/>
      </a:lt2>
      <a:accent1>
        <a:srgbClr val="1E5A48"/>
      </a:accent1>
      <a:accent2>
        <a:srgbClr val="7CC4A8"/>
      </a:accent2>
      <a:accent3>
        <a:srgbClr val="5B6863"/>
      </a:accent3>
      <a:accent4>
        <a:srgbClr val="DDE2DE"/>
      </a:accent4>
      <a:accent5>
        <a:srgbClr val="E5EEEA"/>
      </a:accent5>
      <a:accent6>
        <a:srgbClr val="2E7D5B"/>
      </a:accent6>
      <a:hlink>
        <a:srgbClr val="1E5A48"/>
      </a:hlink>
      <a:folHlink>
        <a:srgbClr val="5B6863"/>
      </a:folHlink>
    </a:clrScheme>
    <a:fontScheme name="Benazir Ledg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Benazir Portfolio</dc:title>
  <dc:subject>PptxGenJS Presentation</dc:subject>
  <dc:creator>Benazir</dc:creator>
  <cp:lastModifiedBy>Benazir</cp:lastModifiedBy>
  <cp:revision>1</cp:revision>
  <dcterms:created xsi:type="dcterms:W3CDTF">2026-10-01T22:18:16Z</dcterms:created>
  <dcterms:modified xsi:type="dcterms:W3CDTF">2026-10-01T22:18:16Z</dcterms:modified>
</cp:coreProperties>
</file>